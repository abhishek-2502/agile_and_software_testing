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5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media/audio1" ContentType="audio/x-wav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4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2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4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6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72" d="100"/>
          <a:sy n="72" d="100"/>
        </p:scale>
        <p:origin x="-1098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64C77-8249-4BEB-92D6-37FB9FB1F715}" type="datetimeFigureOut">
              <a:rPr lang="en-US" smtClean="0"/>
              <a:pPr/>
              <a:t>11/29/2016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9B442-AC94-4053-B144-25AA56CFB81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64C77-8249-4BEB-92D6-37FB9FB1F715}" type="datetimeFigureOut">
              <a:rPr lang="en-US" smtClean="0"/>
              <a:pPr/>
              <a:t>11/29/2016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9B442-AC94-4053-B144-25AA56CFB81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64C77-8249-4BEB-92D6-37FB9FB1F715}" type="datetimeFigureOut">
              <a:rPr lang="en-US" smtClean="0"/>
              <a:pPr/>
              <a:t>11/29/2016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9B442-AC94-4053-B144-25AA56CFB81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64C77-8249-4BEB-92D6-37FB9FB1F715}" type="datetimeFigureOut">
              <a:rPr lang="en-US" smtClean="0"/>
              <a:pPr/>
              <a:t>11/29/2016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9B442-AC94-4053-B144-25AA56CFB81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64C77-8249-4BEB-92D6-37FB9FB1F715}" type="datetimeFigureOut">
              <a:rPr lang="en-US" smtClean="0"/>
              <a:pPr/>
              <a:t>11/29/2016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9B442-AC94-4053-B144-25AA56CFB81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64C77-8249-4BEB-92D6-37FB9FB1F715}" type="datetimeFigureOut">
              <a:rPr lang="en-US" smtClean="0"/>
              <a:pPr/>
              <a:t>11/29/2016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9B442-AC94-4053-B144-25AA56CFB81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64C77-8249-4BEB-92D6-37FB9FB1F715}" type="datetimeFigureOut">
              <a:rPr lang="en-US" smtClean="0"/>
              <a:pPr/>
              <a:t>11/29/2016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9B442-AC94-4053-B144-25AA56CFB81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64C77-8249-4BEB-92D6-37FB9FB1F715}" type="datetimeFigureOut">
              <a:rPr lang="en-US" smtClean="0"/>
              <a:pPr/>
              <a:t>11/29/2016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9B442-AC94-4053-B144-25AA56CFB81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64C77-8249-4BEB-92D6-37FB9FB1F715}" type="datetimeFigureOut">
              <a:rPr lang="en-US" smtClean="0"/>
              <a:pPr/>
              <a:t>11/29/2016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9B442-AC94-4053-B144-25AA56CFB81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64C77-8249-4BEB-92D6-37FB9FB1F715}" type="datetimeFigureOut">
              <a:rPr lang="en-US" smtClean="0"/>
              <a:pPr/>
              <a:t>11/29/2016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9B442-AC94-4053-B144-25AA56CFB81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64C77-8249-4BEB-92D6-37FB9FB1F715}" type="datetimeFigureOut">
              <a:rPr lang="en-US" smtClean="0"/>
              <a:pPr/>
              <a:t>11/29/2016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9B442-AC94-4053-B144-25AA56CFB81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30D42-992C-45D7-9F4E-F560FA5DC739}" type="datetimeFigureOut">
              <a:rPr lang="en-US" smtClean="0"/>
              <a:pPr/>
              <a:t>11/29/2016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48067-844F-4C9C-A5B1-D531BB5BE9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30D42-992C-45D7-9F4E-F560FA5DC739}" type="datetimeFigureOut">
              <a:rPr lang="en-US" smtClean="0"/>
              <a:pPr/>
              <a:t>11/29/2016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48067-844F-4C9C-A5B1-D531BB5BE9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30D42-992C-45D7-9F4E-F560FA5DC739}" type="datetimeFigureOut">
              <a:rPr lang="en-US" smtClean="0"/>
              <a:pPr/>
              <a:t>11/29/2016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48067-844F-4C9C-A5B1-D531BB5BE9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30D42-992C-45D7-9F4E-F560FA5DC739}" type="datetimeFigureOut">
              <a:rPr lang="en-US" smtClean="0"/>
              <a:pPr/>
              <a:t>11/29/2016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48067-844F-4C9C-A5B1-D531BB5BE9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30D42-992C-45D7-9F4E-F560FA5DC739}" type="datetimeFigureOut">
              <a:rPr lang="en-US" smtClean="0"/>
              <a:pPr/>
              <a:t>11/29/2016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48067-844F-4C9C-A5B1-D531BB5BE9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30D42-992C-45D7-9F4E-F560FA5DC739}" type="datetimeFigureOut">
              <a:rPr lang="en-US" smtClean="0"/>
              <a:pPr/>
              <a:t>11/29/2016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48067-844F-4C9C-A5B1-D531BB5BE9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30D42-992C-45D7-9F4E-F560FA5DC739}" type="datetimeFigureOut">
              <a:rPr lang="en-US" smtClean="0"/>
              <a:pPr/>
              <a:t>11/29/2016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48067-844F-4C9C-A5B1-D531BB5BE9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30D42-992C-45D7-9F4E-F560FA5DC739}" type="datetimeFigureOut">
              <a:rPr lang="en-US" smtClean="0"/>
              <a:pPr/>
              <a:t>11/29/2016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48067-844F-4C9C-A5B1-D531BB5BE9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30D42-992C-45D7-9F4E-F560FA5DC739}" type="datetimeFigureOut">
              <a:rPr lang="en-US" smtClean="0"/>
              <a:pPr/>
              <a:t>11/29/2016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48067-844F-4C9C-A5B1-D531BB5BE9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30D42-992C-45D7-9F4E-F560FA5DC739}" type="datetimeFigureOut">
              <a:rPr lang="en-US" smtClean="0"/>
              <a:pPr/>
              <a:t>11/29/2016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348067-844F-4C9C-A5B1-D531BB5BE92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533400"/>
            <a:ext cx="7543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371600" y="1981200"/>
            <a:ext cx="7620000" cy="4114800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Dr Andreas Savva - Computer Graphics</a:t>
            </a:r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E58CD9-C4D1-48E8-B1C4-7316B1731B0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533400"/>
            <a:ext cx="7543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371600" y="1981200"/>
            <a:ext cx="37338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57800" y="1981200"/>
            <a:ext cx="37338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Dr Andreas Savva - Computer Graphics</a:t>
            </a:r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3CC2E2-3A32-4952-BDAA-29B2AACBD70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AB903FA-DED3-43A4-BE53-AA8B89088433}" type="datetimeFigureOut">
              <a:rPr lang="en-US" smtClean="0"/>
              <a:pPr>
                <a:defRPr/>
              </a:pPr>
              <a:t>11/29/2016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808DCCA-B504-48AA-8E3C-97EF8C7BE75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=""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D13B145-F890-4A21-972B-1B8F3502C9BE}" type="datetimeFigureOut">
              <a:rPr lang="en-US" smtClean="0"/>
              <a:pPr>
                <a:defRPr/>
              </a:pPr>
              <a:t>11/29/2016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15D4F7-FDF4-45FE-9BB5-C3F6AF5855C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9226043-2CEA-4312-811B-C7FD7143748B}" type="datetimeFigureOut">
              <a:rPr lang="en-US" smtClean="0"/>
              <a:pPr>
                <a:defRPr/>
              </a:pPr>
              <a:t>11/29/2016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C84A3D-81B7-4797-A10F-233537FE965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=""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53D24A9-D2AB-492F-AB13-65EA7F1BBBA8}" type="datetimeFigureOut">
              <a:rPr lang="en-US" smtClean="0"/>
              <a:pPr>
                <a:defRPr/>
              </a:pPr>
              <a:t>11/29/2016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6BF8F83-5208-4FC9-AEEF-9C18AAC44FA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98F629A-C68C-4FAF-B0EC-460C7F904E81}" type="datetimeFigureOut">
              <a:rPr lang="en-US" smtClean="0"/>
              <a:pPr>
                <a:defRPr/>
              </a:pPr>
              <a:t>11/29/2016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F2C490C-06F9-4B4E-BB0B-7728856CAE2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A2CC572-94B6-4037-98C6-5C19510D2E24}" type="datetimeFigureOut">
              <a:rPr lang="en-US" smtClean="0"/>
              <a:pPr>
                <a:defRPr/>
              </a:pPr>
              <a:t>11/29/2016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5D6F28-99F6-48BC-B6AB-7C2A8FF8822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C71F82B-5049-420D-8DF5-313F8C9C72C0}" type="datetimeFigureOut">
              <a:rPr lang="en-US" smtClean="0"/>
              <a:pPr>
                <a:defRPr/>
              </a:pPr>
              <a:t>11/29/2016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DFFD073-83EC-4910-9629-807A0B818D3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D352647-B98F-4AD2-8D9D-0DCFEBF787FC}" type="datetimeFigureOut">
              <a:rPr lang="en-US" smtClean="0"/>
              <a:pPr>
                <a:defRPr/>
              </a:pPr>
              <a:t>11/29/2016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B1BD08-FAB7-44F9-8802-62FC2A17ADD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70799F-A19E-4121-8B64-DA5B77000D0C}" type="datetimeFigureOut">
              <a:rPr lang="en-US" smtClean="0"/>
              <a:pPr>
                <a:defRPr/>
              </a:pPr>
              <a:t>11/29/2016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pPr>
              <a:defRPr/>
            </a:pPr>
            <a:fld id="{FE6844AF-B1F5-412B-AC6C-7F166E7876B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2D2B34F-C7D2-4C14-B9F1-8BC24258CE1D}" type="datetimeFigureOut">
              <a:rPr lang="en-US" smtClean="0"/>
              <a:pPr>
                <a:defRPr/>
              </a:pPr>
              <a:t>11/29/2016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4F95C9-103E-4BE6-9ABF-674966CA332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5B10A3F-406F-426C-95B8-7EB7532D9D63}" type="datetimeFigureOut">
              <a:rPr lang="en-US" smtClean="0"/>
              <a:pPr>
                <a:defRPr/>
              </a:pPr>
              <a:t>11/29/2016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1363B4C-FE42-4849-922B-49126083246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C64C77-8249-4BEB-92D6-37FB9FB1F715}" type="datetimeFigureOut">
              <a:rPr lang="en-US" smtClean="0"/>
              <a:pPr/>
              <a:t>11/29/2016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69B442-AC94-4053-B144-25AA56CFB81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D30D42-992C-45D7-9F4E-F560FA5DC739}" type="datetimeFigureOut">
              <a:rPr lang="en-US" smtClean="0"/>
              <a:pPr/>
              <a:t>11/29/2016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348067-844F-4C9C-A5B1-D531BB5BE92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>
              <a:defRPr/>
            </a:pPr>
            <a:fld id="{7B614C16-5783-46FC-A2C5-57730E2D44E9}" type="datetimeFigureOut">
              <a:rPr lang="en-US" smtClean="0"/>
              <a:pPr>
                <a:defRPr/>
              </a:pPr>
              <a:t>11/29/2016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>
              <a:defRPr/>
            </a:pPr>
            <a:fld id="{456FF9E9-F465-43BA-A85A-DDCFC2DE5BA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mc:AlternateContent xmlns:mc="http://schemas.openxmlformats.org/markup-compatibility/2006">
    <mc:Choice xmlns=""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slideLayout" Target="../slideLayouts/slideLayout2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audio" Target="../media/audio1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57200"/>
            <a:ext cx="7772400" cy="4191000"/>
          </a:xfrm>
        </p:spPr>
        <p:txBody>
          <a:bodyPr>
            <a:prstTxWarp prst="textButton">
              <a:avLst/>
            </a:prstTxWarp>
            <a:normAutofit/>
          </a:bodyPr>
          <a:lstStyle/>
          <a:p>
            <a:r>
              <a:rPr lang="en-US" sz="36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PRESTIGE INSTITUTE OF MANAGEMENT</a:t>
            </a:r>
            <a:endParaRPr lang="en-US" sz="36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048000" y="1524000"/>
            <a:ext cx="2743200" cy="523220"/>
          </a:xfrm>
          <a:prstGeom prst="rect">
            <a:avLst/>
          </a:prstGeom>
          <a:noFill/>
        </p:spPr>
        <p:txBody>
          <a:bodyPr wrap="square" rtlCol="0">
            <a:prstTxWarp prst="textButton">
              <a:avLst/>
            </a:prstTxWarp>
            <a:spAutoFit/>
          </a:bodyPr>
          <a:lstStyle/>
          <a:p>
            <a:pPr algn="ctr"/>
            <a:r>
              <a:rPr lang="en-US" sz="28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GWALIOR</a:t>
            </a:r>
            <a:endParaRPr lang="en-US" sz="28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2" descr="C:\Users\hp-u\Desktop\BCA 2nd\prestige menu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48000" y="2667000"/>
            <a:ext cx="2590800" cy="20574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52400" y="1249740"/>
            <a:ext cx="8686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PRESENTATION ON</a:t>
            </a:r>
            <a:endParaRPr lang="en-US" sz="4800" b="1" spc="50" dirty="0">
              <a:ln w="12700" cmpd="sng">
                <a:solidFill>
                  <a:schemeClr val="accent6">
                    <a:satMod val="120000"/>
                    <a:shade val="80000"/>
                  </a:schemeClr>
                </a:solidFill>
                <a:prstDash val="solid"/>
              </a:ln>
              <a:solidFill>
                <a:schemeClr val="accent6">
                  <a:tint val="1000"/>
                </a:schemeClr>
              </a:solidFill>
              <a:effectLst>
                <a:glow rad="53100">
                  <a:schemeClr val="accent6">
                    <a:satMod val="180000"/>
                    <a:alpha val="30000"/>
                  </a:schemeClr>
                </a:glow>
              </a:effectLst>
            </a:endParaRPr>
          </a:p>
          <a:p>
            <a:pPr algn="ctr"/>
            <a:r>
              <a:rPr lang="en-US" sz="48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DFD(Data Flow Diagram)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0" y="3733800"/>
            <a:ext cx="3581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ln w="31550" cmpd="sng">
                  <a:gradFill>
                    <a:gsLst>
                      <a:gs pos="70000">
                        <a:schemeClr val="accent6">
                          <a:shade val="50000"/>
                          <a:satMod val="190000"/>
                        </a:schemeClr>
                      </a:gs>
                      <a:gs pos="0">
                        <a:schemeClr val="accent6">
                          <a:tint val="77000"/>
                          <a:satMod val="18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chemeClr val="accent6">
                    <a:tint val="15000"/>
                    <a:satMod val="200000"/>
                  </a:schemeClr>
                </a:solidFill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</a:rPr>
              <a:t>PRESENTED BY:</a:t>
            </a:r>
          </a:p>
          <a:p>
            <a:pPr algn="ctr"/>
            <a:r>
              <a:rPr lang="en-US" sz="2800" b="1" dirty="0" smtClean="0"/>
              <a:t>NEHA </a:t>
            </a:r>
            <a:r>
              <a:rPr lang="en-US" sz="2800" b="1" dirty="0" smtClean="0"/>
              <a:t>KAURAV</a:t>
            </a:r>
            <a:endParaRPr lang="en-US" sz="2800" b="1" dirty="0" smtClean="0"/>
          </a:p>
        </p:txBody>
      </p:sp>
      <p:sp>
        <p:nvSpPr>
          <p:cNvPr id="9" name="TextBox 8"/>
          <p:cNvSpPr txBox="1"/>
          <p:nvPr/>
        </p:nvSpPr>
        <p:spPr>
          <a:xfrm>
            <a:off x="228600" y="5943600"/>
            <a:ext cx="2514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rgbClr val="002060"/>
                </a:solidFill>
              </a:rPr>
              <a:t>CLASS:</a:t>
            </a:r>
          </a:p>
          <a:p>
            <a:pPr algn="ctr"/>
            <a:r>
              <a:rPr lang="en-US" sz="2000" b="1" dirty="0" smtClean="0"/>
              <a:t>BCA 3</a:t>
            </a:r>
            <a:r>
              <a:rPr lang="en-US" sz="2000" b="1" baseline="30000" dirty="0" smtClean="0"/>
              <a:t>rd</a:t>
            </a:r>
            <a:r>
              <a:rPr lang="en-US" sz="2000" b="1" dirty="0" smtClean="0"/>
              <a:t> SEM.</a:t>
            </a:r>
            <a:endParaRPr lang="en-US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 smtClean="0">
                <a:ln w="31550" cmpd="sng">
                  <a:gradFill>
                    <a:gsLst>
                      <a:gs pos="70000">
                        <a:schemeClr val="accent6">
                          <a:shade val="50000"/>
                          <a:satMod val="190000"/>
                        </a:schemeClr>
                      </a:gs>
                      <a:gs pos="0">
                        <a:schemeClr val="accent6">
                          <a:tint val="77000"/>
                          <a:satMod val="18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chemeClr val="accent6">
                    <a:tint val="15000"/>
                    <a:satMod val="200000"/>
                  </a:schemeClr>
                </a:solidFill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</a:rPr>
              <a:t>Data Flow Diagrams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sz="2800" b="1" dirty="0" smtClean="0"/>
              <a:t>A </a:t>
            </a:r>
            <a:r>
              <a:rPr lang="en-US" sz="2800" b="1" i="1" dirty="0" smtClean="0"/>
              <a:t>graphical tool</a:t>
            </a:r>
            <a:r>
              <a:rPr lang="en-US" sz="2800" b="1" dirty="0" smtClean="0"/>
              <a:t>, useful for communicating with users, managers, and other personnel.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sz="2800" b="1" dirty="0" smtClean="0"/>
              <a:t>Used to perform </a:t>
            </a:r>
            <a:r>
              <a:rPr lang="en-US" sz="2800" b="1" i="1" dirty="0" smtClean="0"/>
              <a:t>structured analysis </a:t>
            </a:r>
            <a:r>
              <a:rPr lang="en-US" sz="2800" b="1" dirty="0" smtClean="0"/>
              <a:t>to determine logical requirements.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sz="2800" b="1" dirty="0" smtClean="0"/>
              <a:t>Useful for analyzing existing as well as proposed systems.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sz="2800" b="1" dirty="0" smtClean="0"/>
              <a:t>Focus on the </a:t>
            </a:r>
            <a:r>
              <a:rPr lang="en-US" sz="2800" b="1" i="1" dirty="0" smtClean="0"/>
              <a:t>movement</a:t>
            </a:r>
            <a:r>
              <a:rPr lang="en-US" sz="2800" b="1" dirty="0" smtClean="0"/>
              <a:t> of data between external entities and processes, and between processes and data stores.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r>
              <a:rPr lang="en-US" sz="2800" b="1" dirty="0" smtClean="0"/>
              <a:t>A relatively simple technique to learn and use.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endParaRPr lang="en-US" sz="2400" b="1" dirty="0" smtClean="0">
              <a:latin typeface="Verdana" pitchFamily="34" charset="0"/>
            </a:endParaRP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endParaRPr lang="en-US" sz="2400" b="1" dirty="0" smtClean="0">
              <a:latin typeface="Verdana" pitchFamily="34" charset="0"/>
            </a:endParaRP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Char char=""/>
              <a:defRPr/>
            </a:pPr>
            <a:endParaRPr lang="en-US" b="1" dirty="0"/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Why DFD ?</a:t>
            </a:r>
            <a:endParaRPr lang="en-IN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 smtClean="0"/>
              <a:t>Provides an overview of-</a:t>
            </a:r>
          </a:p>
          <a:p>
            <a:pPr lvl="1"/>
            <a:r>
              <a:rPr lang="en-IN" b="1" dirty="0" smtClean="0"/>
              <a:t>What data a system processes</a:t>
            </a:r>
          </a:p>
          <a:p>
            <a:pPr lvl="1"/>
            <a:r>
              <a:rPr lang="en-IN" b="1" dirty="0" smtClean="0"/>
              <a:t>What transformations are performed</a:t>
            </a:r>
          </a:p>
          <a:p>
            <a:pPr lvl="1"/>
            <a:r>
              <a:rPr lang="en-IN" b="1" dirty="0" smtClean="0"/>
              <a:t>What data are stored</a:t>
            </a:r>
          </a:p>
          <a:p>
            <a:pPr lvl="1"/>
            <a:r>
              <a:rPr lang="en-IN" b="1" dirty="0" smtClean="0"/>
              <a:t>What results are produced and where they flow</a:t>
            </a:r>
            <a:endParaRPr lang="en-IN" b="1" dirty="0"/>
          </a:p>
          <a:p>
            <a:r>
              <a:rPr lang="en-IN" b="1" dirty="0" smtClean="0"/>
              <a:t>Graphical nature makes it a good communication tool between-</a:t>
            </a:r>
          </a:p>
          <a:p>
            <a:pPr lvl="1"/>
            <a:r>
              <a:rPr lang="en-IN" b="1" dirty="0" smtClean="0"/>
              <a:t>User and analyst</a:t>
            </a:r>
          </a:p>
          <a:p>
            <a:pPr lvl="1"/>
            <a:r>
              <a:rPr lang="en-IN" b="1" dirty="0" smtClean="0"/>
              <a:t>Analyst and System designer</a:t>
            </a:r>
          </a:p>
          <a:p>
            <a:pPr marL="0" indent="0">
              <a:buNone/>
            </a:pPr>
            <a:endParaRPr lang="en-IN" b="1" dirty="0" smtClean="0"/>
          </a:p>
        </p:txBody>
      </p:sp>
    </p:spTree>
    <p:extLst>
      <p:ext uri="{BB962C8B-B14F-4D97-AF65-F5344CB8AC3E}">
        <p14:creationId xmlns="" xmlns:p14="http://schemas.microsoft.com/office/powerpoint/2010/main" val="1336120004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200">
        <p14:flip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spc="300" dirty="0" smtClean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83000"/>
                        <a:shade val="100000"/>
                        <a:satMod val="200000"/>
                      </a:schemeClr>
                    </a:gs>
                    <a:gs pos="75000">
                      <a:schemeClr val="accent1">
                        <a:tint val="100000"/>
                        <a:shade val="50000"/>
                        <a:satMod val="150000"/>
                      </a:schemeClr>
                    </a:gs>
                  </a:gsLst>
                  <a:lin ang="5400000"/>
                </a:gra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</a:effectLst>
              </a:rPr>
              <a:t>DFD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52600" y="1371600"/>
            <a:ext cx="5410200" cy="3322320"/>
          </a:xfrm>
        </p:spPr>
        <p:txBody>
          <a:bodyPr/>
          <a:lstStyle/>
          <a:p>
            <a:r>
              <a:rPr lang="en-US" sz="3600" b="1" dirty="0" smtClean="0"/>
              <a:t>Source/Sinks (External entities) </a:t>
            </a:r>
          </a:p>
          <a:p>
            <a:r>
              <a:rPr lang="en-US" sz="3600" b="1" dirty="0" smtClean="0"/>
              <a:t>Data  flows</a:t>
            </a:r>
          </a:p>
          <a:p>
            <a:r>
              <a:rPr lang="en-US" sz="3600" b="1" dirty="0" smtClean="0"/>
              <a:t>Processes</a:t>
            </a:r>
          </a:p>
          <a:p>
            <a:r>
              <a:rPr lang="en-US" sz="3600" b="1" dirty="0" smtClean="0"/>
              <a:t>Data Stores</a:t>
            </a:r>
          </a:p>
        </p:txBody>
      </p:sp>
      <p:pic>
        <p:nvPicPr>
          <p:cNvPr id="9220" name="Picture 1028" descr="BS01580_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981200"/>
            <a:ext cx="2133600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10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b="1" dirty="0" smtClean="0">
                <a:ln w="31550" cmpd="sng">
                  <a:gradFill>
                    <a:gsLst>
                      <a:gs pos="70000">
                        <a:schemeClr val="accent6">
                          <a:shade val="50000"/>
                          <a:satMod val="190000"/>
                        </a:schemeClr>
                      </a:gs>
                      <a:gs pos="0">
                        <a:schemeClr val="accent6">
                          <a:tint val="77000"/>
                          <a:satMod val="18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chemeClr val="accent6">
                    <a:tint val="15000"/>
                    <a:satMod val="200000"/>
                  </a:schemeClr>
                </a:solidFill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</a:rPr>
              <a:t>External Entities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0" y="1143000"/>
            <a:ext cx="4038600" cy="3001963"/>
          </a:xfrm>
        </p:spPr>
        <p:txBody>
          <a:bodyPr>
            <a:normAutofit/>
          </a:bodyPr>
          <a:lstStyle/>
          <a:p>
            <a:r>
              <a:rPr lang="en-US" b="1" dirty="0" smtClean="0"/>
              <a:t>A Rectangle represents an external entity</a:t>
            </a:r>
          </a:p>
          <a:p>
            <a:r>
              <a:rPr lang="en-US" b="1" dirty="0" smtClean="0"/>
              <a:t>They either supply or receive data</a:t>
            </a:r>
          </a:p>
          <a:p>
            <a:r>
              <a:rPr lang="en-US" b="1" dirty="0" smtClean="0"/>
              <a:t>They do not process data</a:t>
            </a:r>
          </a:p>
        </p:txBody>
      </p:sp>
      <p:sp>
        <p:nvSpPr>
          <p:cNvPr id="10244" name="AutoShape 4"/>
          <p:cNvSpPr>
            <a:spLocks noChangeArrowheads="1"/>
          </p:cNvSpPr>
          <p:nvPr/>
        </p:nvSpPr>
        <p:spPr bwMode="auto">
          <a:xfrm flipH="1">
            <a:off x="7086600" y="533400"/>
            <a:ext cx="1828800" cy="1828800"/>
          </a:xfrm>
          <a:prstGeom prst="cube">
            <a:avLst>
              <a:gd name="adj" fmla="val 0"/>
            </a:avLst>
          </a:pr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eaLnBrk="0" hangingPunct="0"/>
            <a:r>
              <a:rPr lang="en-US" b="1" dirty="0">
                <a:solidFill>
                  <a:schemeClr val="bg1"/>
                </a:solidFill>
                <a:latin typeface="Verdana" pitchFamily="34" charset="0"/>
              </a:rPr>
              <a:t>External</a:t>
            </a:r>
          </a:p>
          <a:p>
            <a:pPr algn="ctr" eaLnBrk="0" hangingPunct="0"/>
            <a:r>
              <a:rPr lang="en-US" b="1" dirty="0">
                <a:solidFill>
                  <a:schemeClr val="bg1"/>
                </a:solidFill>
                <a:latin typeface="Verdana" pitchFamily="34" charset="0"/>
              </a:rPr>
              <a:t>Entities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10400" y="2362200"/>
            <a:ext cx="2133600" cy="2086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auto">
              <a:spcBef>
                <a:spcPct val="20000"/>
              </a:spcBef>
              <a:spcAft>
                <a:spcPts val="0"/>
              </a:spcAft>
              <a:buClr>
                <a:schemeClr val="bg2"/>
              </a:buClr>
              <a:buSzPct val="75000"/>
              <a:defRPr/>
            </a:pPr>
            <a:r>
              <a:rPr lang="en-US" altLang="en-US" b="1" dirty="0">
                <a:latin typeface="+mn-lt"/>
              </a:rPr>
              <a:t>Source – Entity </a:t>
            </a:r>
            <a:r>
              <a:rPr lang="en-US" altLang="en-US" b="1" dirty="0" smtClean="0">
                <a:latin typeface="+mn-lt"/>
              </a:rPr>
              <a:t>that supplies </a:t>
            </a:r>
            <a:r>
              <a:rPr lang="en-US" altLang="en-US" b="1" dirty="0">
                <a:latin typeface="+mn-lt"/>
              </a:rPr>
              <a:t>data to the system.</a:t>
            </a:r>
          </a:p>
          <a:p>
            <a:pPr marL="285750" indent="-285750" fontAlgn="auto">
              <a:spcBef>
                <a:spcPct val="20000"/>
              </a:spcBef>
              <a:spcAft>
                <a:spcPts val="0"/>
              </a:spcAft>
              <a:buClr>
                <a:schemeClr val="bg2"/>
              </a:buClr>
              <a:buSzPct val="75000"/>
              <a:defRPr/>
            </a:pPr>
            <a:r>
              <a:rPr lang="en-US" altLang="en-US" b="1" dirty="0">
                <a:latin typeface="+mn-lt"/>
              </a:rPr>
              <a:t>Sink – Entity that receives data from the system.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b="1" dirty="0">
              <a:latin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 smtClean="0">
                <a:ln w="31550" cmpd="sng">
                  <a:gradFill>
                    <a:gsLst>
                      <a:gs pos="25000">
                        <a:schemeClr val="accent1">
                          <a:shade val="25000"/>
                          <a:satMod val="190000"/>
                        </a:schemeClr>
                      </a:gs>
                      <a:gs pos="80000">
                        <a:schemeClr val="accent1">
                          <a:tint val="75000"/>
                          <a:satMod val="19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rgbClr val="FFFFFF"/>
                </a:solidFill>
                <a:effectLst>
                  <a:outerShdw blurRad="41275" dist="12700" dir="12000000" algn="tl" rotWithShape="0">
                    <a:srgbClr val="000000">
                      <a:alpha val="40000"/>
                    </a:srgbClr>
                  </a:outerShdw>
                </a:effectLst>
              </a:rPr>
              <a:t>Data Flows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800" y="1371600"/>
            <a:ext cx="4648200" cy="3870325"/>
          </a:xfrm>
        </p:spPr>
        <p:txBody>
          <a:bodyPr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en-US" sz="2300" b="1" dirty="0" smtClean="0"/>
              <a:t>Data in motion</a:t>
            </a:r>
          </a:p>
          <a:p>
            <a:pPr>
              <a:spcBef>
                <a:spcPct val="0"/>
              </a:spcBef>
              <a:defRPr/>
            </a:pPr>
            <a:r>
              <a:rPr lang="en-US" sz="2300" b="1" dirty="0" smtClean="0"/>
              <a:t>Marks movement of data through the system - a pipeline to carry data.</a:t>
            </a:r>
          </a:p>
          <a:p>
            <a:pPr algn="just">
              <a:spcBef>
                <a:spcPct val="0"/>
              </a:spcBef>
              <a:defRPr/>
            </a:pPr>
            <a:r>
              <a:rPr lang="en-US" sz="2300" b="1" dirty="0" smtClean="0"/>
              <a:t>Connects the processes, external entities and data stores.</a:t>
            </a:r>
          </a:p>
          <a:p>
            <a:pPr marL="342900" lvl="1" indent="-342900">
              <a:spcBef>
                <a:spcPct val="0"/>
              </a:spcBef>
              <a:buClr>
                <a:schemeClr val="accent3"/>
              </a:buClr>
              <a:buSzPct val="95000"/>
              <a:defRPr/>
            </a:pPr>
            <a:r>
              <a:rPr lang="en-US" sz="2300" b="1" dirty="0" smtClean="0"/>
              <a:t>Generally unidirectional, If same data flows in both directions, double-headed arrow can be used.</a:t>
            </a:r>
          </a:p>
        </p:txBody>
      </p:sp>
      <p:sp>
        <p:nvSpPr>
          <p:cNvPr id="11268" name="Line 4"/>
          <p:cNvSpPr>
            <a:spLocks noChangeShapeType="1"/>
          </p:cNvSpPr>
          <p:nvPr/>
        </p:nvSpPr>
        <p:spPr bwMode="auto">
          <a:xfrm>
            <a:off x="6324600" y="3657600"/>
            <a:ext cx="1828800" cy="0"/>
          </a:xfrm>
          <a:prstGeom prst="line">
            <a:avLst/>
          </a:prstGeom>
          <a:ln>
            <a:headEnd/>
            <a:tailEnd type="stealth" w="lg" len="lg"/>
          </a:ln>
          <a:ex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wrap="none"/>
          <a:lstStyle/>
          <a:p>
            <a:endParaRPr lang="en-IN"/>
          </a:p>
        </p:txBody>
      </p:sp>
      <p:sp>
        <p:nvSpPr>
          <p:cNvPr id="11269" name="Text Box 5"/>
          <p:cNvSpPr txBox="1">
            <a:spLocks noChangeArrowheads="1"/>
          </p:cNvSpPr>
          <p:nvPr/>
        </p:nvSpPr>
        <p:spPr bwMode="auto">
          <a:xfrm>
            <a:off x="6477000" y="3200400"/>
            <a:ext cx="16144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2000" b="1" dirty="0">
                <a:solidFill>
                  <a:schemeClr val="accent1"/>
                </a:solidFill>
                <a:latin typeface="Verdana" pitchFamily="34" charset="0"/>
              </a:rPr>
              <a:t>Data Flow</a:t>
            </a:r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 smtClean="0">
                <a:ln w="31550" cmpd="sng">
                  <a:gradFill>
                    <a:gsLst>
                      <a:gs pos="70000">
                        <a:schemeClr val="accent6">
                          <a:shade val="50000"/>
                          <a:satMod val="190000"/>
                        </a:schemeClr>
                      </a:gs>
                      <a:gs pos="0">
                        <a:schemeClr val="accent6">
                          <a:tint val="77000"/>
                          <a:satMod val="18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chemeClr val="accent6">
                    <a:tint val="15000"/>
                    <a:satMod val="200000"/>
                  </a:schemeClr>
                </a:solidFill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</a:rPr>
              <a:t>Processes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3124200"/>
            <a:ext cx="8305800" cy="3352800"/>
          </a:xfrm>
        </p:spPr>
        <p:txBody>
          <a:bodyPr/>
          <a:lstStyle/>
          <a:p>
            <a:r>
              <a:rPr lang="en-US" sz="2800" b="1" dirty="0" smtClean="0"/>
              <a:t>A circle represents a process</a:t>
            </a:r>
          </a:p>
          <a:p>
            <a:r>
              <a:rPr lang="en-US" sz="2800" b="1" dirty="0" smtClean="0"/>
              <a:t>Straight line with incoming arrows are input data flows</a:t>
            </a:r>
          </a:p>
          <a:p>
            <a:r>
              <a:rPr lang="en-US" sz="2800" b="1" dirty="0" smtClean="0"/>
              <a:t>Straight lines with outgoing arrows are output data flows</a:t>
            </a:r>
          </a:p>
          <a:p>
            <a:r>
              <a:rPr lang="en-US" sz="2800" b="1" dirty="0" smtClean="0"/>
              <a:t>Labels are assigned to Data flow. These aid documentation</a:t>
            </a:r>
          </a:p>
          <a:p>
            <a:endParaRPr lang="en-US" b="1" dirty="0" smtClean="0"/>
          </a:p>
        </p:txBody>
      </p:sp>
      <p:sp>
        <p:nvSpPr>
          <p:cNvPr id="2" name="Oval 1"/>
          <p:cNvSpPr/>
          <p:nvPr/>
        </p:nvSpPr>
        <p:spPr>
          <a:xfrm>
            <a:off x="5526206" y="1676400"/>
            <a:ext cx="1636594" cy="13716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 smtClean="0"/>
              <a:t>1. STORES</a:t>
            </a:r>
            <a:endParaRPr lang="en-IN" sz="2000" b="1" dirty="0"/>
          </a:p>
        </p:txBody>
      </p:sp>
      <p:cxnSp>
        <p:nvCxnSpPr>
          <p:cNvPr id="5" name="Straight Arrow Connector 4"/>
          <p:cNvCxnSpPr>
            <a:endCxn id="2" idx="2"/>
          </p:cNvCxnSpPr>
          <p:nvPr/>
        </p:nvCxnSpPr>
        <p:spPr>
          <a:xfrm>
            <a:off x="3962400" y="2362200"/>
            <a:ext cx="156380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505200" y="1676400"/>
            <a:ext cx="18288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 smtClean="0">
                <a:solidFill>
                  <a:schemeClr val="tx1"/>
                </a:solidFill>
              </a:rPr>
              <a:t>Stores demand note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248400" y="838200"/>
            <a:ext cx="18288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 smtClean="0">
                <a:solidFill>
                  <a:schemeClr val="tx1"/>
                </a:solidFill>
              </a:rPr>
              <a:t>Delivery Slip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170761" y="2390064"/>
            <a:ext cx="18288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 smtClean="0">
                <a:solidFill>
                  <a:schemeClr val="tx1"/>
                </a:solidFill>
              </a:rPr>
              <a:t>Issue Slip</a:t>
            </a:r>
            <a:endParaRPr lang="en-IN" b="1" dirty="0">
              <a:solidFill>
                <a:schemeClr val="tx1"/>
              </a:solidFill>
            </a:endParaRP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7162800" y="2362200"/>
            <a:ext cx="156380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endCxn id="2" idx="7"/>
          </p:cNvCxnSpPr>
          <p:nvPr/>
        </p:nvCxnSpPr>
        <p:spPr>
          <a:xfrm flipH="1">
            <a:off x="6923126" y="1371600"/>
            <a:ext cx="1382674" cy="50566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 smtClean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Data Stores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3352800"/>
            <a:ext cx="8610600" cy="31242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800" b="1" dirty="0" smtClean="0"/>
              <a:t>A Data Store is a repository of data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b="1" dirty="0"/>
              <a:t>D</a:t>
            </a:r>
            <a:r>
              <a:rPr lang="en-US" sz="2800" b="1" dirty="0" smtClean="0"/>
              <a:t>ata can be written into the data store. This is depicted by an incoming arrow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b="1" dirty="0" smtClean="0"/>
              <a:t>Data can be read from a data store. This is depicted by an outgoing arrow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b="1" dirty="0" smtClean="0"/>
              <a:t>External entity cannot read or write to the data store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b="1" dirty="0" smtClean="0"/>
              <a:t>Two data stores cannot be connected by a data flow</a:t>
            </a:r>
          </a:p>
          <a:p>
            <a:pPr eaLnBrk="1" hangingPunct="1">
              <a:lnSpc>
                <a:spcPct val="90000"/>
              </a:lnSpc>
            </a:pPr>
            <a:endParaRPr lang="en-US" sz="2800" b="1" dirty="0" smtClean="0"/>
          </a:p>
        </p:txBody>
      </p:sp>
      <p:sp>
        <p:nvSpPr>
          <p:cNvPr id="14340" name="Text Box 4"/>
          <p:cNvSpPr txBox="1">
            <a:spLocks noChangeArrowheads="1"/>
          </p:cNvSpPr>
          <p:nvPr/>
        </p:nvSpPr>
        <p:spPr bwMode="auto">
          <a:xfrm>
            <a:off x="990600" y="2216731"/>
            <a:ext cx="16875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en-US" b="1">
                <a:latin typeface="Verdana" pitchFamily="34" charset="0"/>
              </a:rPr>
              <a:t>Data Stores</a:t>
            </a:r>
          </a:p>
        </p:txBody>
      </p:sp>
      <p:sp>
        <p:nvSpPr>
          <p:cNvPr id="14341" name="Rectangle 5"/>
          <p:cNvSpPr>
            <a:spLocks noChangeArrowheads="1"/>
          </p:cNvSpPr>
          <p:nvPr/>
        </p:nvSpPr>
        <p:spPr bwMode="auto">
          <a:xfrm>
            <a:off x="504825" y="2169106"/>
            <a:ext cx="457200" cy="457200"/>
          </a:xfrm>
          <a:prstGeom prst="rect">
            <a:avLst/>
          </a:prstGeom>
          <a:solidFill>
            <a:srgbClr val="3333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tantia" pitchFamily="18" charset="0"/>
            </a:endParaRPr>
          </a:p>
        </p:txBody>
      </p:sp>
      <p:sp>
        <p:nvSpPr>
          <p:cNvPr id="14342" name="Line 6"/>
          <p:cNvSpPr>
            <a:spLocks noChangeShapeType="1"/>
          </p:cNvSpPr>
          <p:nvPr/>
        </p:nvSpPr>
        <p:spPr bwMode="auto">
          <a:xfrm>
            <a:off x="962025" y="2169106"/>
            <a:ext cx="1905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14343" name="Line 7"/>
          <p:cNvSpPr>
            <a:spLocks noChangeShapeType="1"/>
          </p:cNvSpPr>
          <p:nvPr/>
        </p:nvSpPr>
        <p:spPr bwMode="auto">
          <a:xfrm>
            <a:off x="962025" y="2626306"/>
            <a:ext cx="1905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14344" name="Text Box 8"/>
          <p:cNvSpPr txBox="1">
            <a:spLocks noChangeArrowheads="1"/>
          </p:cNvSpPr>
          <p:nvPr/>
        </p:nvSpPr>
        <p:spPr bwMode="auto">
          <a:xfrm>
            <a:off x="490538" y="2202444"/>
            <a:ext cx="536575" cy="36671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x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en-US" b="1">
                <a:latin typeface="Verdana" pitchFamily="34" charset="0"/>
              </a:rPr>
              <a:t>D1</a:t>
            </a:r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3737768" y="2216731"/>
            <a:ext cx="16875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en-US" b="1">
                <a:latin typeface="Verdana" pitchFamily="34" charset="0"/>
              </a:rPr>
              <a:t>Data Stores</a:t>
            </a:r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3251993" y="2169106"/>
            <a:ext cx="457200" cy="457200"/>
          </a:xfrm>
          <a:prstGeom prst="rect">
            <a:avLst/>
          </a:prstGeom>
          <a:solidFill>
            <a:srgbClr val="3333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tantia" pitchFamily="18" charset="0"/>
            </a:endParaRPr>
          </a:p>
        </p:txBody>
      </p:sp>
      <p:sp>
        <p:nvSpPr>
          <p:cNvPr id="11" name="Line 6"/>
          <p:cNvSpPr>
            <a:spLocks noChangeShapeType="1"/>
          </p:cNvSpPr>
          <p:nvPr/>
        </p:nvSpPr>
        <p:spPr bwMode="auto">
          <a:xfrm>
            <a:off x="3709193" y="2169106"/>
            <a:ext cx="1905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12" name="Line 7"/>
          <p:cNvSpPr>
            <a:spLocks noChangeShapeType="1"/>
          </p:cNvSpPr>
          <p:nvPr/>
        </p:nvSpPr>
        <p:spPr bwMode="auto">
          <a:xfrm>
            <a:off x="3709193" y="2626306"/>
            <a:ext cx="1905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13" name="Text Box 8"/>
          <p:cNvSpPr txBox="1">
            <a:spLocks noChangeArrowheads="1"/>
          </p:cNvSpPr>
          <p:nvPr/>
        </p:nvSpPr>
        <p:spPr bwMode="auto">
          <a:xfrm>
            <a:off x="3237706" y="2202444"/>
            <a:ext cx="536575" cy="36671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x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en-US" b="1" dirty="0">
                <a:latin typeface="Verdana" pitchFamily="34" charset="0"/>
              </a:rPr>
              <a:t>D1</a:t>
            </a:r>
          </a:p>
        </p:txBody>
      </p: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6589712" y="2216731"/>
            <a:ext cx="16875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en-US" b="1">
                <a:latin typeface="Verdana" pitchFamily="34" charset="0"/>
              </a:rPr>
              <a:t>Data Stores</a:t>
            </a:r>
          </a:p>
        </p:txBody>
      </p:sp>
      <p:sp>
        <p:nvSpPr>
          <p:cNvPr id="15" name="Rectangle 5"/>
          <p:cNvSpPr>
            <a:spLocks noChangeArrowheads="1"/>
          </p:cNvSpPr>
          <p:nvPr/>
        </p:nvSpPr>
        <p:spPr bwMode="auto">
          <a:xfrm>
            <a:off x="6103937" y="2169106"/>
            <a:ext cx="457200" cy="457200"/>
          </a:xfrm>
          <a:prstGeom prst="rect">
            <a:avLst/>
          </a:prstGeom>
          <a:solidFill>
            <a:srgbClr val="3333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onstantia" pitchFamily="18" charset="0"/>
            </a:endParaRPr>
          </a:p>
        </p:txBody>
      </p:sp>
      <p:sp>
        <p:nvSpPr>
          <p:cNvPr id="16" name="Line 6"/>
          <p:cNvSpPr>
            <a:spLocks noChangeShapeType="1"/>
          </p:cNvSpPr>
          <p:nvPr/>
        </p:nvSpPr>
        <p:spPr bwMode="auto">
          <a:xfrm>
            <a:off x="6561137" y="2169106"/>
            <a:ext cx="1905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17" name="Line 7"/>
          <p:cNvSpPr>
            <a:spLocks noChangeShapeType="1"/>
          </p:cNvSpPr>
          <p:nvPr/>
        </p:nvSpPr>
        <p:spPr bwMode="auto">
          <a:xfrm>
            <a:off x="6561137" y="2626306"/>
            <a:ext cx="1905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18" name="Text Box 8"/>
          <p:cNvSpPr txBox="1">
            <a:spLocks noChangeArrowheads="1"/>
          </p:cNvSpPr>
          <p:nvPr/>
        </p:nvSpPr>
        <p:spPr bwMode="auto">
          <a:xfrm>
            <a:off x="6089650" y="2202444"/>
            <a:ext cx="536575" cy="36671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x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lang="en-US" b="1">
                <a:latin typeface="Verdana" pitchFamily="34" charset="0"/>
              </a:rPr>
              <a:t>D1</a:t>
            </a:r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4343400" y="1676400"/>
            <a:ext cx="0" cy="5260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V="1">
            <a:off x="7433468" y="1600200"/>
            <a:ext cx="0" cy="56890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3596481" y="2590800"/>
            <a:ext cx="18288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chemeClr val="tx1"/>
                </a:solidFill>
              </a:rPr>
              <a:t>Writing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519068" y="2590800"/>
            <a:ext cx="18288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smtClean="0">
                <a:solidFill>
                  <a:schemeClr val="tx1"/>
                </a:solidFill>
              </a:rPr>
              <a:t>Reading</a:t>
            </a:r>
            <a:endParaRPr lang="en-IN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Rules of Data Flow</a:t>
            </a:r>
            <a:endParaRPr lang="en-IN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1981200"/>
            <a:ext cx="3810000" cy="3794915"/>
          </a:xfrm>
        </p:spPr>
        <p:txBody>
          <a:bodyPr>
            <a:normAutofit fontScale="92500" lnSpcReduction="10000"/>
          </a:bodyPr>
          <a:lstStyle/>
          <a:p>
            <a:endParaRPr lang="en-IN" b="1" dirty="0" smtClean="0"/>
          </a:p>
          <a:p>
            <a:r>
              <a:rPr lang="en-IN" b="1" dirty="0" smtClean="0"/>
              <a:t>Data can flow from</a:t>
            </a:r>
          </a:p>
          <a:p>
            <a:pPr lvl="1"/>
            <a:endParaRPr lang="en-IN" b="1" dirty="0" smtClean="0"/>
          </a:p>
          <a:p>
            <a:pPr lvl="1"/>
            <a:r>
              <a:rPr lang="en-IN" b="1" dirty="0" smtClean="0"/>
              <a:t>External entity to process</a:t>
            </a:r>
          </a:p>
          <a:p>
            <a:pPr lvl="1"/>
            <a:r>
              <a:rPr lang="en-IN" b="1" dirty="0" smtClean="0"/>
              <a:t>Process to external entity</a:t>
            </a:r>
          </a:p>
          <a:p>
            <a:pPr lvl="1"/>
            <a:r>
              <a:rPr lang="en-IN" b="1" dirty="0" smtClean="0"/>
              <a:t>Process to store and back</a:t>
            </a:r>
          </a:p>
          <a:p>
            <a:pPr lvl="1"/>
            <a:r>
              <a:rPr lang="en-IN" b="1" dirty="0" smtClean="0"/>
              <a:t>Process to process</a:t>
            </a:r>
            <a:endParaRPr lang="en-IN" b="1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0" y="1920085"/>
            <a:ext cx="3886200" cy="3871115"/>
          </a:xfrm>
        </p:spPr>
        <p:txBody>
          <a:bodyPr>
            <a:normAutofit fontScale="92500" lnSpcReduction="10000"/>
          </a:bodyPr>
          <a:lstStyle/>
          <a:p>
            <a:endParaRPr lang="en-IN" b="1" dirty="0" smtClean="0"/>
          </a:p>
          <a:p>
            <a:r>
              <a:rPr lang="en-IN" b="1" dirty="0" smtClean="0"/>
              <a:t>Data cannot flow from</a:t>
            </a:r>
          </a:p>
          <a:p>
            <a:pPr lvl="1"/>
            <a:endParaRPr lang="en-IN" b="1" dirty="0" smtClean="0"/>
          </a:p>
          <a:p>
            <a:pPr lvl="1"/>
            <a:r>
              <a:rPr lang="en-IN" b="1" dirty="0" smtClean="0"/>
              <a:t>External entity to external entity</a:t>
            </a:r>
          </a:p>
          <a:p>
            <a:pPr lvl="1"/>
            <a:r>
              <a:rPr lang="en-IN" b="1" dirty="0" smtClean="0"/>
              <a:t>External entity to store</a:t>
            </a:r>
          </a:p>
          <a:p>
            <a:pPr lvl="1"/>
            <a:r>
              <a:rPr lang="en-IN" b="1" dirty="0" smtClean="0"/>
              <a:t>Store to external entity</a:t>
            </a:r>
          </a:p>
          <a:p>
            <a:pPr lvl="1"/>
            <a:r>
              <a:rPr lang="en-IN" b="1" dirty="0" smtClean="0"/>
              <a:t>Store to store</a:t>
            </a:r>
            <a:endParaRPr lang="en-IN" b="1" dirty="0"/>
          </a:p>
        </p:txBody>
      </p:sp>
    </p:spTree>
    <p:extLst>
      <p:ext uri="{BB962C8B-B14F-4D97-AF65-F5344CB8AC3E}">
        <p14:creationId xmlns="" xmlns:p14="http://schemas.microsoft.com/office/powerpoint/2010/main" val="354856556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Good Style in Drawing DFD</a:t>
            </a:r>
            <a:endParaRPr lang="en-IN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33600"/>
            <a:ext cx="8229600" cy="4191000"/>
          </a:xfrm>
        </p:spPr>
        <p:txBody>
          <a:bodyPr>
            <a:normAutofit fontScale="92500"/>
          </a:bodyPr>
          <a:lstStyle/>
          <a:p>
            <a:r>
              <a:rPr lang="en-IN" b="1" dirty="0" smtClean="0"/>
              <a:t>Use meaningful names for data flows, processes and data stores.</a:t>
            </a:r>
          </a:p>
          <a:p>
            <a:r>
              <a:rPr lang="en-IN" b="1" dirty="0" smtClean="0"/>
              <a:t>Use top down development starting from context diagram and successively levelling DFD</a:t>
            </a:r>
          </a:p>
          <a:p>
            <a:r>
              <a:rPr lang="en-IN" b="1" dirty="0" smtClean="0"/>
              <a:t>Only previously stored data can be read</a:t>
            </a:r>
          </a:p>
          <a:p>
            <a:r>
              <a:rPr lang="en-IN" b="1" dirty="0" smtClean="0"/>
              <a:t>A process can only transfer input to output. It cannot create new data</a:t>
            </a:r>
          </a:p>
          <a:p>
            <a:r>
              <a:rPr lang="en-IN" b="1" dirty="0" smtClean="0"/>
              <a:t>Data stores cannot create new data</a:t>
            </a:r>
            <a:endParaRPr lang="en-IN" b="1" dirty="0"/>
          </a:p>
        </p:txBody>
      </p:sp>
    </p:spTree>
    <p:extLst>
      <p:ext uri="{BB962C8B-B14F-4D97-AF65-F5344CB8AC3E}">
        <p14:creationId xmlns="" xmlns:p14="http://schemas.microsoft.com/office/powerpoint/2010/main" val="278552714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Levels of DFD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defRPr/>
            </a:pPr>
            <a:r>
              <a:rPr lang="en-US" sz="2800" b="1" dirty="0" smtClean="0"/>
              <a:t>Context diagram						</a:t>
            </a:r>
          </a:p>
          <a:p>
            <a:pPr>
              <a:defRPr/>
            </a:pPr>
            <a:r>
              <a:rPr lang="en-US" sz="2800" b="1" dirty="0" smtClean="0"/>
              <a:t>Level-</a:t>
            </a:r>
            <a:r>
              <a:rPr lang="en-US" sz="2800" b="1" dirty="0" smtClean="0">
                <a:latin typeface="+mj-lt"/>
              </a:rPr>
              <a:t>0</a:t>
            </a:r>
            <a:r>
              <a:rPr lang="en-US" sz="2800" b="1" dirty="0" smtClean="0"/>
              <a:t> diagram (System diagram)					</a:t>
            </a:r>
          </a:p>
          <a:p>
            <a:pPr>
              <a:defRPr/>
            </a:pPr>
            <a:r>
              <a:rPr lang="en-US" sz="2800" b="1" dirty="0" smtClean="0"/>
              <a:t>Level-</a:t>
            </a:r>
            <a:r>
              <a:rPr lang="en-US" sz="2800" b="1" i="1" dirty="0" smtClean="0"/>
              <a:t>n</a:t>
            </a:r>
            <a:r>
              <a:rPr lang="en-US" sz="2800" b="1" dirty="0" smtClean="0"/>
              <a:t> diagram </a:t>
            </a:r>
          </a:p>
          <a:p>
            <a:pPr marL="0" indent="0">
              <a:buNone/>
              <a:defRPr/>
            </a:pPr>
            <a:r>
              <a:rPr lang="en-US" sz="2800" b="1" dirty="0" smtClean="0"/>
              <a:t>    - Detail of one process from next </a:t>
            </a:r>
          </a:p>
          <a:p>
            <a:pPr marL="0" indent="0">
              <a:buNone/>
              <a:defRPr/>
            </a:pPr>
            <a:r>
              <a:rPr lang="en-US" sz="2800" b="1" dirty="0" smtClean="0"/>
              <a:t>      highest level</a:t>
            </a:r>
          </a:p>
          <a:p>
            <a:pPr>
              <a:defRPr/>
            </a:pPr>
            <a:endParaRPr lang="en-US" sz="2800" b="1" dirty="0" smtClean="0"/>
          </a:p>
          <a:p>
            <a:pPr>
              <a:defRPr/>
            </a:pPr>
            <a:r>
              <a:rPr lang="en-US" sz="2800" b="1" dirty="0" smtClean="0"/>
              <a:t>Primitive diagram (Lowest level DFD)</a:t>
            </a:r>
          </a:p>
          <a:p>
            <a:pPr>
              <a:defRPr/>
            </a:pPr>
            <a:endParaRPr lang="en-US" b="1" dirty="0"/>
          </a:p>
        </p:txBody>
      </p:sp>
      <p:pic>
        <p:nvPicPr>
          <p:cNvPr id="17412" name="Picture 4" descr="BD19629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3048000"/>
            <a:ext cx="1539875" cy="179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Levelling Rules</a:t>
            </a:r>
            <a:endParaRPr lang="en-IN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16480"/>
            <a:ext cx="8229600" cy="3855720"/>
          </a:xfrm>
        </p:spPr>
        <p:txBody>
          <a:bodyPr/>
          <a:lstStyle/>
          <a:p>
            <a:r>
              <a:rPr lang="en-IN" b="1" dirty="0" smtClean="0"/>
              <a:t>If a process p is expanded, the process at the next level are labelled as p.1, p.2 etc.</a:t>
            </a:r>
          </a:p>
          <a:p>
            <a:r>
              <a:rPr lang="en-IN" b="1" dirty="0" smtClean="0"/>
              <a:t>All data flow entering or leaving p must also enter or leave it’s expanded version</a:t>
            </a:r>
          </a:p>
          <a:p>
            <a:r>
              <a:rPr lang="en-IN" b="1" dirty="0" smtClean="0"/>
              <a:t>Expanded DFD may have data stores</a:t>
            </a:r>
          </a:p>
          <a:p>
            <a:r>
              <a:rPr lang="en-IN" b="1" dirty="0" smtClean="0"/>
              <a:t>No external entity can appear in expanded DFD</a:t>
            </a:r>
          </a:p>
          <a:p>
            <a:r>
              <a:rPr lang="en-IN" b="1" dirty="0" smtClean="0"/>
              <a:t>Keep the number of processes at each level less than 7</a:t>
            </a:r>
            <a:endParaRPr lang="en-IN" b="1" dirty="0"/>
          </a:p>
        </p:txBody>
      </p:sp>
    </p:spTree>
    <p:extLst>
      <p:ext uri="{BB962C8B-B14F-4D97-AF65-F5344CB8AC3E}">
        <p14:creationId xmlns="" xmlns:p14="http://schemas.microsoft.com/office/powerpoint/2010/main" val="419147700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Creating the Context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163"/>
            <a:ext cx="5334000" cy="4389437"/>
          </a:xfrm>
        </p:spPr>
        <p:txBody>
          <a:bodyPr>
            <a:normAutofit lnSpcReduction="10000"/>
          </a:bodyPr>
          <a:lstStyle/>
          <a:p>
            <a:pPr algn="just">
              <a:defRPr/>
            </a:pPr>
            <a:r>
              <a:rPr lang="en-US" sz="2800" b="1" dirty="0" smtClean="0"/>
              <a:t>Draw one process representing the entire system (process </a:t>
            </a:r>
            <a:r>
              <a:rPr lang="en-US" sz="2800" b="1" dirty="0" smtClean="0">
                <a:latin typeface="+mj-lt"/>
              </a:rPr>
              <a:t>0</a:t>
            </a:r>
            <a:r>
              <a:rPr lang="en-US" sz="2800" b="1" dirty="0" smtClean="0"/>
              <a:t>)</a:t>
            </a:r>
          </a:p>
          <a:p>
            <a:pPr algn="just">
              <a:defRPr/>
            </a:pPr>
            <a:r>
              <a:rPr lang="en-US" sz="2800" b="1" dirty="0" smtClean="0"/>
              <a:t>Find all inputs and outputs that come from or go to external entities; draw as data flows.</a:t>
            </a:r>
          </a:p>
          <a:p>
            <a:pPr algn="just">
              <a:defRPr/>
            </a:pPr>
            <a:r>
              <a:rPr lang="en-US" sz="2800" b="1" dirty="0" smtClean="0"/>
              <a:t>Draw in external entities as the source or destination of the data flows.</a:t>
            </a:r>
          </a:p>
          <a:p>
            <a:pPr>
              <a:defRPr/>
            </a:pPr>
            <a:endParaRPr lang="en-US" b="1" dirty="0"/>
          </a:p>
        </p:txBody>
      </p:sp>
      <p:pic>
        <p:nvPicPr>
          <p:cNvPr id="25604" name="Picture 1028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2438400"/>
            <a:ext cx="1447800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smtClean="0"/>
              <a:t>Context Diagram</a:t>
            </a:r>
          </a:p>
        </p:txBody>
      </p:sp>
      <p:pic>
        <p:nvPicPr>
          <p:cNvPr id="5123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4"/>
          <a:srcRect/>
          <a:stretch>
            <a:fillRect/>
          </a:stretch>
        </p:blipFill>
        <p:spPr>
          <a:xfrm>
            <a:off x="1714500" y="2081213"/>
            <a:ext cx="5715000" cy="3562350"/>
          </a:xfrm>
          <a:noFill/>
        </p:spPr>
      </p:pic>
      <p:sp>
        <p:nvSpPr>
          <p:cNvPr id="5" name="Pentagon 4"/>
          <p:cNvSpPr/>
          <p:nvPr/>
        </p:nvSpPr>
        <p:spPr>
          <a:xfrm>
            <a:off x="214313" y="2286000"/>
            <a:ext cx="1785937" cy="428625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AU" dirty="0"/>
              <a:t>External entity</a:t>
            </a:r>
          </a:p>
        </p:txBody>
      </p:sp>
      <p:sp>
        <p:nvSpPr>
          <p:cNvPr id="6" name="Down Arrow Callout 5"/>
          <p:cNvSpPr/>
          <p:nvPr/>
        </p:nvSpPr>
        <p:spPr>
          <a:xfrm>
            <a:off x="2928938" y="2214563"/>
            <a:ext cx="1285875" cy="928687"/>
          </a:xfrm>
          <a:prstGeom prst="down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AU" dirty="0"/>
              <a:t>Data flow</a:t>
            </a:r>
          </a:p>
        </p:txBody>
      </p:sp>
      <p:sp>
        <p:nvSpPr>
          <p:cNvPr id="7" name="Isosceles Triangle 6"/>
          <p:cNvSpPr/>
          <p:nvPr/>
        </p:nvSpPr>
        <p:spPr>
          <a:xfrm>
            <a:off x="3857625" y="4071938"/>
            <a:ext cx="1928813" cy="142875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AU" dirty="0"/>
              <a:t>The entire system</a:t>
            </a:r>
          </a:p>
          <a:p>
            <a:pPr algn="ctr">
              <a:defRPr/>
            </a:pPr>
            <a:endParaRPr lang="en-AU" dirty="0"/>
          </a:p>
        </p:txBody>
      </p:sp>
    </p:spTree>
  </p:cSld>
  <p:clrMapOvr>
    <a:masterClrMapping/>
  </p:clrMapOvr>
  <p:transition>
    <p:sndAc>
      <p:stSnd>
        <p:snd r:embed="rId2" name="click.wav" builtIn="1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 animBg="1"/>
      <p:bldP spid="6" grpId="0" build="allAtOnce" animBg="1"/>
      <p:bldP spid="7" grpId="0" build="allAtOnce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AU" smtClean="0"/>
              <a:t>IT’S A </a:t>
            </a:r>
            <a:r>
              <a:rPr lang="en-AU" b="1" smtClean="0"/>
              <a:t>BAD</a:t>
            </a:r>
            <a:r>
              <a:rPr lang="en-AU" smtClean="0"/>
              <a:t> DFD</a:t>
            </a:r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AU" dirty="0" smtClean="0"/>
              <a:t>Do not use direct data flows from one </a:t>
            </a:r>
            <a:r>
              <a:rPr lang="en-AU" b="1" dirty="0" smtClean="0"/>
              <a:t>data store </a:t>
            </a:r>
            <a:r>
              <a:rPr lang="en-AU" dirty="0" smtClean="0"/>
              <a:t>to another.  There must be a process between the </a:t>
            </a:r>
            <a:r>
              <a:rPr lang="en-AU" dirty="0" err="1" smtClean="0"/>
              <a:t>store.s</a:t>
            </a:r>
            <a:endParaRPr lang="en-AU" dirty="0" smtClean="0"/>
          </a:p>
          <a:p>
            <a:pPr eaLnBrk="1" hangingPunct="1"/>
            <a:r>
              <a:rPr lang="en-AU" dirty="0" smtClean="0"/>
              <a:t>Do not use direct data flows from an </a:t>
            </a:r>
            <a:r>
              <a:rPr lang="en-AU" b="1" dirty="0" smtClean="0"/>
              <a:t>external entity</a:t>
            </a:r>
            <a:r>
              <a:rPr lang="en-AU" dirty="0" smtClean="0"/>
              <a:t> to a </a:t>
            </a:r>
            <a:r>
              <a:rPr lang="en-AU" b="1" dirty="0" smtClean="0"/>
              <a:t>data store</a:t>
            </a:r>
            <a:r>
              <a:rPr lang="en-AU" dirty="0" smtClean="0"/>
              <a:t> flows.  Again, a process is needed between them.</a:t>
            </a:r>
          </a:p>
          <a:p>
            <a:pPr eaLnBrk="1" hangingPunct="1"/>
            <a:r>
              <a:rPr lang="en-AU" dirty="0" smtClean="0"/>
              <a:t>Do not show direct data flows between external entities.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smtClean="0"/>
              <a:t>Bad!  Flow between external entities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786438" y="1714500"/>
            <a:ext cx="2286000" cy="7858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AU" dirty="0">
                <a:solidFill>
                  <a:schemeClr val="tx1"/>
                </a:solidFill>
              </a:rPr>
              <a:t>Weather bureau</a:t>
            </a:r>
          </a:p>
        </p:txBody>
      </p:sp>
      <p:sp>
        <p:nvSpPr>
          <p:cNvPr id="5" name="Rectangle 4"/>
          <p:cNvSpPr/>
          <p:nvPr/>
        </p:nvSpPr>
        <p:spPr>
          <a:xfrm>
            <a:off x="1071563" y="1714500"/>
            <a:ext cx="2286000" cy="7858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AU" dirty="0">
                <a:solidFill>
                  <a:schemeClr val="tx1"/>
                </a:solidFill>
              </a:rPr>
              <a:t>Fire brigade</a:t>
            </a:r>
          </a:p>
        </p:txBody>
      </p:sp>
      <p:cxnSp>
        <p:nvCxnSpPr>
          <p:cNvPr id="7" name="Straight Arrow Connector 6"/>
          <p:cNvCxnSpPr>
            <a:stCxn id="4" idx="1"/>
            <a:endCxn id="5" idx="3"/>
          </p:cNvCxnSpPr>
          <p:nvPr/>
        </p:nvCxnSpPr>
        <p:spPr>
          <a:xfrm rot="10800000">
            <a:off x="3357563" y="2106613"/>
            <a:ext cx="2428875" cy="1587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26" name="TextBox 7"/>
          <p:cNvSpPr txBox="1">
            <a:spLocks noChangeArrowheads="1"/>
          </p:cNvSpPr>
          <p:nvPr/>
        </p:nvSpPr>
        <p:spPr bwMode="auto">
          <a:xfrm>
            <a:off x="3643313" y="1785938"/>
            <a:ext cx="214312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AU" b="1">
                <a:solidFill>
                  <a:srgbClr val="FF0000"/>
                </a:solidFill>
              </a:rPr>
              <a:t>Weather forecast</a:t>
            </a:r>
          </a:p>
        </p:txBody>
      </p:sp>
      <p:cxnSp>
        <p:nvCxnSpPr>
          <p:cNvPr id="11" name="Straight Arrow Connector 10"/>
          <p:cNvCxnSpPr>
            <a:stCxn id="13" idx="2"/>
            <a:endCxn id="5" idx="2"/>
          </p:cNvCxnSpPr>
          <p:nvPr/>
        </p:nvCxnSpPr>
        <p:spPr>
          <a:xfrm rot="10800000">
            <a:off x="2214563" y="2500313"/>
            <a:ext cx="4143375" cy="221456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28" name="TextBox 11"/>
          <p:cNvSpPr txBox="1">
            <a:spLocks noChangeArrowheads="1"/>
          </p:cNvSpPr>
          <p:nvPr/>
        </p:nvSpPr>
        <p:spPr bwMode="auto">
          <a:xfrm>
            <a:off x="3357563" y="3786188"/>
            <a:ext cx="200025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AU"/>
              <a:t>Call for help</a:t>
            </a:r>
          </a:p>
        </p:txBody>
      </p:sp>
      <p:sp>
        <p:nvSpPr>
          <p:cNvPr id="13" name="Oval 12"/>
          <p:cNvSpPr/>
          <p:nvPr/>
        </p:nvSpPr>
        <p:spPr>
          <a:xfrm>
            <a:off x="6357938" y="3929063"/>
            <a:ext cx="1571625" cy="157162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AU" dirty="0">
                <a:solidFill>
                  <a:schemeClr val="tx1"/>
                </a:solidFill>
              </a:rPr>
              <a:t>Assess fire risk</a:t>
            </a:r>
          </a:p>
        </p:txBody>
      </p:sp>
      <p:cxnSp>
        <p:nvCxnSpPr>
          <p:cNvPr id="15" name="Straight Arrow Connector 14"/>
          <p:cNvCxnSpPr>
            <a:stCxn id="4" idx="2"/>
            <a:endCxn id="13" idx="0"/>
          </p:cNvCxnSpPr>
          <p:nvPr/>
        </p:nvCxnSpPr>
        <p:spPr>
          <a:xfrm rot="16200000" flipH="1">
            <a:off x="6322219" y="3107532"/>
            <a:ext cx="1428750" cy="21431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31" name="TextBox 15"/>
          <p:cNvSpPr txBox="1">
            <a:spLocks noChangeArrowheads="1"/>
          </p:cNvSpPr>
          <p:nvPr/>
        </p:nvSpPr>
        <p:spPr bwMode="auto">
          <a:xfrm>
            <a:off x="5786438" y="2928938"/>
            <a:ext cx="1928812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AU" dirty="0"/>
              <a:t>Weather forecast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Bad! Flow direct to data store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786438" y="1714500"/>
            <a:ext cx="2286000" cy="7858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AU" dirty="0">
                <a:solidFill>
                  <a:schemeClr val="tx1"/>
                </a:solidFill>
              </a:rPr>
              <a:t>Weather bureau</a:t>
            </a:r>
          </a:p>
        </p:txBody>
      </p:sp>
      <p:sp>
        <p:nvSpPr>
          <p:cNvPr id="5" name="Rectangle 4"/>
          <p:cNvSpPr/>
          <p:nvPr/>
        </p:nvSpPr>
        <p:spPr>
          <a:xfrm>
            <a:off x="1071563" y="1714500"/>
            <a:ext cx="2286000" cy="7858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AU" dirty="0">
                <a:solidFill>
                  <a:schemeClr val="tx1"/>
                </a:solidFill>
              </a:rPr>
              <a:t>Fire brigade</a:t>
            </a:r>
          </a:p>
        </p:txBody>
      </p:sp>
      <p:cxnSp>
        <p:nvCxnSpPr>
          <p:cNvPr id="7" name="Straight Arrow Connector 6"/>
          <p:cNvCxnSpPr>
            <a:stCxn id="4" idx="2"/>
            <a:endCxn id="27" idx="0"/>
          </p:cNvCxnSpPr>
          <p:nvPr/>
        </p:nvCxnSpPr>
        <p:spPr>
          <a:xfrm rot="16200000" flipH="1">
            <a:off x="6590507" y="2839244"/>
            <a:ext cx="1214437" cy="53657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750" name="TextBox 7"/>
          <p:cNvSpPr txBox="1">
            <a:spLocks noChangeArrowheads="1"/>
          </p:cNvSpPr>
          <p:nvPr/>
        </p:nvSpPr>
        <p:spPr bwMode="auto">
          <a:xfrm>
            <a:off x="6116638" y="2947988"/>
            <a:ext cx="2143125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AU" b="1">
                <a:solidFill>
                  <a:srgbClr val="FF0000"/>
                </a:solidFill>
              </a:rPr>
              <a:t>Weather forecast</a:t>
            </a:r>
          </a:p>
        </p:txBody>
      </p:sp>
      <p:cxnSp>
        <p:nvCxnSpPr>
          <p:cNvPr id="11" name="Straight Arrow Connector 10"/>
          <p:cNvCxnSpPr>
            <a:stCxn id="13" idx="2"/>
            <a:endCxn id="5" idx="2"/>
          </p:cNvCxnSpPr>
          <p:nvPr/>
        </p:nvCxnSpPr>
        <p:spPr>
          <a:xfrm rot="10800000">
            <a:off x="2214563" y="2500313"/>
            <a:ext cx="2000250" cy="235743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752" name="TextBox 11"/>
          <p:cNvSpPr txBox="1">
            <a:spLocks noChangeArrowheads="1"/>
          </p:cNvSpPr>
          <p:nvPr/>
        </p:nvSpPr>
        <p:spPr bwMode="auto">
          <a:xfrm>
            <a:off x="2643188" y="3429000"/>
            <a:ext cx="200025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AU"/>
              <a:t>Call for help</a:t>
            </a:r>
          </a:p>
        </p:txBody>
      </p:sp>
      <p:sp>
        <p:nvSpPr>
          <p:cNvPr id="13" name="Oval 12"/>
          <p:cNvSpPr/>
          <p:nvPr/>
        </p:nvSpPr>
        <p:spPr>
          <a:xfrm>
            <a:off x="4214813" y="4071938"/>
            <a:ext cx="1571625" cy="157162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AU" dirty="0">
                <a:solidFill>
                  <a:schemeClr val="tx1"/>
                </a:solidFill>
              </a:rPr>
              <a:t>Assess fire risk</a:t>
            </a:r>
          </a:p>
        </p:txBody>
      </p:sp>
      <p:cxnSp>
        <p:nvCxnSpPr>
          <p:cNvPr id="22" name="Straight Arrow Connector 21"/>
          <p:cNvCxnSpPr>
            <a:stCxn id="27" idx="2"/>
            <a:endCxn id="13" idx="6"/>
          </p:cNvCxnSpPr>
          <p:nvPr/>
        </p:nvCxnSpPr>
        <p:spPr>
          <a:xfrm rot="5400000">
            <a:off x="6304757" y="3696494"/>
            <a:ext cx="642937" cy="16795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755" name="TextBox 25"/>
          <p:cNvSpPr txBox="1">
            <a:spLocks noChangeArrowheads="1"/>
          </p:cNvSpPr>
          <p:nvPr/>
        </p:nvSpPr>
        <p:spPr bwMode="auto">
          <a:xfrm>
            <a:off x="6286500" y="4572000"/>
            <a:ext cx="21431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AU"/>
              <a:t>Weather forecast</a:t>
            </a:r>
          </a:p>
        </p:txBody>
      </p:sp>
      <p:sp>
        <p:nvSpPr>
          <p:cNvPr id="27" name="Flowchart: Terminator 26"/>
          <p:cNvSpPr/>
          <p:nvPr/>
        </p:nvSpPr>
        <p:spPr>
          <a:xfrm>
            <a:off x="6429375" y="3714750"/>
            <a:ext cx="2071688" cy="500063"/>
          </a:xfrm>
          <a:prstGeom prst="flowChartTerminator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 dirty="0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en-AU" dirty="0">
                <a:solidFill>
                  <a:schemeClr val="tx1"/>
                </a:solidFill>
              </a:rPr>
              <a:t>Forecast history</a:t>
            </a:r>
          </a:p>
          <a:p>
            <a:pPr algn="ctr">
              <a:defRPr/>
            </a:pPr>
            <a:endParaRPr lang="en-AU" dirty="0" err="1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smtClean="0"/>
              <a:t>Bad! Flow direct between data stores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1643063"/>
            <a:ext cx="2286000" cy="7858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AU" dirty="0">
                <a:solidFill>
                  <a:schemeClr val="tx1"/>
                </a:solidFill>
              </a:rPr>
              <a:t>Customer</a:t>
            </a:r>
          </a:p>
        </p:txBody>
      </p:sp>
      <p:cxnSp>
        <p:nvCxnSpPr>
          <p:cNvPr id="7" name="Straight Arrow Connector 6"/>
          <p:cNvCxnSpPr>
            <a:stCxn id="38" idx="2"/>
            <a:endCxn id="27" idx="1"/>
          </p:cNvCxnSpPr>
          <p:nvPr/>
        </p:nvCxnSpPr>
        <p:spPr>
          <a:xfrm rot="16200000" flipH="1">
            <a:off x="3285331" y="4464844"/>
            <a:ext cx="1465263" cy="225107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773" name="TextBox 7"/>
          <p:cNvSpPr txBox="1">
            <a:spLocks noChangeArrowheads="1"/>
          </p:cNvSpPr>
          <p:nvPr/>
        </p:nvSpPr>
        <p:spPr bwMode="auto">
          <a:xfrm>
            <a:off x="2643188" y="5715000"/>
            <a:ext cx="21431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AU" b="1">
                <a:solidFill>
                  <a:srgbClr val="FF0000"/>
                </a:solidFill>
              </a:rPr>
              <a:t>Stock numbers</a:t>
            </a:r>
          </a:p>
        </p:txBody>
      </p:sp>
      <p:cxnSp>
        <p:nvCxnSpPr>
          <p:cNvPr id="11" name="Straight Arrow Connector 10"/>
          <p:cNvCxnSpPr>
            <a:stCxn id="13" idx="2"/>
            <a:endCxn id="5" idx="2"/>
          </p:cNvCxnSpPr>
          <p:nvPr/>
        </p:nvCxnSpPr>
        <p:spPr>
          <a:xfrm rot="10800000">
            <a:off x="2286000" y="2428875"/>
            <a:ext cx="3143250" cy="85725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5429250" y="2500313"/>
            <a:ext cx="1571625" cy="157162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AU" dirty="0">
                <a:solidFill>
                  <a:schemeClr val="tx1"/>
                </a:solidFill>
              </a:rPr>
              <a:t>Process</a:t>
            </a:r>
          </a:p>
          <a:p>
            <a:pPr algn="ctr">
              <a:defRPr/>
            </a:pPr>
            <a:r>
              <a:rPr lang="en-AU" dirty="0">
                <a:solidFill>
                  <a:schemeClr val="tx1"/>
                </a:solidFill>
              </a:rPr>
              <a:t>order</a:t>
            </a:r>
          </a:p>
        </p:txBody>
      </p:sp>
      <p:cxnSp>
        <p:nvCxnSpPr>
          <p:cNvPr id="22" name="Straight Arrow Connector 21"/>
          <p:cNvCxnSpPr>
            <a:stCxn id="13" idx="5"/>
            <a:endCxn id="27" idx="0"/>
          </p:cNvCxnSpPr>
          <p:nvPr/>
        </p:nvCxnSpPr>
        <p:spPr>
          <a:xfrm rot="5400000">
            <a:off x="5360194" y="4661694"/>
            <a:ext cx="2230438" cy="590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777" name="TextBox 25"/>
          <p:cNvSpPr txBox="1">
            <a:spLocks noChangeArrowheads="1"/>
          </p:cNvSpPr>
          <p:nvPr/>
        </p:nvSpPr>
        <p:spPr bwMode="auto">
          <a:xfrm>
            <a:off x="4143375" y="2714625"/>
            <a:ext cx="10001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AU"/>
              <a:t>Invoice</a:t>
            </a:r>
          </a:p>
        </p:txBody>
      </p:sp>
      <p:sp>
        <p:nvSpPr>
          <p:cNvPr id="27" name="Flowchart: Terminator 26"/>
          <p:cNvSpPr/>
          <p:nvPr/>
        </p:nvSpPr>
        <p:spPr>
          <a:xfrm>
            <a:off x="5143500" y="6072188"/>
            <a:ext cx="2071688" cy="500062"/>
          </a:xfrm>
          <a:prstGeom prst="flowChartTerminator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 dirty="0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en-AU" dirty="0">
                <a:solidFill>
                  <a:schemeClr val="tx1"/>
                </a:solidFill>
              </a:rPr>
              <a:t>Orders</a:t>
            </a:r>
          </a:p>
          <a:p>
            <a:pPr algn="ctr">
              <a:defRPr/>
            </a:pPr>
            <a:endParaRPr lang="en-AU" dirty="0" err="1">
              <a:solidFill>
                <a:schemeClr val="tx1"/>
              </a:solidFill>
            </a:endParaRPr>
          </a:p>
        </p:txBody>
      </p:sp>
      <p:sp>
        <p:nvSpPr>
          <p:cNvPr id="38" name="Flowchart: Terminator 37"/>
          <p:cNvSpPr/>
          <p:nvPr/>
        </p:nvSpPr>
        <p:spPr>
          <a:xfrm>
            <a:off x="1857375" y="4357688"/>
            <a:ext cx="2071688" cy="500062"/>
          </a:xfrm>
          <a:prstGeom prst="flowChartTerminator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 dirty="0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en-AU" dirty="0">
                <a:solidFill>
                  <a:schemeClr val="tx1"/>
                </a:solidFill>
              </a:rPr>
              <a:t>Inventory</a:t>
            </a:r>
          </a:p>
          <a:p>
            <a:pPr algn="ctr">
              <a:defRPr/>
            </a:pPr>
            <a:endParaRPr lang="en-AU" dirty="0" err="1">
              <a:solidFill>
                <a:schemeClr val="tx1"/>
              </a:solidFill>
            </a:endParaRPr>
          </a:p>
        </p:txBody>
      </p:sp>
      <p:cxnSp>
        <p:nvCxnSpPr>
          <p:cNvPr id="45" name="Straight Arrow Connector 44"/>
          <p:cNvCxnSpPr>
            <a:stCxn id="27" idx="0"/>
            <a:endCxn id="38" idx="3"/>
          </p:cNvCxnSpPr>
          <p:nvPr/>
        </p:nvCxnSpPr>
        <p:spPr>
          <a:xfrm rot="16200000" flipV="1">
            <a:off x="4322763" y="4214813"/>
            <a:ext cx="1463675" cy="225107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781" name="TextBox 47"/>
          <p:cNvSpPr txBox="1">
            <a:spLocks noChangeArrowheads="1"/>
          </p:cNvSpPr>
          <p:nvPr/>
        </p:nvSpPr>
        <p:spPr bwMode="auto">
          <a:xfrm>
            <a:off x="4286250" y="4714875"/>
            <a:ext cx="15716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AU" b="1">
                <a:solidFill>
                  <a:srgbClr val="FF0000"/>
                </a:solidFill>
              </a:rPr>
              <a:t>Stock check</a:t>
            </a:r>
          </a:p>
        </p:txBody>
      </p:sp>
      <p:cxnSp>
        <p:nvCxnSpPr>
          <p:cNvPr id="51" name="Straight Arrow Connector 50"/>
          <p:cNvCxnSpPr>
            <a:stCxn id="5" idx="3"/>
            <a:endCxn id="13" idx="1"/>
          </p:cNvCxnSpPr>
          <p:nvPr/>
        </p:nvCxnSpPr>
        <p:spPr>
          <a:xfrm>
            <a:off x="3429000" y="2035175"/>
            <a:ext cx="2230438" cy="6953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783" name="TextBox 53"/>
          <p:cNvSpPr txBox="1">
            <a:spLocks noChangeArrowheads="1"/>
          </p:cNvSpPr>
          <p:nvPr/>
        </p:nvSpPr>
        <p:spPr bwMode="auto">
          <a:xfrm>
            <a:off x="4295775" y="2058988"/>
            <a:ext cx="100012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AU"/>
              <a:t>Order</a:t>
            </a:r>
          </a:p>
        </p:txBody>
      </p:sp>
      <p:sp>
        <p:nvSpPr>
          <p:cNvPr id="32784" name="TextBox 54"/>
          <p:cNvSpPr txBox="1">
            <a:spLocks noChangeArrowheads="1"/>
          </p:cNvSpPr>
          <p:nvPr/>
        </p:nvSpPr>
        <p:spPr bwMode="auto">
          <a:xfrm>
            <a:off x="6215063" y="4344988"/>
            <a:ext cx="100012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AU"/>
              <a:t>Order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429000"/>
            <a:ext cx="8229600" cy="1143000"/>
          </a:xfrm>
        </p:spPr>
        <p:txBody>
          <a:bodyPr/>
          <a:lstStyle/>
          <a:p>
            <a:r>
              <a:rPr lang="en-US" b="1" dirty="0" smtClean="0">
                <a:ln w="31550" cmpd="sng">
                  <a:gradFill>
                    <a:gsLst>
                      <a:gs pos="25000">
                        <a:schemeClr val="accent1">
                          <a:shade val="25000"/>
                          <a:satMod val="190000"/>
                        </a:schemeClr>
                      </a:gs>
                      <a:gs pos="80000">
                        <a:schemeClr val="accent1">
                          <a:tint val="75000"/>
                          <a:satMod val="19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rgbClr val="FFFFFF"/>
                </a:solidFill>
                <a:effectLst>
                  <a:outerShdw blurRad="41275" dist="12700" dir="12000000" algn="tl" rotWithShape="0">
                    <a:srgbClr val="000000">
                      <a:alpha val="40000"/>
                    </a:srgbClr>
                  </a:outerShdw>
                </a:effectLst>
              </a:rPr>
              <a:t>THANK YOU</a:t>
            </a:r>
            <a:endParaRPr lang="en-US" b="1" dirty="0">
              <a:ln w="31550" cmpd="sng">
                <a:gradFill>
                  <a:gsLst>
                    <a:gs pos="25000">
                      <a:schemeClr val="accent1">
                        <a:shade val="25000"/>
                        <a:satMod val="190000"/>
                      </a:schemeClr>
                    </a:gs>
                    <a:gs pos="80000">
                      <a:schemeClr val="accent1">
                        <a:tint val="75000"/>
                        <a:satMod val="190000"/>
                      </a:schemeClr>
                    </a:gs>
                  </a:gsLst>
                  <a:lin ang="5400000"/>
                </a:gradFill>
                <a:prstDash val="solid"/>
              </a:ln>
              <a:solidFill>
                <a:srgbClr val="FFFFFF"/>
              </a:solidFill>
              <a:effectLst>
                <a:outerShdw blurRad="41275" dist="12700" dir="120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 -0.01665 C -0.06059 -0.05157 -0.17083 -0.08603 -0.22899 -0.11193 C -0.28733 -0.13806 -0.28837 -0.16235 -0.3 -0.17206 " pathEditMode="relative" rAng="0" ptsTypes="aaA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5" y="-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Flow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700</Words>
  <Application>Microsoft Office PowerPoint</Application>
  <PresentationFormat>On-screen Show (4:3)</PresentationFormat>
  <Paragraphs>143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Office Theme</vt:lpstr>
      <vt:lpstr>1_Office Theme</vt:lpstr>
      <vt:lpstr>Flow</vt:lpstr>
      <vt:lpstr>PRESTIGE INSTITUTE OF MANAGEMENT</vt:lpstr>
      <vt:lpstr>Slide 2</vt:lpstr>
      <vt:lpstr>Data Flow Diagrams</vt:lpstr>
      <vt:lpstr>Why DFD ?</vt:lpstr>
      <vt:lpstr>DFD elements</vt:lpstr>
      <vt:lpstr>External Entities</vt:lpstr>
      <vt:lpstr>Data Flows</vt:lpstr>
      <vt:lpstr>Processes</vt:lpstr>
      <vt:lpstr>Data Stores</vt:lpstr>
      <vt:lpstr>Rules of Data Flow</vt:lpstr>
      <vt:lpstr>Good Style in Drawing DFD</vt:lpstr>
      <vt:lpstr>Levels of DFD</vt:lpstr>
      <vt:lpstr>Levelling Rules</vt:lpstr>
      <vt:lpstr>Creating the Context Diagram</vt:lpstr>
      <vt:lpstr>Context Diagram</vt:lpstr>
      <vt:lpstr>IT’S A BAD DFD</vt:lpstr>
      <vt:lpstr>Bad!  Flow between external entities</vt:lpstr>
      <vt:lpstr>Bad! Flow direct to data store</vt:lpstr>
      <vt:lpstr>Bad! Flow direct between data stores</vt:lpstr>
      <vt:lpstr>THANK YOU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PRESTIGE INSTITUTE OF MANAGEMENT</dc:title>
  <dc:creator>hp-u</dc:creator>
  <cp:lastModifiedBy>hp-u</cp:lastModifiedBy>
  <cp:revision>8</cp:revision>
  <dcterms:created xsi:type="dcterms:W3CDTF">2016-11-29T14:42:37Z</dcterms:created>
  <dcterms:modified xsi:type="dcterms:W3CDTF">2016-11-29T15:54:29Z</dcterms:modified>
</cp:coreProperties>
</file>