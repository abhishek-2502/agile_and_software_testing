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notesMasterIdLst>
    <p:notesMasterId r:id="rId51"/>
  </p:notesMasterIdLst>
  <p:sldIdLst>
    <p:sldId id="338" r:id="rId2"/>
    <p:sldId id="262" r:id="rId3"/>
    <p:sldId id="298" r:id="rId4"/>
    <p:sldId id="264" r:id="rId5"/>
    <p:sldId id="324" r:id="rId6"/>
    <p:sldId id="325" r:id="rId7"/>
    <p:sldId id="326" r:id="rId8"/>
    <p:sldId id="269" r:id="rId9"/>
    <p:sldId id="267" r:id="rId10"/>
    <p:sldId id="320" r:id="rId11"/>
    <p:sldId id="321" r:id="rId12"/>
    <p:sldId id="300" r:id="rId13"/>
    <p:sldId id="270" r:id="rId14"/>
    <p:sldId id="268" r:id="rId15"/>
    <p:sldId id="322" r:id="rId16"/>
    <p:sldId id="332" r:id="rId17"/>
    <p:sldId id="334" r:id="rId18"/>
    <p:sldId id="343" r:id="rId19"/>
    <p:sldId id="339" r:id="rId20"/>
    <p:sldId id="340" r:id="rId21"/>
    <p:sldId id="341" r:id="rId22"/>
    <p:sldId id="342" r:id="rId23"/>
    <p:sldId id="299" r:id="rId24"/>
    <p:sldId id="330" r:id="rId25"/>
    <p:sldId id="331" r:id="rId26"/>
    <p:sldId id="301" r:id="rId27"/>
    <p:sldId id="280" r:id="rId28"/>
    <p:sldId id="285" r:id="rId29"/>
    <p:sldId id="288" r:id="rId30"/>
    <p:sldId id="289" r:id="rId31"/>
    <p:sldId id="290" r:id="rId32"/>
    <p:sldId id="291" r:id="rId33"/>
    <p:sldId id="294" r:id="rId34"/>
    <p:sldId id="295" r:id="rId35"/>
    <p:sldId id="296" r:id="rId36"/>
    <p:sldId id="297" r:id="rId37"/>
    <p:sldId id="304" r:id="rId38"/>
    <p:sldId id="305" r:id="rId39"/>
    <p:sldId id="306" r:id="rId40"/>
    <p:sldId id="307" r:id="rId41"/>
    <p:sldId id="308" r:id="rId42"/>
    <p:sldId id="309" r:id="rId43"/>
    <p:sldId id="314" r:id="rId44"/>
    <p:sldId id="315" r:id="rId45"/>
    <p:sldId id="316" r:id="rId46"/>
    <p:sldId id="276" r:id="rId47"/>
    <p:sldId id="317" r:id="rId48"/>
    <p:sldId id="318" r:id="rId49"/>
    <p:sldId id="319" r:id="rId5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070B"/>
    <a:srgbClr val="F00A0F"/>
    <a:srgbClr val="990033"/>
    <a:srgbClr val="007434"/>
    <a:srgbClr val="009242"/>
    <a:srgbClr val="00602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04" autoAdjust="0"/>
    <p:restoredTop sz="88983" autoAdjust="0"/>
  </p:normalViewPr>
  <p:slideViewPr>
    <p:cSldViewPr>
      <p:cViewPr varScale="1">
        <p:scale>
          <a:sx n="65" d="100"/>
          <a:sy n="65" d="100"/>
        </p:scale>
        <p:origin x="-122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50D095D-6536-40ED-B88D-70A3201B3B63}" type="datetimeFigureOut">
              <a:rPr lang="en-US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9D82F99-C566-4FDA-818C-9576063A6D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14558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C741CA-FC1E-4B7B-B0B7-92E42C1E0269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607331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DFDs, a process symbol can be referred to as a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black box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because the inputs, outputs, and general functions of the process are known, but the underlying details and logic of the process are hidden.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showing processes as black boxes, an analyst can create DFDs that show how the system functions, but avoid unnecessary detail and clutter.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analyst wishes to show additional levels of detail, he or she can zoom in on a process symbol and create a more in-depth DFD that shows the process’s internal workings — which might reveal even more processes, data flows, and data stores. 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this manner, the information system can be modeled as a series of increasingly detailed pictures.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D82F99-C566-4FDA-818C-9576063A6D0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If a DFD is too detailed it will have too many data flows and will be large and difficult to understand</a:t>
            </a:r>
          </a:p>
          <a:p>
            <a:r>
              <a:rPr lang="en-IN" dirty="0" smtClean="0"/>
              <a:t>Start from a broad overview. Expand to details – Idea similar to using procedures and linking these with a main program</a:t>
            </a:r>
          </a:p>
          <a:p>
            <a:r>
              <a:rPr lang="en-IN" dirty="0" smtClean="0"/>
              <a:t>Each DFD must deal with one aspect of a big system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D82F99-C566-4FDA-818C-9576063A6D0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 flow and process combinations that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 must avoid: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Spontaneous generation.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APPLY INSURANCE PREMIUM process, for instance, produces output, but has no input data flow. Because it has no input, the process is called a spontaneous generation process.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Black hole.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CALCULATE GROSS PAY is called a black hole process, which is a process that has input, but produces no output.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</a:t>
            </a:r>
            <a:r>
              <a:rPr lang="en-US" sz="1200" b="1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Gray hole.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gray hole is a process that has at least one input and one output, but the input obviously is insufficient to generate the output shown. For example, a date of birth input is not sufficient to produce a final grade output in the CALCULATE GRADE process.</a:t>
            </a:r>
          </a:p>
          <a:p>
            <a:endParaRPr lang="en-US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Spontaneous generation, black holes, and gray holes are impossible logically in a DFD because a process must act on input, shown by an incoming data flow, and produce output, represented by an outgoing data flow.</a:t>
            </a:r>
            <a:endParaRPr lang="en-US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9D82F99-C566-4FDA-818C-9576063A6D0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B903FA-DED3-43A4-BE53-AA8B89088433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8DCCA-B504-48AA-8E3C-97EF8C7BE7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13B145-F890-4A21-972B-1B8F3502C9BE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5D4F7-FDF4-45FE-9BB5-C3F6AF5855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226043-2CEA-4312-811B-C7FD7143748B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C84A3D-81B7-4797-A10F-233537FE96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3D24A9-D2AB-492F-AB13-65EA7F1BBBA8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F8F83-5208-4FC9-AEEF-9C18AAC44FA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8F629A-C68C-4FAF-B0EC-460C7F904E81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2C490C-06F9-4B4E-BB0B-7728856CAE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2CC572-94B6-4037-98C6-5C19510D2E24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D6F28-99F6-48BC-B6AB-7C2A8FF882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71F82B-5049-420D-8DF5-313F8C9C72C0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FFD073-83EC-4910-9629-807A0B818D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352647-B98F-4AD2-8D9D-0DCFEBF787FC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B1BD08-FAB7-44F9-8802-62FC2A17AD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70799F-A19E-4121-8B64-DA5B77000D0C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FE6844AF-B1F5-412B-AC6C-7F166E7876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D2B34F-C7D2-4C14-B9F1-8BC24258CE1D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4F95C9-103E-4BE6-9ABF-674966CA332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B10A3F-406F-426C-95B8-7EB7532D9D63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363B4C-FE42-4849-922B-49126083246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275"/>
            <a:ext cx="8229600" cy="1371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557338"/>
            <a:ext cx="4038600" cy="43100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557338"/>
            <a:ext cx="4038600" cy="20780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87775"/>
            <a:ext cx="4038600" cy="2079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8B40E-0C86-41EA-AE9C-14ED0766E5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7B614C16-5783-46FC-A2C5-57730E2D44E9}" type="datetimeFigureOut">
              <a:rPr lang="en-US" smtClean="0"/>
              <a:pPr>
                <a:defRPr/>
              </a:pPr>
              <a:t>8/26/2015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456FF9E9-F465-43BA-A85A-DDCFC2DE5BA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</p:sldLayoutIdLst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emf"/><Relationship Id="rId4" Type="http://schemas.openxmlformats.org/officeDocument/2006/relationships/image" Target="../media/image7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1.xml"/><Relationship Id="rId4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1.xml"/><Relationship Id="rId4" Type="http://schemas.openxmlformats.org/officeDocument/2006/relationships/slide" Target="slide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8.xml"/><Relationship Id="rId5" Type="http://schemas.openxmlformats.org/officeDocument/2006/relationships/slide" Target="slide31.xml"/><Relationship Id="rId4" Type="http://schemas.openxmlformats.org/officeDocument/2006/relationships/slide" Target="slide2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wmf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42.wmf"/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8" y="0"/>
            <a:ext cx="9001125" cy="683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74713" y="366713"/>
            <a:ext cx="7772400" cy="65008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AU" sz="1000" i="1" dirty="0">
              <a:solidFill>
                <a:schemeClr val="bg1">
                  <a:lumMod val="95000"/>
                </a:schemeClr>
              </a:solidFill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AU" sz="800" i="1" dirty="0">
              <a:solidFill>
                <a:schemeClr val="bg1">
                  <a:lumMod val="95000"/>
                </a:schemeClr>
              </a:solidFill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AU" sz="6000" i="1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Data Flow Diagrams (DFD)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AU" sz="6000" i="1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&amp; Context diagrams</a:t>
            </a:r>
          </a:p>
          <a:p>
            <a:pPr algn="ctr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AU" sz="2400" dirty="0">
              <a:solidFill>
                <a:schemeClr val="bg1">
                  <a:lumMod val="95000"/>
                </a:schemeClr>
              </a:solidFill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AU" sz="2400" dirty="0">
              <a:solidFill>
                <a:schemeClr val="bg1">
                  <a:lumMod val="95000"/>
                </a:schemeClr>
              </a:solidFill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AU" sz="6000" i="1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AU" sz="2600" i="1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57250" y="357188"/>
            <a:ext cx="7772400" cy="650081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AU" sz="1000" i="1" dirty="0">
              <a:solidFill>
                <a:schemeClr val="bg2">
                  <a:lumMod val="75000"/>
                </a:schemeClr>
              </a:solidFill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AU" sz="800" i="1" dirty="0">
              <a:solidFill>
                <a:schemeClr val="bg2">
                  <a:lumMod val="75000"/>
                </a:schemeClr>
              </a:solidFill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AU" sz="6000" i="1" dirty="0" smtClean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Data Flow Diagrams (</a:t>
            </a:r>
            <a:r>
              <a:rPr lang="en-AU" sz="6000" i="1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DFD)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AU" sz="6000" i="1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&amp; Context diagrams</a:t>
            </a:r>
          </a:p>
          <a:p>
            <a:pPr algn="ctr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AU" sz="2400" dirty="0"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AU" sz="2400" dirty="0">
              <a:latin typeface="Arial" charset="0"/>
              <a:cs typeface="Arial" charset="0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AU" sz="6000" i="1" dirty="0">
              <a:latin typeface="+mj-lt"/>
              <a:ea typeface="+mj-ea"/>
              <a:cs typeface="+mj-cs"/>
            </a:endParaRPr>
          </a:p>
          <a:p>
            <a:pPr algn="ctr" fontAlgn="auto">
              <a:spcAft>
                <a:spcPts val="0"/>
              </a:spcAft>
              <a:defRPr/>
            </a:pPr>
            <a:endParaRPr lang="en-AU" sz="2600" i="1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Data Flow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A </a:t>
            </a:r>
            <a:r>
              <a:rPr lang="en-US" sz="2800" i="1" dirty="0" smtClean="0"/>
              <a:t>graphical tool</a:t>
            </a:r>
            <a:r>
              <a:rPr lang="en-US" sz="2800" dirty="0" smtClean="0"/>
              <a:t>, useful for communicating with users, managers, and other personnel.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Used to perform </a:t>
            </a:r>
            <a:r>
              <a:rPr lang="en-US" sz="2800" i="1" dirty="0" smtClean="0"/>
              <a:t>structured analysis </a:t>
            </a:r>
            <a:r>
              <a:rPr lang="en-US" sz="2800" dirty="0" smtClean="0"/>
              <a:t>to determine logical requirements.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Useful for analyzing existing as well as proposed systems.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Focus on the </a:t>
            </a:r>
            <a:r>
              <a:rPr lang="en-US" sz="2800" i="1" dirty="0" smtClean="0"/>
              <a:t>movement</a:t>
            </a:r>
            <a:r>
              <a:rPr lang="en-US" sz="2800" dirty="0" smtClean="0"/>
              <a:t> of data between external entities and processes, and between processes and data stores.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A relatively simple technique to learn and use.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sz="2400" dirty="0" smtClean="0">
              <a:latin typeface="Verdana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400" dirty="0" smtClean="0">
              <a:latin typeface="Verdana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Why DFD ?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Provides an overview of-</a:t>
            </a:r>
          </a:p>
          <a:p>
            <a:pPr lvl="1"/>
            <a:r>
              <a:rPr lang="en-IN" dirty="0" smtClean="0"/>
              <a:t>What data a system processes</a:t>
            </a:r>
          </a:p>
          <a:p>
            <a:pPr lvl="1"/>
            <a:r>
              <a:rPr lang="en-IN" dirty="0" smtClean="0"/>
              <a:t>What transformations are performed</a:t>
            </a:r>
          </a:p>
          <a:p>
            <a:pPr lvl="1"/>
            <a:r>
              <a:rPr lang="en-IN" dirty="0" smtClean="0"/>
              <a:t>What data are stored</a:t>
            </a:r>
          </a:p>
          <a:p>
            <a:pPr lvl="1"/>
            <a:r>
              <a:rPr lang="en-IN" dirty="0" smtClean="0"/>
              <a:t>What results are produced and where they flow</a:t>
            </a:r>
            <a:endParaRPr lang="en-IN" dirty="0"/>
          </a:p>
          <a:p>
            <a:r>
              <a:rPr lang="en-IN" dirty="0" smtClean="0"/>
              <a:t>Graphical nature makes it a good communication tool between-</a:t>
            </a:r>
          </a:p>
          <a:p>
            <a:pPr lvl="1"/>
            <a:r>
              <a:rPr lang="en-IN" dirty="0" smtClean="0"/>
              <a:t>User and analyst</a:t>
            </a:r>
          </a:p>
          <a:p>
            <a:pPr lvl="1"/>
            <a:r>
              <a:rPr lang="en-IN" dirty="0" smtClean="0"/>
              <a:t>Analyst and System designer</a:t>
            </a:r>
          </a:p>
          <a:p>
            <a:pPr marL="0" indent="0">
              <a:buNone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xmlns="" val="1336120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DFD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63110"/>
            <a:ext cx="7924800" cy="3732890"/>
          </a:xfrm>
        </p:spPr>
        <p:txBody>
          <a:bodyPr/>
          <a:lstStyle/>
          <a:p>
            <a:r>
              <a:rPr lang="en-US" sz="3600" dirty="0" smtClean="0"/>
              <a:t>Source/Sinks (External entity) </a:t>
            </a:r>
          </a:p>
          <a:p>
            <a:r>
              <a:rPr lang="en-US" sz="3600" dirty="0" smtClean="0"/>
              <a:t>Processes</a:t>
            </a:r>
          </a:p>
          <a:p>
            <a:r>
              <a:rPr lang="en-US" sz="3600" dirty="0" smtClean="0"/>
              <a:t>Data Stores</a:t>
            </a:r>
          </a:p>
          <a:p>
            <a:r>
              <a:rPr lang="en-US" sz="3600" dirty="0" smtClean="0"/>
              <a:t>Data  flows</a:t>
            </a:r>
          </a:p>
          <a:p>
            <a:pPr>
              <a:buNone/>
            </a:pPr>
            <a:endParaRPr lang="en-US" sz="3600" dirty="0" smtClean="0"/>
          </a:p>
        </p:txBody>
      </p:sp>
      <p:pic>
        <p:nvPicPr>
          <p:cNvPr id="9220" name="Picture 1028" descr="BS0158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74776" y="3581400"/>
            <a:ext cx="2133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  <p:sp>
        <p:nvSpPr>
          <p:cNvPr id="4" name="Rectangle 3"/>
          <p:cNvSpPr/>
          <p:nvPr/>
        </p:nvSpPr>
        <p:spPr>
          <a:xfrm>
            <a:off x="-1143000" y="3930543"/>
            <a:ext cx="26653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856822"/>
            <a:ext cx="60198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0" dirty="0" smtClean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Symbols Used:</a:t>
            </a:r>
            <a:endParaRPr lang="en-US" sz="5000" dirty="0">
              <a:solidFill>
                <a:schemeClr val="tx2">
                  <a:lumMod val="75000"/>
                </a:schemeClr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65889734"/>
              </p:ext>
            </p:extLst>
          </p:nvPr>
        </p:nvGraphicFramePr>
        <p:xfrm>
          <a:off x="762000" y="1828800"/>
          <a:ext cx="7666209" cy="46481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55403"/>
                <a:gridCol w="2555403"/>
                <a:gridCol w="2555403"/>
              </a:tblGrid>
              <a:tr h="951726"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smtClean="0"/>
                        <a:t>Symbol</a:t>
                      </a:r>
                      <a:endParaRPr lang="en-US" sz="2100" b="1" dirty="0"/>
                    </a:p>
                  </a:txBody>
                  <a:tcPr marL="105127" marR="105127" marT="52564" marB="52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err="1" smtClean="0"/>
                        <a:t>Gane</a:t>
                      </a:r>
                      <a:r>
                        <a:rPr lang="en-US" sz="2100" b="1" dirty="0" smtClean="0"/>
                        <a:t> &amp; </a:t>
                      </a:r>
                      <a:r>
                        <a:rPr lang="en-US" sz="2100" b="1" dirty="0" err="1" smtClean="0"/>
                        <a:t>Sarson</a:t>
                      </a:r>
                      <a:r>
                        <a:rPr lang="en-US" sz="2100" b="1" dirty="0" smtClean="0"/>
                        <a:t> Symbol</a:t>
                      </a:r>
                      <a:endParaRPr lang="en-US" sz="2100" b="1" dirty="0"/>
                    </a:p>
                  </a:txBody>
                  <a:tcPr marL="105127" marR="105127" marT="52564" marB="525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1" dirty="0" err="1" smtClean="0"/>
                        <a:t>DeMarco</a:t>
                      </a:r>
                      <a:r>
                        <a:rPr lang="en-US" sz="2100" b="1" dirty="0" smtClean="0"/>
                        <a:t> &amp; </a:t>
                      </a:r>
                      <a:r>
                        <a:rPr lang="en-US" sz="2100" b="1" dirty="0" err="1" smtClean="0"/>
                        <a:t>Yourdan</a:t>
                      </a:r>
                      <a:r>
                        <a:rPr lang="en-US" sz="2100" b="1" dirty="0" smtClean="0"/>
                        <a:t> Symbol</a:t>
                      </a:r>
                      <a:endParaRPr lang="en-US" sz="2100" b="1" dirty="0"/>
                    </a:p>
                  </a:txBody>
                  <a:tcPr marL="105127" marR="105127" marT="52564" marB="52564" anchor="ctr"/>
                </a:tc>
              </a:tr>
              <a:tr h="9241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/>
                        <a:t>External</a:t>
                      </a:r>
                      <a:r>
                        <a:rPr lang="en-US" sz="2100" baseline="0" dirty="0" smtClean="0"/>
                        <a:t> </a:t>
                      </a:r>
                      <a:r>
                        <a:rPr lang="en-US" sz="2100" dirty="0" smtClean="0"/>
                        <a:t>Entity</a:t>
                      </a:r>
                    </a:p>
                  </a:txBody>
                  <a:tcPr marL="105127" marR="105127" marT="52564" marB="52564" anchor="ctr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5127" marR="105127" marT="52564" marB="52564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5127" marR="105127" marT="52564" marB="52564"/>
                </a:tc>
              </a:tr>
              <a:tr h="9241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/>
                        <a:t>Process</a:t>
                      </a:r>
                      <a:endParaRPr lang="en-US" sz="2100" dirty="0"/>
                    </a:p>
                  </a:txBody>
                  <a:tcPr marL="105127" marR="105127" marT="52564" marB="52564" anchor="ctr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5127" marR="105127" marT="52564" marB="52564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5127" marR="105127" marT="52564" marB="52564"/>
                </a:tc>
              </a:tr>
              <a:tr h="9241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/>
                        <a:t>Data store</a:t>
                      </a:r>
                      <a:endParaRPr lang="en-US" sz="2100" dirty="0"/>
                    </a:p>
                  </a:txBody>
                  <a:tcPr marL="105127" marR="105127" marT="52564" marB="52564" anchor="ctr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5127" marR="105127" marT="52564" marB="52564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5127" marR="105127" marT="52564" marB="52564"/>
                </a:tc>
              </a:tr>
              <a:tr h="92411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/>
                        <a:t>Data flow</a:t>
                      </a:r>
                      <a:endParaRPr lang="en-US" sz="2100" dirty="0"/>
                    </a:p>
                  </a:txBody>
                  <a:tcPr marL="105127" marR="105127" marT="52564" marB="52564" anchor="ctr"/>
                </a:tc>
                <a:tc>
                  <a:txBody>
                    <a:bodyPr/>
                    <a:lstStyle/>
                    <a:p>
                      <a:endParaRPr lang="en-US" sz="2100"/>
                    </a:p>
                  </a:txBody>
                  <a:tcPr marL="105127" marR="105127" marT="52564" marB="52564"/>
                </a:tc>
                <a:tc>
                  <a:txBody>
                    <a:bodyPr/>
                    <a:lstStyle/>
                    <a:p>
                      <a:endParaRPr lang="en-US" sz="2100" dirty="0"/>
                    </a:p>
                  </a:txBody>
                  <a:tcPr marL="105127" marR="105127" marT="52564" marB="52564"/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9843" t="41806" r="26393" b="50260"/>
          <a:stretch/>
        </p:blipFill>
        <p:spPr>
          <a:xfrm>
            <a:off x="6400800" y="5638800"/>
            <a:ext cx="1479262" cy="61635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79143" t="16240" r="3652" b="71437"/>
          <a:stretch/>
        </p:blipFill>
        <p:spPr>
          <a:xfrm>
            <a:off x="6248400" y="3810000"/>
            <a:ext cx="1905000" cy="7492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80489" t="65883" r="4600" b="27770"/>
          <a:stretch/>
        </p:blipFill>
        <p:spPr>
          <a:xfrm>
            <a:off x="6622655" y="4852476"/>
            <a:ext cx="1633310" cy="5025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8494" t="85699" r="24302" b="2711"/>
          <a:stretch/>
        </p:blipFill>
        <p:spPr>
          <a:xfrm>
            <a:off x="6400800" y="2895600"/>
            <a:ext cx="1752600" cy="68630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7549" t="64296" r="24959" b="26731"/>
          <a:stretch/>
        </p:blipFill>
        <p:spPr>
          <a:xfrm>
            <a:off x="3813498" y="4831626"/>
            <a:ext cx="1727265" cy="64044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8459" t="15870" r="24336" b="70015"/>
          <a:stretch/>
        </p:blipFill>
        <p:spPr>
          <a:xfrm>
            <a:off x="3733800" y="3810000"/>
            <a:ext cx="1905000" cy="7819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9843" t="41806" r="26393" b="50260"/>
          <a:stretch/>
        </p:blipFill>
        <p:spPr>
          <a:xfrm>
            <a:off x="3966397" y="5722198"/>
            <a:ext cx="1479262" cy="61635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58494" t="85699" r="24302" b="2711"/>
          <a:stretch/>
        </p:blipFill>
        <p:spPr>
          <a:xfrm>
            <a:off x="3810000" y="2895600"/>
            <a:ext cx="1714439" cy="68630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S.Sakthybaalan</a:t>
            </a:r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70611605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81000" y="533400"/>
            <a:ext cx="7024687" cy="1143000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sz="5000" dirty="0" smtClean="0">
                <a:solidFill>
                  <a:schemeClr val="tx2">
                    <a:lumMod val="75000"/>
                  </a:schemeClr>
                </a:solidFill>
              </a:rPr>
              <a:t>Descriptions :</a:t>
            </a:r>
            <a:endParaRPr lang="zh-TW" altLang="en-US" sz="5000" dirty="0" smtClean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09600" y="1676400"/>
            <a:ext cx="8153400" cy="4800600"/>
          </a:xfrm>
          <a:prstGeom prst="rect">
            <a:avLst/>
          </a:prstGeom>
        </p:spPr>
        <p:txBody>
          <a:bodyPr/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b="1" dirty="0" smtClean="0">
                <a:solidFill>
                  <a:srgbClr val="7030A0"/>
                </a:solidFill>
              </a:rPr>
              <a:t>E</a:t>
            </a:r>
            <a:r>
              <a:rPr kumimoji="0" lang="en-GB" b="1" dirty="0" smtClean="0">
                <a:solidFill>
                  <a:srgbClr val="7030A0"/>
                </a:solidFill>
              </a:rPr>
              <a:t>xternal </a:t>
            </a:r>
            <a:r>
              <a:rPr lang="en-GB" b="1" dirty="0" smtClean="0">
                <a:solidFill>
                  <a:srgbClr val="7030A0"/>
                </a:solidFill>
              </a:rPr>
              <a:t>E</a:t>
            </a:r>
            <a:r>
              <a:rPr kumimoji="0" lang="en-GB" b="1" dirty="0" smtClean="0">
                <a:solidFill>
                  <a:srgbClr val="7030A0"/>
                </a:solidFill>
              </a:rPr>
              <a:t>ntity</a:t>
            </a:r>
            <a:r>
              <a:rPr kumimoji="0" lang="en-GB" dirty="0" smtClean="0">
                <a:solidFill>
                  <a:srgbClr val="7030A0"/>
                </a:solidFill>
              </a:rPr>
              <a:t>  </a:t>
            </a:r>
            <a:r>
              <a:rPr kumimoji="0" lang="en-GB" dirty="0" smtClean="0"/>
              <a:t>- </a:t>
            </a:r>
            <a:r>
              <a:rPr kumimoji="0" lang="en-GB" dirty="0" smtClean="0">
                <a:solidFill>
                  <a:srgbClr val="FF0000"/>
                </a:solidFill>
              </a:rPr>
              <a:t>people</a:t>
            </a:r>
            <a:r>
              <a:rPr kumimoji="0" lang="en-GB" dirty="0" smtClean="0"/>
              <a:t> or </a:t>
            </a:r>
            <a:r>
              <a:rPr kumimoji="0" lang="en-GB" dirty="0" smtClean="0">
                <a:solidFill>
                  <a:srgbClr val="FF0000"/>
                </a:solidFill>
              </a:rPr>
              <a:t>organisations</a:t>
            </a:r>
            <a:r>
              <a:rPr kumimoji="0" lang="en-GB" dirty="0" smtClean="0"/>
              <a:t> that </a:t>
            </a:r>
            <a:r>
              <a:rPr kumimoji="0" lang="en-GB" dirty="0" smtClean="0">
                <a:solidFill>
                  <a:srgbClr val="FF0000"/>
                </a:solidFill>
              </a:rPr>
              <a:t>send</a:t>
            </a:r>
            <a:r>
              <a:rPr kumimoji="0" lang="en-GB" dirty="0" smtClean="0"/>
              <a:t> </a:t>
            </a:r>
            <a:r>
              <a:rPr kumimoji="0" lang="en-GB" dirty="0" smtClean="0">
                <a:solidFill>
                  <a:srgbClr val="FF0000"/>
                </a:solidFill>
              </a:rPr>
              <a:t>data</a:t>
            </a:r>
            <a:r>
              <a:rPr kumimoji="0" lang="en-GB" dirty="0" smtClean="0"/>
              <a:t> into the system or </a:t>
            </a:r>
            <a:r>
              <a:rPr kumimoji="0" lang="en-GB" dirty="0" smtClean="0">
                <a:solidFill>
                  <a:srgbClr val="FF0000"/>
                </a:solidFill>
              </a:rPr>
              <a:t>receive</a:t>
            </a:r>
            <a:r>
              <a:rPr kumimoji="0" lang="en-GB" dirty="0" smtClean="0"/>
              <a:t> </a:t>
            </a:r>
            <a:r>
              <a:rPr kumimoji="0" lang="en-GB" dirty="0" smtClean="0">
                <a:solidFill>
                  <a:srgbClr val="FF0000"/>
                </a:solidFill>
              </a:rPr>
              <a:t>data</a:t>
            </a:r>
            <a:r>
              <a:rPr kumimoji="0" lang="en-GB" dirty="0" smtClean="0"/>
              <a:t> from the system.</a:t>
            </a:r>
          </a:p>
          <a:p>
            <a:pPr algn="just"/>
            <a:endParaRPr kumimoji="0" lang="en-GB" sz="1600" dirty="0" smtClean="0"/>
          </a:p>
          <a:p>
            <a:pPr algn="just"/>
            <a:r>
              <a:rPr lang="en-GB" b="1" dirty="0" smtClean="0">
                <a:solidFill>
                  <a:srgbClr val="7030A0"/>
                </a:solidFill>
              </a:rPr>
              <a:t>Process</a:t>
            </a:r>
            <a:r>
              <a:rPr kumimoji="0" lang="en-GB" dirty="0" smtClean="0"/>
              <a:t> - models </a:t>
            </a:r>
            <a:r>
              <a:rPr kumimoji="0" lang="en-GB" dirty="0" smtClean="0">
                <a:solidFill>
                  <a:srgbClr val="FF0000"/>
                </a:solidFill>
              </a:rPr>
              <a:t>what happens to the data</a:t>
            </a:r>
            <a:r>
              <a:rPr kumimoji="0" lang="en-GB" dirty="0" smtClean="0"/>
              <a:t> </a:t>
            </a:r>
          </a:p>
          <a:p>
            <a:pPr marL="914400" indent="-844550" algn="just">
              <a:buNone/>
            </a:pPr>
            <a:r>
              <a:rPr kumimoji="0" lang="en-GB" dirty="0"/>
              <a:t>	</a:t>
            </a:r>
            <a:r>
              <a:rPr kumimoji="0" lang="en-GB" dirty="0" smtClean="0"/>
              <a:t>i.e. transforms incoming data into outgoing data.</a:t>
            </a:r>
          </a:p>
          <a:p>
            <a:pPr marL="914400" indent="-844550" algn="just">
              <a:buNone/>
            </a:pPr>
            <a:endParaRPr kumimoji="0" lang="en-GB" sz="1600" dirty="0" smtClean="0"/>
          </a:p>
          <a:p>
            <a:pPr algn="just"/>
            <a:r>
              <a:rPr lang="en-GB" b="1" dirty="0" smtClean="0">
                <a:solidFill>
                  <a:srgbClr val="7030A0"/>
                </a:solidFill>
              </a:rPr>
              <a:t>Data Store </a:t>
            </a:r>
            <a:r>
              <a:rPr kumimoji="0" lang="en-GB" dirty="0" smtClean="0"/>
              <a:t>- </a:t>
            </a:r>
            <a:r>
              <a:rPr kumimoji="0" lang="en-GB" dirty="0" smtClean="0">
                <a:solidFill>
                  <a:srgbClr val="FF0000"/>
                </a:solidFill>
              </a:rPr>
              <a:t>represents permanent data </a:t>
            </a:r>
            <a:r>
              <a:rPr kumimoji="0" lang="en-GB" dirty="0" smtClean="0"/>
              <a:t>that is used by the system.</a:t>
            </a:r>
          </a:p>
          <a:p>
            <a:pPr algn="just"/>
            <a:endParaRPr kumimoji="0" lang="en-GB" sz="1600" dirty="0" smtClean="0"/>
          </a:p>
          <a:p>
            <a:pPr algn="just"/>
            <a:r>
              <a:rPr lang="en-GB" b="1" dirty="0" smtClean="0">
                <a:solidFill>
                  <a:srgbClr val="7030A0"/>
                </a:solidFill>
              </a:rPr>
              <a:t>Data Flow </a:t>
            </a:r>
            <a:r>
              <a:rPr kumimoji="0" lang="en-GB" dirty="0" smtClean="0"/>
              <a:t>- models the </a:t>
            </a:r>
            <a:r>
              <a:rPr kumimoji="0" lang="en-GB" dirty="0" smtClean="0">
                <a:solidFill>
                  <a:srgbClr val="FF0000"/>
                </a:solidFill>
              </a:rPr>
              <a:t>actual flow of the data </a:t>
            </a:r>
            <a:r>
              <a:rPr kumimoji="0" lang="en-GB" dirty="0" smtClean="0"/>
              <a:t>between the other elements.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S.Sakthybaalan</a:t>
            </a:r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69209093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676400" y="1905001"/>
            <a:ext cx="6975475" cy="35052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0" lang="en-US" sz="2800" dirty="0" smtClean="0"/>
              <a:t>External Entity  </a:t>
            </a:r>
            <a:r>
              <a:rPr kumimoji="0" lang="en-US" sz="2800" dirty="0" smtClean="0">
                <a:sym typeface="Wingdings" panose="05000000000000000000" pitchFamily="2" charset="2"/>
              </a:rPr>
              <a:t></a:t>
            </a:r>
            <a:r>
              <a:rPr kumimoji="0" lang="en-US" sz="2800" dirty="0" smtClean="0"/>
              <a:t> Noun</a:t>
            </a:r>
          </a:p>
          <a:p>
            <a:pPr eaLnBrk="1" hangingPunct="1">
              <a:lnSpc>
                <a:spcPct val="120000"/>
              </a:lnSpc>
            </a:pPr>
            <a:endParaRPr kumimoji="0" lang="en-US" sz="1600" dirty="0" smtClean="0"/>
          </a:p>
          <a:p>
            <a:pPr eaLnBrk="1" hangingPunct="1">
              <a:lnSpc>
                <a:spcPct val="120000"/>
              </a:lnSpc>
            </a:pPr>
            <a:r>
              <a:rPr kumimoji="0" lang="en-US" sz="2800" dirty="0" smtClean="0"/>
              <a:t>Data Flow  </a:t>
            </a:r>
            <a:r>
              <a:rPr kumimoji="0" lang="en-US" sz="2800" dirty="0" smtClean="0">
                <a:sym typeface="Wingdings" panose="05000000000000000000" pitchFamily="2" charset="2"/>
              </a:rPr>
              <a:t></a:t>
            </a:r>
            <a:r>
              <a:rPr kumimoji="0" lang="en-US" sz="2800" dirty="0" smtClean="0"/>
              <a:t> Names of data</a:t>
            </a:r>
          </a:p>
          <a:p>
            <a:pPr eaLnBrk="1" hangingPunct="1">
              <a:lnSpc>
                <a:spcPct val="120000"/>
              </a:lnSpc>
            </a:pPr>
            <a:endParaRPr kumimoji="0" lang="en-US" sz="1600" dirty="0" smtClean="0"/>
          </a:p>
          <a:p>
            <a:pPr eaLnBrk="1" hangingPunct="1">
              <a:lnSpc>
                <a:spcPct val="120000"/>
              </a:lnSpc>
            </a:pPr>
            <a:r>
              <a:rPr kumimoji="0" lang="en-US" sz="2800" dirty="0" smtClean="0"/>
              <a:t>Process </a:t>
            </a:r>
            <a:r>
              <a:rPr kumimoji="0" lang="en-US" sz="2800" dirty="0" smtClean="0">
                <a:sym typeface="Wingdings" panose="05000000000000000000" pitchFamily="2" charset="2"/>
              </a:rPr>
              <a:t> verb phrase</a:t>
            </a:r>
          </a:p>
          <a:p>
            <a:pPr eaLnBrk="1" hangingPunct="1">
              <a:lnSpc>
                <a:spcPct val="120000"/>
              </a:lnSpc>
            </a:pPr>
            <a:endParaRPr kumimoji="0" lang="en-US" sz="1600" dirty="0" smtClean="0"/>
          </a:p>
          <a:p>
            <a:pPr eaLnBrk="1" hangingPunct="1">
              <a:lnSpc>
                <a:spcPct val="120000"/>
              </a:lnSpc>
            </a:pPr>
            <a:r>
              <a:rPr kumimoji="0" lang="en-US" sz="2800" dirty="0" smtClean="0"/>
              <a:t>Data Store  </a:t>
            </a:r>
            <a:r>
              <a:rPr kumimoji="0" lang="en-US" sz="2800" dirty="0" smtClean="0">
                <a:sym typeface="Wingdings" panose="05000000000000000000" pitchFamily="2" charset="2"/>
              </a:rPr>
              <a:t></a:t>
            </a:r>
            <a:r>
              <a:rPr kumimoji="0" lang="en-US" sz="2800" dirty="0" smtClean="0"/>
              <a:t> Noun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62000" y="588963"/>
            <a:ext cx="6975475" cy="762000"/>
          </a:xfrm>
          <a:prstGeom prst="rect">
            <a:avLst/>
          </a:prstGeom>
          <a:noFill/>
        </p:spPr>
        <p:txBody>
          <a:bodyPr lIns="92075" tIns="46038" rIns="92075" bIns="46038"/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850" indent="0" eaLnBrk="1" hangingPunct="1">
              <a:lnSpc>
                <a:spcPct val="120000"/>
              </a:lnSpc>
              <a:buNone/>
            </a:pPr>
            <a:r>
              <a:rPr lang="en-US" sz="39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Symbol naming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S.Sakthybaalan</a:t>
            </a:r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201398805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External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133600"/>
            <a:ext cx="6705600" cy="3634581"/>
          </a:xfrm>
        </p:spPr>
        <p:txBody>
          <a:bodyPr>
            <a:normAutofit/>
          </a:bodyPr>
          <a:lstStyle/>
          <a:p>
            <a:r>
              <a:rPr lang="en-US" dirty="0" smtClean="0"/>
              <a:t>They either supply or receive data</a:t>
            </a:r>
          </a:p>
          <a:p>
            <a:pPr marL="285750" indent="-285750">
              <a:buClr>
                <a:schemeClr val="bg2"/>
              </a:buClr>
              <a:buSzPct val="75000"/>
              <a:buFont typeface="Arial" pitchFamily="34" charset="0"/>
              <a:buChar char="•"/>
              <a:defRPr/>
            </a:pPr>
            <a:r>
              <a:rPr lang="en-US" altLang="en-US" b="1" dirty="0" smtClean="0"/>
              <a:t>Source</a:t>
            </a:r>
            <a:r>
              <a:rPr lang="en-US" altLang="en-US" dirty="0" smtClean="0"/>
              <a:t> – Entity that supplies data to the system.</a:t>
            </a:r>
          </a:p>
          <a:p>
            <a:pPr marL="285750" indent="-285750">
              <a:buClr>
                <a:schemeClr val="bg2"/>
              </a:buClr>
              <a:buSzPct val="75000"/>
              <a:buFont typeface="Arial" pitchFamily="34" charset="0"/>
              <a:buChar char="•"/>
              <a:defRPr/>
            </a:pPr>
            <a:r>
              <a:rPr lang="en-US" altLang="en-US" b="1" dirty="0" smtClean="0"/>
              <a:t>Sink</a:t>
            </a:r>
            <a:r>
              <a:rPr lang="en-US" altLang="en-US" dirty="0" smtClean="0"/>
              <a:t> – Entity that receives data from the system.</a:t>
            </a:r>
          </a:p>
          <a:p>
            <a:r>
              <a:rPr lang="en-US" dirty="0" smtClean="0"/>
              <a:t>They do not process data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4495800"/>
            <a:ext cx="8305800" cy="19812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 smtClean="0"/>
              <a:t>Work or actions performed on data (inside the system) </a:t>
            </a:r>
          </a:p>
          <a:p>
            <a:r>
              <a:rPr lang="en-US" sz="2800" dirty="0" smtClean="0"/>
              <a:t>Straight line with incoming arrows are input data flows</a:t>
            </a:r>
          </a:p>
          <a:p>
            <a:r>
              <a:rPr lang="en-US" sz="2800" dirty="0" smtClean="0"/>
              <a:t>Straight lines with outgoing arrows are output data flows</a:t>
            </a:r>
          </a:p>
          <a:p>
            <a:r>
              <a:rPr lang="en-US" sz="2800" dirty="0" smtClean="0"/>
              <a:t>Labels are assigned to Data flow. These aid documentation</a:t>
            </a:r>
          </a:p>
          <a:p>
            <a:endParaRPr lang="en-US" dirty="0" smtClean="0"/>
          </a:p>
        </p:txBody>
      </p:sp>
      <p:sp>
        <p:nvSpPr>
          <p:cNvPr id="2" name="Oval 1"/>
          <p:cNvSpPr/>
          <p:nvPr/>
        </p:nvSpPr>
        <p:spPr>
          <a:xfrm>
            <a:off x="5526206" y="1676400"/>
            <a:ext cx="1636594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/>
              <a:t>1. STORES</a:t>
            </a:r>
            <a:endParaRPr lang="en-IN" sz="2000" b="1" dirty="0"/>
          </a:p>
        </p:txBody>
      </p:sp>
      <p:cxnSp>
        <p:nvCxnSpPr>
          <p:cNvPr id="5" name="Straight Arrow Connector 4"/>
          <p:cNvCxnSpPr>
            <a:endCxn id="2" idx="2"/>
          </p:cNvCxnSpPr>
          <p:nvPr/>
        </p:nvCxnSpPr>
        <p:spPr>
          <a:xfrm>
            <a:off x="3962400" y="2362200"/>
            <a:ext cx="156380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05200" y="16764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Stores demand note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48400" y="8382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Delivery Slip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70761" y="2390064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Issue Slip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162800" y="2362200"/>
            <a:ext cx="156380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2" idx="7"/>
          </p:cNvCxnSpPr>
          <p:nvPr/>
        </p:nvCxnSpPr>
        <p:spPr>
          <a:xfrm flipH="1">
            <a:off x="6923126" y="1371600"/>
            <a:ext cx="1382674" cy="5056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" name="Object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979612" y="2438400"/>
            <a:ext cx="1908175" cy="1908175"/>
          </a:xfrm>
          <a:noFill/>
        </p:spPr>
      </p:pic>
      <p:pic>
        <p:nvPicPr>
          <p:cNvPr id="13" name="Object 2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014662"/>
            <a:ext cx="2576512" cy="569913"/>
          </a:xfrm>
          <a:prstGeom prst="rect">
            <a:avLst/>
          </a:prstGeom>
          <a:noFill/>
        </p:spPr>
      </p:pic>
      <p:pic>
        <p:nvPicPr>
          <p:cNvPr id="14" name="Object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71887" y="3086100"/>
            <a:ext cx="2016125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371600"/>
          </a:xfrm>
        </p:spPr>
        <p:txBody>
          <a:bodyPr/>
          <a:lstStyle/>
          <a:p>
            <a:pPr eaLnBrk="1" hangingPunct="1"/>
            <a:r>
              <a:rPr lang="en-US" dirty="0" smtClean="0"/>
              <a:t>Processes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524000"/>
            <a:ext cx="7991475" cy="10668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000" dirty="0" smtClean="0"/>
              <a:t>Can have more than one outgoing data flow or more than one incoming data flow</a:t>
            </a:r>
          </a:p>
          <a:p>
            <a:pPr eaLnBrk="1" hangingPunct="1">
              <a:buNone/>
            </a:pPr>
            <a:endParaRPr lang="en-US" sz="3000" dirty="0" smtClean="0"/>
          </a:p>
        </p:txBody>
      </p:sp>
      <p:pic>
        <p:nvPicPr>
          <p:cNvPr id="24580" name="Object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3635375" y="2565400"/>
            <a:ext cx="1800225" cy="1800225"/>
          </a:xfrm>
          <a:noFill/>
        </p:spPr>
      </p:pic>
      <p:pic>
        <p:nvPicPr>
          <p:cNvPr id="24590" name="Object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2275" y="3216275"/>
            <a:ext cx="211772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1" name="Object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9700" y="2997200"/>
            <a:ext cx="20891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5" name="Object 19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/>
          <a:srcRect/>
          <a:stretch>
            <a:fillRect/>
          </a:stretch>
        </p:blipFill>
        <p:spPr>
          <a:xfrm>
            <a:off x="5219700" y="3509963"/>
            <a:ext cx="2089150" cy="352425"/>
          </a:xfrm>
          <a:noFill/>
        </p:spPr>
      </p:pic>
      <p:pic>
        <p:nvPicPr>
          <p:cNvPr id="24597" name="Object 2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635375" y="4652963"/>
            <a:ext cx="18002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8" name="Object 2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619250" y="515778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99" name="Object 2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619250" y="5589588"/>
            <a:ext cx="2190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600" name="Object 24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219700" y="5373688"/>
            <a:ext cx="20891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Processes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52600"/>
            <a:ext cx="8147050" cy="19812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sz="3200" dirty="0" smtClean="0"/>
              <a:t>Can connect to any other symbol (including another process symbol)</a:t>
            </a:r>
          </a:p>
          <a:p>
            <a:r>
              <a:rPr lang="en-US" sz="3200" dirty="0" smtClean="0"/>
              <a:t>Contain the business logic, also called business rules</a:t>
            </a:r>
          </a:p>
          <a:p>
            <a:r>
              <a:rPr lang="en-US" sz="3200" dirty="0" smtClean="0"/>
              <a:t>Referred to as a black box</a:t>
            </a:r>
          </a:p>
          <a:p>
            <a:pPr eaLnBrk="1" hangingPunct="1"/>
            <a:endParaRPr lang="en-US" sz="3000" dirty="0" smtClean="0"/>
          </a:p>
          <a:p>
            <a:pPr eaLnBrk="1" hangingPunct="1"/>
            <a:endParaRPr lang="en-US" sz="3000" dirty="0" smtClean="0"/>
          </a:p>
        </p:txBody>
      </p:sp>
      <p:pic>
        <p:nvPicPr>
          <p:cNvPr id="25604" name="Object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1949450" y="4189412"/>
            <a:ext cx="1800225" cy="1800225"/>
          </a:xfrm>
          <a:noFill/>
        </p:spPr>
      </p:pic>
      <p:pic>
        <p:nvPicPr>
          <p:cNvPr id="25606" name="Object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/>
          <a:srcRect/>
          <a:stretch>
            <a:fillRect/>
          </a:stretch>
        </p:blipFill>
        <p:spPr>
          <a:xfrm>
            <a:off x="5334000" y="4191000"/>
            <a:ext cx="1800225" cy="1800225"/>
          </a:xfrm>
          <a:noFill/>
        </p:spPr>
      </p:pic>
      <p:pic>
        <p:nvPicPr>
          <p:cNvPr id="25608" name="Object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9400" y="4791075"/>
            <a:ext cx="188595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9" name="Object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33775" y="4791075"/>
            <a:ext cx="2016125" cy="34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10" name="Object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918325" y="4613275"/>
            <a:ext cx="19081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</a:schemeClr>
                </a:solidFill>
              </a:rPr>
              <a:t>Data Flow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191000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An alternate notation is often used:</a:t>
            </a:r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A Process</a:t>
            </a:r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A Data Store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3505200" y="3124200"/>
            <a:ext cx="1752600" cy="1447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 smtClean="0"/>
              <a:t>3</a:t>
            </a:r>
          </a:p>
          <a:p>
            <a:pPr algn="ctr"/>
            <a:r>
              <a:rPr lang="en-IN" sz="2800" dirty="0" smtClean="0"/>
              <a:t>Store Issue</a:t>
            </a:r>
            <a:endParaRPr lang="en-IN" sz="28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581400" y="3657600"/>
            <a:ext cx="1600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4101934" y="5029200"/>
            <a:ext cx="168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Data Stores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3616159" y="4981575"/>
            <a:ext cx="457200" cy="457200"/>
          </a:xfrm>
          <a:prstGeom prst="rect">
            <a:avLst/>
          </a:prstGeom>
          <a:solidFill>
            <a:srgbClr val="3333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>
            <a:off x="4073359" y="4981575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5" name="Line 7"/>
          <p:cNvSpPr>
            <a:spLocks noChangeShapeType="1"/>
          </p:cNvSpPr>
          <p:nvPr/>
        </p:nvSpPr>
        <p:spPr bwMode="auto">
          <a:xfrm>
            <a:off x="4073359" y="5438775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3601872" y="5014913"/>
            <a:ext cx="536575" cy="3667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6361" y="31242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chemeClr val="tx1"/>
                </a:solidFill>
              </a:rPr>
              <a:t>Label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60910" y="3836158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chemeClr val="tx1"/>
                </a:solidFill>
              </a:rPr>
              <a:t>Name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81800" y="4931569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chemeClr val="tx1"/>
                </a:solidFill>
              </a:rPr>
              <a:t>Name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60910" y="57912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 smtClean="0">
                <a:solidFill>
                  <a:schemeClr val="tx1"/>
                </a:solidFill>
              </a:rPr>
              <a:t>Label</a:t>
            </a:r>
            <a:endParaRPr lang="en-IN" sz="2000" dirty="0">
              <a:solidFill>
                <a:schemeClr val="tx1"/>
              </a:solidFill>
            </a:endParaRP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5257800" y="3390900"/>
            <a:ext cx="10031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5410200" y="4102858"/>
            <a:ext cx="1066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096000" y="5198269"/>
            <a:ext cx="107476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3870159" y="6057900"/>
            <a:ext cx="276322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3870159" y="5562600"/>
            <a:ext cx="0" cy="495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196907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4191000" cy="1048512"/>
          </a:xfrm>
        </p:spPr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Data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3810000"/>
            <a:ext cx="8610600" cy="2819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A Data Store is a repository of data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/>
              <a:t>D</a:t>
            </a:r>
            <a:r>
              <a:rPr lang="en-US" sz="2800" dirty="0" smtClean="0"/>
              <a:t>ata can be written into the data store. This is depicted by an incoming arrow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 smtClean="0"/>
              <a:t>Data can be read from a data store. This is depicted by an outgoing arrow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800" dirty="0" smtClean="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990600" y="2216731"/>
            <a:ext cx="168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Data Stores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504825" y="2169106"/>
            <a:ext cx="457200" cy="457200"/>
          </a:xfrm>
          <a:prstGeom prst="rect">
            <a:avLst/>
          </a:prstGeom>
          <a:solidFill>
            <a:srgbClr val="3333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962025" y="21691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962025" y="26263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490538" y="2202444"/>
            <a:ext cx="536575" cy="3667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D1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737768" y="2216731"/>
            <a:ext cx="168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Data Stores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251993" y="2169106"/>
            <a:ext cx="457200" cy="457200"/>
          </a:xfrm>
          <a:prstGeom prst="rect">
            <a:avLst/>
          </a:prstGeom>
          <a:solidFill>
            <a:srgbClr val="3333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3709193" y="21691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3709193" y="26263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237706" y="2202444"/>
            <a:ext cx="536575" cy="3667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 dirty="0">
                <a:latin typeface="Verdana" pitchFamily="34" charset="0"/>
              </a:rPr>
              <a:t>D1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589712" y="2216731"/>
            <a:ext cx="168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Data Stores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103937" y="2169106"/>
            <a:ext cx="457200" cy="457200"/>
          </a:xfrm>
          <a:prstGeom prst="rect">
            <a:avLst/>
          </a:prstGeom>
          <a:solidFill>
            <a:srgbClr val="3333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6561137" y="21691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6561137" y="26263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6089650" y="2202444"/>
            <a:ext cx="536575" cy="3667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D1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343400" y="1676400"/>
            <a:ext cx="0" cy="526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7433468" y="1600200"/>
            <a:ext cx="0" cy="5689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96481" y="25908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Writing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19068" y="25908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Reading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6" name="Flowchart: Terminator 25"/>
          <p:cNvSpPr/>
          <p:nvPr/>
        </p:nvSpPr>
        <p:spPr>
          <a:xfrm>
            <a:off x="762000" y="2895600"/>
            <a:ext cx="2986088" cy="642938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Data store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4953000" y="990600"/>
            <a:ext cx="314325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953000" y="1419225"/>
            <a:ext cx="314325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5400000">
            <a:off x="4738687" y="1204913"/>
            <a:ext cx="428625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638800" y="990600"/>
            <a:ext cx="124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AU" dirty="0" smtClean="0"/>
              <a:t>Data store</a:t>
            </a:r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209800"/>
            <a:ext cx="7391400" cy="3870325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800" dirty="0" smtClean="0"/>
              <a:t>Data in motion</a:t>
            </a:r>
          </a:p>
          <a:p>
            <a:pPr>
              <a:spcBef>
                <a:spcPct val="0"/>
              </a:spcBef>
              <a:defRPr/>
            </a:pPr>
            <a:r>
              <a:rPr lang="en-US" sz="2800" dirty="0" smtClean="0"/>
              <a:t>Marks movement of data through the system - a pipeline to carry data.</a:t>
            </a:r>
          </a:p>
          <a:p>
            <a:pPr algn="just">
              <a:spcBef>
                <a:spcPct val="0"/>
              </a:spcBef>
              <a:defRPr/>
            </a:pPr>
            <a:r>
              <a:rPr lang="en-US" sz="2800" dirty="0" smtClean="0"/>
              <a:t>Connects the processes, external entities and data stores.</a:t>
            </a:r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4038600" y="1676400"/>
            <a:ext cx="1828800" cy="0"/>
          </a:xfrm>
          <a:prstGeom prst="line">
            <a:avLst/>
          </a:prstGeom>
          <a:ln>
            <a:headEnd/>
            <a:tailEnd type="stealth" w="lg" len="lg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IN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4114800" y="1143000"/>
            <a:ext cx="1614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latin typeface="Verdana" pitchFamily="34" charset="0"/>
              </a:rPr>
              <a:t>Data Flow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Data Flow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752600"/>
            <a:ext cx="8291513" cy="2419350"/>
          </a:xfrm>
        </p:spPr>
        <p:txBody>
          <a:bodyPr/>
          <a:lstStyle/>
          <a:p>
            <a:pPr marL="342900" lvl="1" indent="-342900">
              <a:spcBef>
                <a:spcPct val="0"/>
              </a:spcBef>
              <a:buClr>
                <a:schemeClr val="accent3"/>
              </a:buClr>
              <a:buSzPct val="95000"/>
              <a:defRPr/>
            </a:pPr>
            <a:r>
              <a:rPr lang="en-US" sz="3000" dirty="0" smtClean="0"/>
              <a:t>Generally unidirectional, If same data flows in both directions, double-headed arrow can be used.</a:t>
            </a:r>
          </a:p>
          <a:p>
            <a:pPr eaLnBrk="1" hangingPunct="1">
              <a:lnSpc>
                <a:spcPct val="90000"/>
              </a:lnSpc>
            </a:pPr>
            <a:r>
              <a:rPr lang="en-US" sz="3000" dirty="0" smtClean="0"/>
              <a:t>Can represent flow between process and data store by two separate arrows</a:t>
            </a:r>
          </a:p>
          <a:p>
            <a:pPr eaLnBrk="1" hangingPunct="1">
              <a:lnSpc>
                <a:spcPct val="90000"/>
              </a:lnSpc>
            </a:pPr>
            <a:endParaRPr lang="en-US" sz="3000" dirty="0" smtClean="0"/>
          </a:p>
        </p:txBody>
      </p:sp>
      <p:pic>
        <p:nvPicPr>
          <p:cNvPr id="10253" name="Object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19250" y="4365625"/>
            <a:ext cx="1871663" cy="187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4" name="Object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18088" y="5003800"/>
            <a:ext cx="2290762" cy="80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5" name="Object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76600" y="4870450"/>
            <a:ext cx="1800225" cy="39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56" name="Object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76600" y="5302250"/>
            <a:ext cx="1800225" cy="39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9"/>
          <p:cNvSpPr>
            <a:spLocks noGrp="1"/>
          </p:cNvSpPr>
          <p:nvPr>
            <p:ph sz="quarter" idx="3"/>
          </p:nvPr>
        </p:nvSpPr>
        <p:spPr>
          <a:xfrm>
            <a:off x="8534400" y="3787775"/>
            <a:ext cx="152400" cy="20796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305800" y="1557338"/>
            <a:ext cx="381000" cy="2078037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28600" y="838200"/>
            <a:ext cx="5829300" cy="9906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kumimoji="0" lang="en-GB" b="1" dirty="0" smtClean="0">
                <a:solidFill>
                  <a:srgbClr val="990033"/>
                </a:solidFill>
              </a:rPr>
              <a:t>Decomposition Of DFD</a:t>
            </a:r>
            <a:endParaRPr kumimoji="0" lang="en-GB" dirty="0" smtClean="0">
              <a:solidFill>
                <a:srgbClr val="990033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083605502"/>
              </p:ext>
            </p:extLst>
          </p:nvPr>
        </p:nvGraphicFramePr>
        <p:xfrm>
          <a:off x="838200" y="2057400"/>
          <a:ext cx="7162799" cy="38861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7989"/>
                <a:gridCol w="2927405"/>
                <a:gridCol w="2927405"/>
              </a:tblGrid>
              <a:tr h="8923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Levels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Description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Explanation</a:t>
                      </a:r>
                      <a:endParaRPr lang="en-US" sz="2400" b="1" dirty="0"/>
                    </a:p>
                  </a:txBody>
                  <a:tcPr anchor="ctr"/>
                </a:tc>
              </a:tr>
              <a:tr h="8923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Level 0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Context</a:t>
                      </a:r>
                      <a:r>
                        <a:rPr lang="en-US" sz="2400" baseline="0" dirty="0" smtClean="0"/>
                        <a:t> diagram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Contains</a:t>
                      </a:r>
                      <a:r>
                        <a:rPr lang="en-US" sz="2400" baseline="0" dirty="0" smtClean="0"/>
                        <a:t> only one process</a:t>
                      </a:r>
                      <a:endParaRPr lang="en-US" sz="2400" dirty="0"/>
                    </a:p>
                  </a:txBody>
                  <a:tcPr anchor="ctr"/>
                </a:tc>
              </a:tr>
              <a:tr h="89230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Level 1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Overview diagram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Utilizes all four elements</a:t>
                      </a:r>
                    </a:p>
                  </a:txBody>
                  <a:tcPr anchor="ctr"/>
                </a:tc>
              </a:tr>
              <a:tr h="120929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Level 2</a:t>
                      </a:r>
                      <a:endParaRPr lang="en-US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Detailed diagram</a:t>
                      </a:r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A breakdown of a level 2 process</a:t>
                      </a:r>
                    </a:p>
                    <a:p>
                      <a:pPr algn="l"/>
                      <a:endParaRPr lang="en-US" sz="24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33400" y="6172200"/>
            <a:ext cx="79430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9850" indent="0">
              <a:buNone/>
            </a:pPr>
            <a:r>
              <a:rPr kumimoji="0" lang="en-GB" sz="2000" b="1" dirty="0">
                <a:latin typeface="Arial" panose="020B0604020202020204" pitchFamily="34" charset="0"/>
              </a:rPr>
              <a:t>There is </a:t>
            </a:r>
            <a:r>
              <a:rPr kumimoji="0" lang="en-GB" sz="2000" b="1" dirty="0">
                <a:solidFill>
                  <a:srgbClr val="FF0000"/>
                </a:solidFill>
                <a:latin typeface="Arial" panose="020B0604020202020204" pitchFamily="34" charset="0"/>
              </a:rPr>
              <a:t>no rule</a:t>
            </a:r>
            <a:r>
              <a:rPr kumimoji="0" lang="en-GB" sz="2000" b="1" dirty="0">
                <a:latin typeface="Arial" panose="020B0604020202020204" pitchFamily="34" charset="0"/>
              </a:rPr>
              <a:t> as to </a:t>
            </a:r>
            <a:r>
              <a:rPr kumimoji="0" lang="en-GB" sz="2000" b="1" dirty="0">
                <a:solidFill>
                  <a:srgbClr val="FF0000"/>
                </a:solidFill>
                <a:latin typeface="Arial" panose="020B0604020202020204" pitchFamily="34" charset="0"/>
              </a:rPr>
              <a:t>how many levels </a:t>
            </a:r>
            <a:r>
              <a:rPr kumimoji="0" lang="en-GB" sz="2000" b="1" dirty="0">
                <a:latin typeface="Arial" panose="020B0604020202020204" pitchFamily="34" charset="0"/>
              </a:rPr>
              <a:t>of DFD that can be used.</a:t>
            </a:r>
          </a:p>
        </p:txBody>
      </p:sp>
      <p:pic>
        <p:nvPicPr>
          <p:cNvPr id="9" name="Picture 4" descr="BD19629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562599" y="228600"/>
            <a:ext cx="2514601" cy="17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="" xmlns:p14="http://schemas.microsoft.com/office/powerpoint/2010/main" val="202485319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17</a:t>
            </a:fld>
            <a:endParaRPr lang="zh-TW" alt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143000" y="4185120"/>
            <a:ext cx="7765143" cy="9244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457200" indent="-457200" algn="just">
              <a:buFont typeface="Courier New" panose="02070309020205020404" pitchFamily="49" charset="0"/>
              <a:buChar char="o"/>
            </a:pPr>
            <a:endParaRPr lang="en-CA" sz="2800" dirty="0">
              <a:solidFill>
                <a:schemeClr val="tx1"/>
              </a:solidFill>
            </a:endParaRPr>
          </a:p>
        </p:txBody>
      </p:sp>
      <p:sp>
        <p:nvSpPr>
          <p:cNvPr id="10" name="AutoShape 2" descr="http://members.tripod.com/~myyee/cs457/dfdcontextlevel.gif"/>
          <p:cNvSpPr>
            <a:spLocks noChangeAspect="1" noChangeArrowheads="1"/>
          </p:cNvSpPr>
          <p:nvPr/>
        </p:nvSpPr>
        <p:spPr bwMode="auto">
          <a:xfrm>
            <a:off x="63500" y="41275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09600" y="450075"/>
            <a:ext cx="7391400" cy="9244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Rules for Level 0 Diagram :</a:t>
            </a:r>
            <a:endParaRPr lang="en-CA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57200" y="1265048"/>
            <a:ext cx="8001000" cy="2392552"/>
          </a:xfrm>
          <a:prstGeom prst="rect">
            <a:avLst/>
          </a:prstGeom>
        </p:spPr>
        <p:txBody>
          <a:bodyPr/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</a:pPr>
            <a:r>
              <a:rPr kumimoji="0" lang="en-US" dirty="0">
                <a:solidFill>
                  <a:schemeClr val="accent6"/>
                </a:solidFill>
              </a:rPr>
              <a:t>1 </a:t>
            </a:r>
            <a:r>
              <a:rPr kumimoji="0" lang="en-US" dirty="0" smtClean="0">
                <a:solidFill>
                  <a:schemeClr val="accent6"/>
                </a:solidFill>
              </a:rPr>
              <a:t>process </a:t>
            </a:r>
            <a:r>
              <a:rPr kumimoji="0" lang="en-US" dirty="0"/>
              <a:t>represents the entire system.</a:t>
            </a:r>
          </a:p>
          <a:p>
            <a:pPr algn="just">
              <a:lnSpc>
                <a:spcPct val="90000"/>
              </a:lnSpc>
            </a:pPr>
            <a:endParaRPr kumimoji="0" lang="en-US" sz="1800" dirty="0"/>
          </a:p>
          <a:p>
            <a:pPr algn="just">
              <a:lnSpc>
                <a:spcPct val="90000"/>
              </a:lnSpc>
            </a:pPr>
            <a:r>
              <a:rPr kumimoji="0" lang="en-US" dirty="0">
                <a:solidFill>
                  <a:schemeClr val="accent6"/>
                </a:solidFill>
              </a:rPr>
              <a:t>Data arrows show input and output</a:t>
            </a:r>
            <a:r>
              <a:rPr kumimoji="0" lang="en-US" dirty="0"/>
              <a:t>.</a:t>
            </a:r>
          </a:p>
          <a:p>
            <a:pPr algn="just">
              <a:lnSpc>
                <a:spcPct val="90000"/>
              </a:lnSpc>
            </a:pPr>
            <a:endParaRPr kumimoji="0" lang="en-US" sz="1600" dirty="0"/>
          </a:p>
          <a:p>
            <a:pPr algn="just">
              <a:lnSpc>
                <a:spcPct val="90000"/>
              </a:lnSpc>
            </a:pPr>
            <a:r>
              <a:rPr kumimoji="0" lang="en-US" dirty="0">
                <a:solidFill>
                  <a:schemeClr val="accent6"/>
                </a:solidFill>
              </a:rPr>
              <a:t>Data Stores NOT shown</a:t>
            </a:r>
            <a:r>
              <a:rPr kumimoji="0" lang="en-US" dirty="0"/>
              <a:t>. They are within the system</a:t>
            </a:r>
            <a:r>
              <a:rPr kumimoji="0" lang="en-US" dirty="0" smtClean="0"/>
              <a:t>. </a:t>
            </a:r>
            <a:endParaRPr kumimoji="0" lang="en-US" dirty="0"/>
          </a:p>
        </p:txBody>
      </p:sp>
      <p:pic>
        <p:nvPicPr>
          <p:cNvPr id="13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3124200"/>
            <a:ext cx="6680200" cy="3297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S.Sakthybaalan</a:t>
            </a:r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0126979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endParaRPr lang="en-US" dirty="0">
              <a:latin typeface="Arial" pitchFamily="34" charset="0"/>
            </a:endParaRPr>
          </a:p>
        </p:txBody>
      </p:sp>
      <p:sp>
        <p:nvSpPr>
          <p:cNvPr id="13315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FB44A15-AB69-46FC-B7A1-74284CDC1264}" type="slidenum">
              <a:rPr lang="en-US">
                <a:latin typeface="Arial" pitchFamily="34" charset="0"/>
              </a:rPr>
              <a:pPr/>
              <a:t>18</a:t>
            </a:fld>
            <a:endParaRPr lang="en-US">
              <a:latin typeface="Arial" pitchFamily="34" charset="0"/>
            </a:endParaRPr>
          </a:p>
        </p:txBody>
      </p:sp>
      <p:pic>
        <p:nvPicPr>
          <p:cNvPr id="13317" name="Picture 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b="12308"/>
          <a:stretch>
            <a:fillRect/>
          </a:stretch>
        </p:blipFill>
        <p:spPr>
          <a:xfrm>
            <a:off x="0" y="762000"/>
            <a:ext cx="8991600" cy="6096000"/>
          </a:xfrm>
          <a:noFill/>
        </p:spPr>
      </p:pic>
      <p:sp>
        <p:nvSpPr>
          <p:cNvPr id="6" name="Rectangle 5"/>
          <p:cNvSpPr/>
          <p:nvPr/>
        </p:nvSpPr>
        <p:spPr>
          <a:xfrm>
            <a:off x="0" y="0"/>
            <a:ext cx="8839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AD070B"/>
                </a:solidFill>
              </a:rPr>
              <a:t>Layers of DFD Abstraction for Course Registration System</a:t>
            </a:r>
            <a:r>
              <a:rPr lang="en-US" sz="4400" b="1" dirty="0" smtClean="0">
                <a:solidFill>
                  <a:srgbClr val="AD070B"/>
                </a:solidFill>
              </a:rPr>
              <a:t> </a:t>
            </a:r>
            <a:r>
              <a:rPr lang="en-US" sz="2000" b="1" dirty="0" smtClean="0">
                <a:solidFill>
                  <a:srgbClr val="AD070B"/>
                </a:solidFill>
              </a:rPr>
              <a:t/>
            </a:r>
            <a:br>
              <a:rPr lang="en-US" sz="2000" b="1" dirty="0" smtClean="0">
                <a:solidFill>
                  <a:srgbClr val="AD070B"/>
                </a:solidFill>
              </a:rPr>
            </a:br>
            <a:endParaRPr lang="en-US" sz="2000" b="1" dirty="0">
              <a:solidFill>
                <a:srgbClr val="AD070B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620000" cy="1143000"/>
          </a:xfrm>
        </p:spPr>
        <p:txBody>
          <a:bodyPr/>
          <a:lstStyle/>
          <a:p>
            <a:pPr algn="l"/>
            <a:r>
              <a:rPr lang="en-US" b="1" dirty="0" smtClean="0"/>
              <a:t>A Context Diagram (Level 0)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4881" y="1600201"/>
            <a:ext cx="7579519" cy="2133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 smtClean="0"/>
              <a:t>The </a:t>
            </a:r>
            <a:r>
              <a:rPr lang="en-US" dirty="0" smtClean="0">
                <a:solidFill>
                  <a:schemeClr val="accent6"/>
                </a:solidFill>
              </a:rPr>
              <a:t>major information flows </a:t>
            </a:r>
            <a:r>
              <a:rPr lang="en-US" dirty="0" smtClean="0"/>
              <a:t>between the entities and the system.</a:t>
            </a:r>
          </a:p>
          <a:p>
            <a:pPr marL="69850" indent="0" algn="just">
              <a:lnSpc>
                <a:spcPct val="90000"/>
              </a:lnSpc>
              <a:buNone/>
            </a:pPr>
            <a:endParaRPr lang="en-US" dirty="0" smtClean="0"/>
          </a:p>
          <a:p>
            <a:pPr algn="just">
              <a:lnSpc>
                <a:spcPct val="90000"/>
              </a:lnSpc>
            </a:pPr>
            <a:r>
              <a:rPr lang="en-US" dirty="0" smtClean="0"/>
              <a:t>A Context Diagram addresses only </a:t>
            </a:r>
            <a:r>
              <a:rPr lang="en-US" i="1" dirty="0" smtClean="0">
                <a:solidFill>
                  <a:srgbClr val="FF3300"/>
                </a:solidFill>
              </a:rPr>
              <a:t>one</a:t>
            </a:r>
            <a:r>
              <a:rPr lang="en-US" dirty="0" smtClean="0">
                <a:solidFill>
                  <a:srgbClr val="FF3300"/>
                </a:solidFill>
              </a:rPr>
              <a:t> process</a:t>
            </a:r>
            <a:r>
              <a:rPr lang="en-US" dirty="0" smtClean="0"/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9E232D-0B73-45A2-939A-10938D120D7B}" type="slidenum">
              <a:rPr lang="zh-TW" altLang="en-US" smtClean="0"/>
              <a:pPr>
                <a:defRPr/>
              </a:pPr>
              <a:t>19</a:t>
            </a:fld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61398943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20</a:t>
            </a:fld>
            <a:endParaRPr lang="zh-TW" alt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50075"/>
            <a:ext cx="7391400" cy="9244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Rules for Level 1 Diagram :</a:t>
            </a:r>
            <a:endParaRPr lang="en-CA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9600" y="1265048"/>
            <a:ext cx="8001000" cy="2392552"/>
          </a:xfrm>
          <a:prstGeom prst="rect">
            <a:avLst/>
          </a:prstGeom>
        </p:spPr>
        <p:txBody>
          <a:bodyPr/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kumimoji="0" lang="en-US" dirty="0" smtClean="0">
                <a:solidFill>
                  <a:schemeClr val="tx1"/>
                </a:solidFill>
              </a:rPr>
              <a:t>Level </a:t>
            </a:r>
            <a:r>
              <a:rPr kumimoji="0" lang="en-US" dirty="0">
                <a:solidFill>
                  <a:schemeClr val="tx1"/>
                </a:solidFill>
              </a:rPr>
              <a:t>1 </a:t>
            </a:r>
            <a:r>
              <a:rPr kumimoji="0" lang="en-US" dirty="0" smtClean="0">
                <a:solidFill>
                  <a:schemeClr val="tx1"/>
                </a:solidFill>
              </a:rPr>
              <a:t>DFD, </a:t>
            </a:r>
            <a:r>
              <a:rPr kumimoji="0" lang="en-US" dirty="0">
                <a:solidFill>
                  <a:srgbClr val="FF0000"/>
                </a:solidFill>
              </a:rPr>
              <a:t>must balance with the context diagram</a:t>
            </a:r>
            <a:r>
              <a:rPr kumimoji="0" lang="en-US" dirty="0">
                <a:solidFill>
                  <a:schemeClr val="tx1"/>
                </a:solidFill>
              </a:rPr>
              <a:t> it describes</a:t>
            </a:r>
            <a:r>
              <a:rPr kumimoji="0" lang="en-US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kumimoji="0" lang="en-US" sz="1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kumimoji="0" lang="en-US" dirty="0">
                <a:solidFill>
                  <a:srgbClr val="FF0000"/>
                </a:solidFill>
              </a:rPr>
              <a:t>Input going </a:t>
            </a:r>
            <a:r>
              <a:rPr kumimoji="0" lang="en-US" dirty="0">
                <a:solidFill>
                  <a:schemeClr val="tx1"/>
                </a:solidFill>
              </a:rPr>
              <a:t>into a process are different from </a:t>
            </a:r>
            <a:r>
              <a:rPr kumimoji="0" lang="en-US" dirty="0">
                <a:solidFill>
                  <a:srgbClr val="FF0000"/>
                </a:solidFill>
              </a:rPr>
              <a:t>outputs leaving </a:t>
            </a:r>
            <a:r>
              <a:rPr kumimoji="0" lang="en-US" dirty="0">
                <a:solidFill>
                  <a:schemeClr val="tx1"/>
                </a:solidFill>
              </a:rPr>
              <a:t>the process</a:t>
            </a:r>
            <a:r>
              <a:rPr kumimoji="0" lang="en-US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kumimoji="0" lang="en-US" sz="12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kumimoji="0" lang="en-US" dirty="0">
                <a:solidFill>
                  <a:srgbClr val="FF0000"/>
                </a:solidFill>
              </a:rPr>
              <a:t>Data stores are first shown </a:t>
            </a:r>
            <a:r>
              <a:rPr kumimoji="0" lang="en-US" dirty="0">
                <a:solidFill>
                  <a:schemeClr val="tx1"/>
                </a:solidFill>
              </a:rPr>
              <a:t>at this level.</a:t>
            </a:r>
          </a:p>
        </p:txBody>
      </p:sp>
    </p:spTree>
    <p:extLst>
      <p:ext uri="{BB962C8B-B14F-4D97-AF65-F5344CB8AC3E}">
        <p14:creationId xmlns="" xmlns:p14="http://schemas.microsoft.com/office/powerpoint/2010/main" val="29885990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21</a:t>
            </a:fld>
            <a:endParaRPr lang="zh-TW" altLang="en-US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50075"/>
            <a:ext cx="7391400" cy="9244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Rules for Level 2 Diagram :</a:t>
            </a:r>
            <a:endParaRPr lang="en-CA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9600" y="1265048"/>
            <a:ext cx="8001000" cy="2392552"/>
          </a:xfrm>
          <a:prstGeom prst="rect">
            <a:avLst/>
          </a:prstGeom>
        </p:spPr>
        <p:txBody>
          <a:bodyPr/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kumimoji="0" lang="en-US" dirty="0" smtClean="0">
                <a:solidFill>
                  <a:schemeClr val="tx1"/>
                </a:solidFill>
              </a:rPr>
              <a:t>Level 2 </a:t>
            </a:r>
            <a:r>
              <a:rPr kumimoji="0" lang="en-US" dirty="0">
                <a:solidFill>
                  <a:schemeClr val="tx1"/>
                </a:solidFill>
              </a:rPr>
              <a:t>DFD </a:t>
            </a:r>
            <a:r>
              <a:rPr kumimoji="0" lang="en-US" dirty="0">
                <a:solidFill>
                  <a:srgbClr val="FF0000"/>
                </a:solidFill>
              </a:rPr>
              <a:t>must balance with the Level </a:t>
            </a:r>
            <a:r>
              <a:rPr kumimoji="0" lang="en-US" dirty="0" smtClean="0">
                <a:solidFill>
                  <a:srgbClr val="FF0000"/>
                </a:solidFill>
              </a:rPr>
              <a:t>1 </a:t>
            </a:r>
            <a:r>
              <a:rPr kumimoji="0" lang="en-US" dirty="0">
                <a:solidFill>
                  <a:schemeClr val="tx1"/>
                </a:solidFill>
              </a:rPr>
              <a:t>it describes</a:t>
            </a:r>
            <a:r>
              <a:rPr kumimoji="0" lang="en-US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kumimoji="0" lang="en-US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kumimoji="0" lang="en-US" dirty="0">
                <a:solidFill>
                  <a:srgbClr val="FF0000"/>
                </a:solidFill>
              </a:rPr>
              <a:t>Input going </a:t>
            </a:r>
            <a:r>
              <a:rPr kumimoji="0" lang="en-US" dirty="0">
                <a:solidFill>
                  <a:schemeClr val="tx1"/>
                </a:solidFill>
              </a:rPr>
              <a:t>into a process are </a:t>
            </a:r>
            <a:r>
              <a:rPr kumimoji="0" lang="en-US" dirty="0">
                <a:solidFill>
                  <a:srgbClr val="FF0000"/>
                </a:solidFill>
              </a:rPr>
              <a:t>different</a:t>
            </a:r>
            <a:r>
              <a:rPr kumimoji="0" lang="en-US" dirty="0">
                <a:solidFill>
                  <a:schemeClr val="tx1"/>
                </a:solidFill>
              </a:rPr>
              <a:t> from </a:t>
            </a:r>
            <a:r>
              <a:rPr kumimoji="0" lang="en-US" dirty="0">
                <a:solidFill>
                  <a:srgbClr val="FF0000"/>
                </a:solidFill>
              </a:rPr>
              <a:t>outputs leaving </a:t>
            </a:r>
            <a:r>
              <a:rPr kumimoji="0" lang="en-US" dirty="0">
                <a:solidFill>
                  <a:schemeClr val="tx1"/>
                </a:solidFill>
              </a:rPr>
              <a:t>the process</a:t>
            </a:r>
            <a:r>
              <a:rPr kumimoji="0" lang="en-US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kumimoji="0" lang="en-US" sz="1600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</a:pPr>
            <a:r>
              <a:rPr kumimoji="0" lang="en-US" dirty="0">
                <a:solidFill>
                  <a:srgbClr val="FF0000"/>
                </a:solidFill>
              </a:rPr>
              <a:t>Continue to show data stores</a:t>
            </a:r>
            <a:r>
              <a:rPr kumimoji="0" lang="en-US" dirty="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endParaRPr kumimoji="0"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0744047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22</a:t>
            </a:fld>
            <a:endParaRPr lang="zh-TW" altLang="en-US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kumimoji="0" lang="en-GB" b="1" dirty="0" smtClean="0">
                <a:solidFill>
                  <a:schemeClr val="tx2">
                    <a:lumMod val="75000"/>
                  </a:schemeClr>
                </a:solidFill>
              </a:rPr>
              <a:t>Numbering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00314" y="1524000"/>
            <a:ext cx="7772400" cy="4114800"/>
          </a:xfrm>
          <a:prstGeom prst="rect">
            <a:avLst/>
          </a:prstGeom>
        </p:spPr>
        <p:txBody>
          <a:bodyPr/>
          <a:lstStyle>
            <a:lvl1pPr marL="34290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976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39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kumimoji="0" lang="en-GB" dirty="0" smtClean="0"/>
              <a:t>On level 1 processes are numbered 1,2,3…</a:t>
            </a:r>
          </a:p>
          <a:p>
            <a:pPr algn="just"/>
            <a:endParaRPr kumimoji="0" lang="en-GB" sz="1400" dirty="0" smtClean="0"/>
          </a:p>
          <a:p>
            <a:pPr algn="just"/>
            <a:r>
              <a:rPr kumimoji="0" lang="en-GB" dirty="0" smtClean="0"/>
              <a:t>On level 2 processes are numbered x.1, x.2, x.3… where x is the number of the parent level 1 process.</a:t>
            </a:r>
          </a:p>
          <a:p>
            <a:pPr algn="just"/>
            <a:endParaRPr kumimoji="0" lang="en-GB" sz="1600" dirty="0" smtClean="0"/>
          </a:p>
          <a:p>
            <a:pPr algn="just"/>
            <a:r>
              <a:rPr kumimoji="0" lang="en-GB" dirty="0" smtClean="0"/>
              <a:t>Number is used to uniquely identify process </a:t>
            </a:r>
            <a:r>
              <a:rPr kumimoji="0" lang="en-GB" b="1" dirty="0" smtClean="0"/>
              <a:t>not</a:t>
            </a:r>
            <a:r>
              <a:rPr kumimoji="0" lang="en-GB" dirty="0" smtClean="0"/>
              <a:t> to represent any order of processing</a:t>
            </a:r>
          </a:p>
          <a:p>
            <a:pPr algn="just"/>
            <a:endParaRPr kumimoji="0" lang="en-GB" sz="1600" dirty="0" smtClean="0"/>
          </a:p>
          <a:p>
            <a:pPr algn="just"/>
            <a:r>
              <a:rPr kumimoji="0" lang="en-GB" dirty="0" smtClean="0"/>
              <a:t>Data store numbers usually D1, D2, D3...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S.Sakthybaalan</a:t>
            </a:r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344285598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2">
                    <a:lumMod val="75000"/>
                  </a:schemeClr>
                </a:solidFill>
              </a:rPr>
              <a:t>Rules of Data Flow</a:t>
            </a:r>
            <a:endParaRPr lang="en-IN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920085"/>
            <a:ext cx="4267200" cy="4709315"/>
          </a:xfrm>
        </p:spPr>
        <p:txBody>
          <a:bodyPr>
            <a:normAutofit/>
          </a:bodyPr>
          <a:lstStyle/>
          <a:p>
            <a:endParaRPr lang="en-IN" dirty="0" smtClean="0"/>
          </a:p>
          <a:p>
            <a:r>
              <a:rPr lang="en-IN" sz="2800" dirty="0" smtClean="0">
                <a:solidFill>
                  <a:srgbClr val="007434"/>
                </a:solidFill>
              </a:rPr>
              <a:t>Data can flow from</a:t>
            </a:r>
          </a:p>
          <a:p>
            <a:pPr lvl="1"/>
            <a:endParaRPr lang="en-IN" dirty="0" smtClean="0"/>
          </a:p>
          <a:p>
            <a:pPr marL="349250" lvl="1" indent="-246063">
              <a:buFont typeface="Wingdings" pitchFamily="2" charset="2"/>
              <a:buChar char="ü"/>
            </a:pPr>
            <a:r>
              <a:rPr lang="en-IN" dirty="0" smtClean="0">
                <a:solidFill>
                  <a:srgbClr val="002060"/>
                </a:solidFill>
              </a:rPr>
              <a:t>External entity to process</a:t>
            </a:r>
          </a:p>
          <a:p>
            <a:pPr marL="349250" lvl="1" indent="-246063">
              <a:buFont typeface="Wingdings" pitchFamily="2" charset="2"/>
              <a:buChar char="ü"/>
            </a:pPr>
            <a:r>
              <a:rPr lang="en-IN" dirty="0" smtClean="0">
                <a:solidFill>
                  <a:srgbClr val="002060"/>
                </a:solidFill>
              </a:rPr>
              <a:t>Process to external entity</a:t>
            </a:r>
          </a:p>
          <a:p>
            <a:pPr marL="349250" lvl="1" indent="-246063">
              <a:buFont typeface="Wingdings" pitchFamily="2" charset="2"/>
              <a:buChar char="ü"/>
            </a:pPr>
            <a:r>
              <a:rPr lang="en-IN" dirty="0" smtClean="0">
                <a:solidFill>
                  <a:srgbClr val="002060"/>
                </a:solidFill>
              </a:rPr>
              <a:t>Process to store and back</a:t>
            </a:r>
          </a:p>
          <a:p>
            <a:pPr marL="349250" lvl="1" indent="-246063">
              <a:buFont typeface="Wingdings" pitchFamily="2" charset="2"/>
              <a:buChar char="ü"/>
            </a:pPr>
            <a:r>
              <a:rPr lang="en-IN" dirty="0" smtClean="0">
                <a:solidFill>
                  <a:srgbClr val="002060"/>
                </a:solidFill>
              </a:rPr>
              <a:t>Process to process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191000" cy="4633115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 smtClean="0"/>
          </a:p>
          <a:p>
            <a:r>
              <a:rPr lang="en-IN" sz="2800" dirty="0" smtClean="0">
                <a:solidFill>
                  <a:srgbClr val="FF0000"/>
                </a:solidFill>
              </a:rPr>
              <a:t>Data cannot flow from</a:t>
            </a:r>
          </a:p>
          <a:p>
            <a:pPr lvl="1"/>
            <a:endParaRPr lang="en-IN" dirty="0" smtClean="0"/>
          </a:p>
          <a:p>
            <a:pPr marL="293688" lvl="1" indent="-246063"/>
            <a:r>
              <a:rPr lang="en-IN" dirty="0" smtClean="0">
                <a:solidFill>
                  <a:srgbClr val="F00A0F"/>
                </a:solidFill>
              </a:rPr>
              <a:t>External entity to external entity</a:t>
            </a:r>
          </a:p>
          <a:p>
            <a:pPr marL="293688" lvl="1" indent="-246063"/>
            <a:r>
              <a:rPr lang="en-IN" dirty="0" smtClean="0">
                <a:solidFill>
                  <a:srgbClr val="F00A0F"/>
                </a:solidFill>
              </a:rPr>
              <a:t>External entity to store</a:t>
            </a:r>
          </a:p>
          <a:p>
            <a:pPr marL="293688" lvl="1" indent="-246063"/>
            <a:r>
              <a:rPr lang="en-IN" dirty="0" smtClean="0">
                <a:solidFill>
                  <a:srgbClr val="F00A0F"/>
                </a:solidFill>
              </a:rPr>
              <a:t>Store to external entity</a:t>
            </a:r>
          </a:p>
          <a:p>
            <a:pPr marL="293688" lvl="1" indent="-246063"/>
            <a:r>
              <a:rPr lang="en-IN" dirty="0" smtClean="0">
                <a:solidFill>
                  <a:srgbClr val="F00A0F"/>
                </a:solidFill>
              </a:rPr>
              <a:t>Store to store</a:t>
            </a:r>
            <a:endParaRPr lang="en-IN" dirty="0">
              <a:solidFill>
                <a:srgbClr val="F00A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8565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6C6C39-8EB4-4B37-9AF8-31F1D0591F96}" type="slidenum">
              <a:rPr lang="zh-TW" altLang="en-US" smtClean="0"/>
              <a:pPr>
                <a:defRPr/>
              </a:pPr>
              <a:t>24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19200"/>
            <a:ext cx="8001000" cy="54102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609600" y="450075"/>
            <a:ext cx="7391400" cy="9244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accent1"/>
                </a:solidFill>
                <a:latin typeface="Century Gothic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eaLnBrk="1" hangingPunct="1"/>
            <a:r>
              <a:rPr lang="en-US" sz="5000" dirty="0" smtClean="0">
                <a:solidFill>
                  <a:schemeClr val="tx2">
                    <a:lumMod val="75000"/>
                  </a:schemeClr>
                </a:solidFill>
              </a:rPr>
              <a:t>Common errors in DFD</a:t>
            </a:r>
            <a:endParaRPr lang="en-CA" sz="5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S.Sakthybaalan</a:t>
            </a:r>
            <a:endParaRPr lang="zh-TW" altLang="en-US"/>
          </a:p>
        </p:txBody>
      </p:sp>
    </p:spTree>
    <p:extLst>
      <p:ext uri="{BB962C8B-B14F-4D97-AF65-F5344CB8AC3E}">
        <p14:creationId xmlns="" xmlns:p14="http://schemas.microsoft.com/office/powerpoint/2010/main" val="19976618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9CF567-92F2-4868-AE5F-6064AF3DA26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304800" y="2514600"/>
            <a:ext cx="4648200" cy="3886200"/>
          </a:xfrm>
          <a:prstGeom prst="rect">
            <a:avLst/>
          </a:prstGeom>
        </p:spPr>
        <p:txBody>
          <a:bodyPr/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 algn="just">
              <a:buNone/>
            </a:pPr>
            <a:endParaRPr lang="en-US" sz="1600" dirty="0"/>
          </a:p>
          <a:p>
            <a:pPr algn="just"/>
            <a:r>
              <a:rPr lang="en-US" sz="2400" dirty="0" smtClean="0"/>
              <a:t>Miracle (</a:t>
            </a:r>
            <a:r>
              <a:rPr lang="en-US" sz="2400" b="1" dirty="0" smtClean="0"/>
              <a:t>Spontaneous generation)</a:t>
            </a:r>
            <a:endParaRPr lang="en-US" sz="2400" dirty="0" smtClean="0"/>
          </a:p>
          <a:p>
            <a:pPr algn="just">
              <a:buNone/>
            </a:pPr>
            <a:endParaRPr lang="en-US" sz="2400" dirty="0"/>
          </a:p>
          <a:p>
            <a:pPr algn="just"/>
            <a:r>
              <a:rPr lang="en-US" sz="2400" dirty="0" smtClean="0"/>
              <a:t>Black Hole</a:t>
            </a:r>
          </a:p>
          <a:p>
            <a:pPr algn="just">
              <a:buNone/>
            </a:pPr>
            <a:endParaRPr lang="en-US" sz="2400" dirty="0"/>
          </a:p>
          <a:p>
            <a:pPr algn="just"/>
            <a:r>
              <a:rPr lang="en-US" sz="2400" dirty="0" smtClean="0"/>
              <a:t>Gray Hole</a:t>
            </a:r>
          </a:p>
          <a:p>
            <a:pPr algn="just"/>
            <a:endParaRPr lang="en-US" sz="2400" dirty="0" smtClean="0"/>
          </a:p>
          <a:p>
            <a:pPr marL="82296" indent="0" algn="just"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82296" indent="0" algn="just">
              <a:buNone/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82296" indent="0" algn="just"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82296" indent="0" algn="just">
              <a:buNone/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82296" indent="0" algn="just">
              <a:buNone/>
            </a:pPr>
            <a:endParaRPr lang="en-US" sz="2400" dirty="0" smtClean="0"/>
          </a:p>
          <a:p>
            <a:pPr marL="82296" indent="0" algn="just">
              <a:buNone/>
            </a:pPr>
            <a:endParaRPr lang="en-US" sz="2400" dirty="0"/>
          </a:p>
          <a:p>
            <a:pPr marL="82296" indent="0" algn="just">
              <a:buNone/>
            </a:pPr>
            <a:endParaRPr lang="en-US" sz="2400" dirty="0" smtClean="0"/>
          </a:p>
          <a:p>
            <a:pPr marL="82296" indent="0" algn="just"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82296" indent="0" algn="just">
              <a:buNone/>
            </a:pPr>
            <a:endParaRPr lang="en-US" sz="2400" b="1" dirty="0" smtClean="0">
              <a:solidFill>
                <a:srgbClr val="FF0000"/>
              </a:solidFill>
            </a:endParaRPr>
          </a:p>
          <a:p>
            <a:pPr marL="82296" indent="0" algn="just">
              <a:buNone/>
            </a:pP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8" name="Object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05400" y="2438401"/>
            <a:ext cx="1908175" cy="1447800"/>
          </a:xfrm>
          <a:prstGeom prst="rect">
            <a:avLst/>
          </a:prstGeom>
          <a:noFill/>
        </p:spPr>
      </p:pic>
      <p:pic>
        <p:nvPicPr>
          <p:cNvPr id="11" name="Object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81800" y="2819400"/>
            <a:ext cx="2016125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Object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29400" y="3657600"/>
            <a:ext cx="1908175" cy="1295400"/>
          </a:xfrm>
          <a:prstGeom prst="rect">
            <a:avLst/>
          </a:prstGeom>
          <a:noFill/>
        </p:spPr>
      </p:pic>
      <p:pic>
        <p:nvPicPr>
          <p:cNvPr id="13" name="Object 2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49788" y="4233862"/>
            <a:ext cx="2576512" cy="386896"/>
          </a:xfrm>
          <a:prstGeom prst="rect">
            <a:avLst/>
          </a:prstGeom>
          <a:noFill/>
        </p:spPr>
      </p:pic>
      <p:pic>
        <p:nvPicPr>
          <p:cNvPr id="15" name="Object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76800" y="4949825"/>
            <a:ext cx="1908175" cy="1908175"/>
          </a:xfrm>
          <a:prstGeom prst="rect">
            <a:avLst/>
          </a:prstGeom>
          <a:noFill/>
        </p:spPr>
      </p:pic>
      <p:pic>
        <p:nvPicPr>
          <p:cNvPr id="17" name="Object 2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69075" y="5597525"/>
            <a:ext cx="2016125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Line 4"/>
          <p:cNvSpPr>
            <a:spLocks noChangeShapeType="1"/>
          </p:cNvSpPr>
          <p:nvPr/>
        </p:nvSpPr>
        <p:spPr bwMode="auto">
          <a:xfrm>
            <a:off x="3276600" y="5943600"/>
            <a:ext cx="1828800" cy="0"/>
          </a:xfrm>
          <a:prstGeom prst="line">
            <a:avLst/>
          </a:prstGeom>
          <a:ln>
            <a:headEnd/>
            <a:tailEnd type="stealth" w="lg" len="lg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IN"/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3200400" y="5562600"/>
            <a:ext cx="16433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 dirty="0" smtClean="0">
                <a:solidFill>
                  <a:srgbClr val="002060"/>
                </a:solidFill>
                <a:latin typeface="Verdana" pitchFamily="34" charset="0"/>
              </a:rPr>
              <a:t>Student name</a:t>
            </a:r>
            <a:endParaRPr lang="en-US" sz="2000" dirty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" y="838200"/>
            <a:ext cx="7010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2296"/>
            <a:r>
              <a:rPr lang="en-US" sz="4400" dirty="0" smtClean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Three INCORRECT Data Flow</a:t>
            </a:r>
          </a:p>
        </p:txBody>
      </p:sp>
    </p:spTree>
    <p:extLst>
      <p:ext uri="{BB962C8B-B14F-4D97-AF65-F5344CB8AC3E}">
        <p14:creationId xmlns:p14="http://schemas.microsoft.com/office/powerpoint/2010/main" xmlns="" val="59826732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Good Style in Drawing DFD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191000"/>
          </a:xfrm>
        </p:spPr>
        <p:txBody>
          <a:bodyPr/>
          <a:lstStyle/>
          <a:p>
            <a:r>
              <a:rPr lang="en-IN" dirty="0" smtClean="0"/>
              <a:t>Use meaningful names for data flows, processes and data stores.</a:t>
            </a:r>
          </a:p>
          <a:p>
            <a:r>
              <a:rPr lang="en-IN" dirty="0" smtClean="0"/>
              <a:t>Use top down development starting from context diagram and successively levelling DFD</a:t>
            </a:r>
          </a:p>
          <a:p>
            <a:r>
              <a:rPr lang="en-IN" dirty="0" smtClean="0"/>
              <a:t>Only previously stored data can be read</a:t>
            </a:r>
          </a:p>
          <a:p>
            <a:r>
              <a:rPr lang="en-IN" dirty="0" smtClean="0"/>
              <a:t>A process can only transfer input to output. It cannot create new data</a:t>
            </a:r>
          </a:p>
          <a:p>
            <a:r>
              <a:rPr lang="en-IN" dirty="0" smtClean="0"/>
              <a:t>Data stores cannot create new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8552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Creating DFDs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191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 smtClean="0"/>
              <a:t>Create a preliminary Context Diagram.</a:t>
            </a:r>
          </a:p>
          <a:p>
            <a:pPr>
              <a:defRPr/>
            </a:pPr>
            <a:r>
              <a:rPr lang="en-US" sz="2400" dirty="0" smtClean="0"/>
              <a:t>Identify Use Cases, i.e. the ways in which users most commonly use the system.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 smtClean="0"/>
              <a:t>Create DFD fragments for each use case.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 smtClean="0"/>
              <a:t>Create a Level </a:t>
            </a:r>
            <a:r>
              <a:rPr lang="en-US" sz="2400" dirty="0" smtClean="0">
                <a:latin typeface="+mj-lt"/>
              </a:rPr>
              <a:t>0</a:t>
            </a:r>
            <a:r>
              <a:rPr lang="en-US" sz="2400" dirty="0" smtClean="0"/>
              <a:t> diagram from fragments.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 smtClean="0"/>
              <a:t>Decompose to Level 1,2,…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 smtClean="0"/>
              <a:t>Validate DFDs with users.</a:t>
            </a:r>
          </a:p>
          <a:p>
            <a:pPr marL="685800" indent="-68580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sz="2000" dirty="0" smtClean="0"/>
          </a:p>
          <a:p>
            <a:pPr marL="685800" indent="-68580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sz="2000" dirty="0" smtClean="0"/>
          </a:p>
          <a:p>
            <a:pPr marL="685800" indent="-685800" eaLnBrk="1" fontAlgn="auto" hangingPunct="1">
              <a:lnSpc>
                <a:spcPct val="90000"/>
              </a:lnSpc>
              <a:spcAft>
                <a:spcPts val="0"/>
              </a:spcAft>
              <a:buClr>
                <a:schemeClr val="accent3"/>
              </a:buClr>
              <a:buFont typeface="Wingdings" pitchFamily="2" charset="2"/>
              <a:buNone/>
              <a:defRPr/>
            </a:pPr>
            <a:endParaRPr lang="en-US" sz="2000" dirty="0" smtClean="0"/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pic>
        <p:nvPicPr>
          <p:cNvPr id="24580" name="Picture 4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86200"/>
            <a:ext cx="3733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Creating the 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5334000" cy="4389437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800" dirty="0" smtClean="0"/>
              <a:t>Draw one process representing the entire system (process </a:t>
            </a:r>
            <a:r>
              <a:rPr lang="en-US" sz="2800" dirty="0" smtClean="0">
                <a:latin typeface="+mj-lt"/>
              </a:rPr>
              <a:t>0</a:t>
            </a:r>
            <a:r>
              <a:rPr lang="en-US" sz="2800" dirty="0" smtClean="0"/>
              <a:t>)</a:t>
            </a:r>
          </a:p>
          <a:p>
            <a:pPr algn="just">
              <a:defRPr/>
            </a:pPr>
            <a:r>
              <a:rPr lang="en-US" sz="2800" dirty="0" smtClean="0"/>
              <a:t>Find all inputs and outputs that come from or go to external entities; draw as data flows.</a:t>
            </a:r>
          </a:p>
          <a:p>
            <a:pPr algn="just">
              <a:defRPr/>
            </a:pPr>
            <a:r>
              <a:rPr lang="en-US" sz="2800" dirty="0" smtClean="0"/>
              <a:t>Draw in external entities as the source or destination of the data flows.</a:t>
            </a:r>
          </a:p>
          <a:p>
            <a:pPr>
              <a:defRPr/>
            </a:pPr>
            <a:endParaRPr lang="en-US" dirty="0"/>
          </a:p>
        </p:txBody>
      </p:sp>
      <p:pic>
        <p:nvPicPr>
          <p:cNvPr id="25604" name="Picture 102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438400"/>
            <a:ext cx="14478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Creating Level 0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4114800" cy="43894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Combine the set of DFD fragments into one diagram.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Generally move from top to bottom, left to right.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smtClean="0"/>
              <a:t>Minimize crossed lines.</a:t>
            </a:r>
          </a:p>
          <a:p>
            <a:pPr eaLnBrk="1" hangingPunct="1"/>
            <a:endParaRPr lang="en-US" smtClean="0"/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362200"/>
            <a:ext cx="2133600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Creating Level 1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Each use case is turned into its own DFD.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Take the steps listed on the use case and depict each as a process on the level </a:t>
            </a:r>
            <a:r>
              <a:rPr lang="en-US" sz="2800" dirty="0" smtClean="0">
                <a:latin typeface="+mj-lt"/>
              </a:rPr>
              <a:t>1</a:t>
            </a:r>
            <a:r>
              <a:rPr lang="en-US" sz="2800" dirty="0" smtClean="0"/>
              <a:t> DFD.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Inputs and outputs listed on use case become data flows on DFD.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Include sources and destinations of data flows to processes and stores within the DFD.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May also include external entities for clarity.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65735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When to stop decomposing </a:t>
            </a:r>
            <a:br>
              <a:rPr lang="en-US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DFDs?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200400"/>
            <a:ext cx="4114800" cy="2819400"/>
          </a:xfrm>
        </p:spPr>
        <p:txBody>
          <a:bodyPr>
            <a:normAutofit fontScale="92500"/>
          </a:bodyPr>
          <a:lstStyle/>
          <a:p>
            <a:pPr marL="274320" lvl="1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en-US" dirty="0" smtClean="0"/>
              <a:t>   </a:t>
            </a:r>
            <a:r>
              <a:rPr lang="en-US" sz="2800" dirty="0" smtClean="0"/>
              <a:t>Ideally, a DFD has at least three levels.</a:t>
            </a:r>
          </a:p>
          <a:p>
            <a:pPr marL="274320" lvl="1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en-US" sz="2800" i="1" dirty="0" smtClean="0"/>
              <a:t>When the system becomes primitive i.e. lowest level is reached and further decomposition is useless.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dirty="0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590800"/>
            <a:ext cx="2438400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Validating DFD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000"/>
            <a:ext cx="4953000" cy="3094037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dirty="0" smtClean="0"/>
              <a:t>Check for </a:t>
            </a:r>
            <a:r>
              <a:rPr lang="en-US" sz="2800" i="1" dirty="0" smtClean="0"/>
              <a:t>syntax errors</a:t>
            </a:r>
            <a:r>
              <a:rPr lang="en-US" sz="2800" dirty="0" smtClean="0"/>
              <a:t> to assure correct DFD structure.</a:t>
            </a:r>
          </a:p>
          <a:p>
            <a:pPr marL="274320" lvl="1" indent="-274320" eaLnBrk="1" fontAlgn="auto" hangingPunct="1"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defRPr/>
            </a:pPr>
            <a:r>
              <a:rPr lang="en-US" sz="2800" dirty="0" smtClean="0"/>
              <a:t>Check for </a:t>
            </a:r>
            <a:r>
              <a:rPr lang="en-US" sz="2800" i="1" dirty="0" smtClean="0"/>
              <a:t>semantics errors </a:t>
            </a:r>
            <a:r>
              <a:rPr lang="en-US" sz="2800" dirty="0" smtClean="0"/>
              <a:t>to assure accuracy of DFD relative to actual/desired system.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38481261"/>
              </p:ext>
            </p:extLst>
          </p:nvPr>
        </p:nvGraphicFramePr>
        <p:xfrm>
          <a:off x="5718175" y="2590800"/>
          <a:ext cx="2359025" cy="2263775"/>
        </p:xfrm>
        <a:graphic>
          <a:graphicData uri="http://schemas.openxmlformats.org/presentationml/2006/ole">
            <p:oleObj spid="_x0000_s1064" name="Clip" r:id="rId3" imgW="2013509" imgH="1930298" progId="">
              <p:embed/>
            </p:oleObj>
          </a:graphicData>
        </a:graphic>
      </p:graphicFrame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8"/>
          <p:cNvGrpSpPr>
            <a:grpSpLocks/>
          </p:cNvGrpSpPr>
          <p:nvPr/>
        </p:nvGrpSpPr>
        <p:grpSpPr bwMode="auto">
          <a:xfrm>
            <a:off x="3962400" y="3429000"/>
            <a:ext cx="990600" cy="1219200"/>
            <a:chOff x="720" y="1536"/>
            <a:chExt cx="816" cy="960"/>
          </a:xfrm>
        </p:grpSpPr>
        <p:sp>
          <p:nvSpPr>
            <p:cNvPr id="3" name="AutoShape 4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Arial Narrow" pitchFamily="34" charset="0"/>
                </a:rPr>
                <a:t>University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Arial Narrow" pitchFamily="34" charset="0"/>
                </a:rPr>
                <a:t>Admission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Arial Narrow" pitchFamily="34" charset="0"/>
                </a:rPr>
                <a:t>System</a:t>
              </a:r>
            </a:p>
          </p:txBody>
        </p:sp>
        <p:sp>
          <p:nvSpPr>
            <p:cNvPr id="4" name="AutoShape 6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 dirty="0">
                  <a:latin typeface="+mj-lt"/>
                </a:rPr>
                <a:t>0</a:t>
              </a:r>
            </a:p>
          </p:txBody>
        </p:sp>
      </p:grpSp>
      <p:sp>
        <p:nvSpPr>
          <p:cNvPr id="6" name="Rectangle 11"/>
          <p:cNvSpPr>
            <a:spLocks noChangeArrowheads="1"/>
          </p:cNvSpPr>
          <p:nvPr/>
        </p:nvSpPr>
        <p:spPr bwMode="auto">
          <a:xfrm rot="5400000">
            <a:off x="1485900" y="3435350"/>
            <a:ext cx="9906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10800000" vert="eaVert" lIns="45720" rIns="4572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rial Narrow" pitchFamily="34" charset="0"/>
              </a:rPr>
              <a:t>Student</a:t>
            </a:r>
          </a:p>
        </p:txBody>
      </p:sp>
      <p:cxnSp>
        <p:nvCxnSpPr>
          <p:cNvPr id="35846" name="AutoShape 16"/>
          <p:cNvCxnSpPr>
            <a:cxnSpLocks noChangeShapeType="1"/>
          </p:cNvCxnSpPr>
          <p:nvPr/>
        </p:nvCxnSpPr>
        <p:spPr bwMode="auto">
          <a:xfrm rot="-5400000">
            <a:off x="3159125" y="2251075"/>
            <a:ext cx="120650" cy="2476500"/>
          </a:xfrm>
          <a:prstGeom prst="curvedConnector3">
            <a:avLst>
              <a:gd name="adj1" fmla="val 28947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847" name="Rectangle 25"/>
          <p:cNvSpPr>
            <a:spLocks noChangeArrowheads="1"/>
          </p:cNvSpPr>
          <p:nvPr/>
        </p:nvSpPr>
        <p:spPr bwMode="auto">
          <a:xfrm>
            <a:off x="2514600" y="3276600"/>
            <a:ext cx="1524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400">
                <a:latin typeface="Arial Narrow" pitchFamily="34" charset="0"/>
              </a:rPr>
              <a:t>Student Information</a:t>
            </a:r>
          </a:p>
        </p:txBody>
      </p:sp>
      <p:cxnSp>
        <p:nvCxnSpPr>
          <p:cNvPr id="35848" name="AutoShape 1"/>
          <p:cNvCxnSpPr>
            <a:cxnSpLocks noChangeShapeType="1"/>
          </p:cNvCxnSpPr>
          <p:nvPr/>
        </p:nvCxnSpPr>
        <p:spPr bwMode="auto">
          <a:xfrm rot="5400000" flipH="1" flipV="1">
            <a:off x="5680075" y="3317875"/>
            <a:ext cx="107950" cy="2552700"/>
          </a:xfrm>
          <a:prstGeom prst="curvedConnector3">
            <a:avLst>
              <a:gd name="adj1" fmla="val -21176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849" name="Rectangle 2"/>
          <p:cNvSpPr>
            <a:spLocks noChangeArrowheads="1"/>
          </p:cNvSpPr>
          <p:nvPr/>
        </p:nvSpPr>
        <p:spPr bwMode="auto">
          <a:xfrm>
            <a:off x="5029200" y="4629150"/>
            <a:ext cx="1524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400">
                <a:latin typeface="Arial Narrow" pitchFamily="34" charset="0"/>
              </a:rPr>
              <a:t>Report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 rot="5400000">
            <a:off x="6515100" y="3435350"/>
            <a:ext cx="9906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10800000" vert="eaVert" lIns="45720" rIns="4572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latin typeface="Arial Narrow" pitchFamily="34" charset="0"/>
              </a:rPr>
              <a:t>Staff</a:t>
            </a:r>
          </a:p>
        </p:txBody>
      </p:sp>
      <p:cxnSp>
        <p:nvCxnSpPr>
          <p:cNvPr id="35853" name="AutoShape 4"/>
          <p:cNvCxnSpPr>
            <a:cxnSpLocks noChangeShapeType="1"/>
          </p:cNvCxnSpPr>
          <p:nvPr/>
        </p:nvCxnSpPr>
        <p:spPr bwMode="auto">
          <a:xfrm rot="16200000" flipV="1">
            <a:off x="3165475" y="3355975"/>
            <a:ext cx="107950" cy="2476500"/>
          </a:xfrm>
          <a:prstGeom prst="curvedConnector3">
            <a:avLst>
              <a:gd name="adj1" fmla="val -21176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854" name="Rectangle 5"/>
          <p:cNvSpPr>
            <a:spLocks noChangeArrowheads="1"/>
          </p:cNvSpPr>
          <p:nvPr/>
        </p:nvSpPr>
        <p:spPr bwMode="auto">
          <a:xfrm>
            <a:off x="2606675" y="4619625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400">
                <a:latin typeface="Arial Narrow" pitchFamily="34" charset="0"/>
              </a:rPr>
              <a:t>Admission  Approval</a:t>
            </a:r>
          </a:p>
          <a:p>
            <a:pPr algn="ctr"/>
            <a:r>
              <a:rPr lang="en-US" sz="1400">
                <a:latin typeface="Arial Narrow" pitchFamily="34" charset="0"/>
              </a:rPr>
              <a:t>or Rejection</a:t>
            </a:r>
          </a:p>
        </p:txBody>
      </p:sp>
      <p:cxnSp>
        <p:nvCxnSpPr>
          <p:cNvPr id="35855" name="AutoShape 6"/>
          <p:cNvCxnSpPr>
            <a:cxnSpLocks noChangeShapeType="1"/>
          </p:cNvCxnSpPr>
          <p:nvPr/>
        </p:nvCxnSpPr>
        <p:spPr bwMode="auto">
          <a:xfrm rot="5400000" flipH="1">
            <a:off x="5673725" y="2212975"/>
            <a:ext cx="120650" cy="2552700"/>
          </a:xfrm>
          <a:prstGeom prst="curvedConnector3">
            <a:avLst>
              <a:gd name="adj1" fmla="val 28947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5856" name="Rectangle 7"/>
          <p:cNvSpPr>
            <a:spLocks noChangeArrowheads="1"/>
          </p:cNvSpPr>
          <p:nvPr/>
        </p:nvSpPr>
        <p:spPr bwMode="auto">
          <a:xfrm>
            <a:off x="5029200" y="316865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400">
                <a:latin typeface="Arial Narrow" pitchFamily="34" charset="0"/>
              </a:rPr>
              <a:t>Report Request</a:t>
            </a:r>
          </a:p>
        </p:txBody>
      </p:sp>
      <p:sp>
        <p:nvSpPr>
          <p:cNvPr id="35857" name="Rectangle 15"/>
          <p:cNvSpPr>
            <a:spLocks noChangeArrowheads="1"/>
          </p:cNvSpPr>
          <p:nvPr/>
        </p:nvSpPr>
        <p:spPr bwMode="auto">
          <a:xfrm>
            <a:off x="3506172" y="2362200"/>
            <a:ext cx="20379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itchFamily="18" charset="0"/>
              </a:rPr>
              <a:t>Context Diagram</a:t>
            </a:r>
          </a:p>
        </p:txBody>
      </p:sp>
      <p:sp>
        <p:nvSpPr>
          <p:cNvPr id="35858" name="TextBox 16"/>
          <p:cNvSpPr txBox="1">
            <a:spLocks noChangeArrowheads="1"/>
          </p:cNvSpPr>
          <p:nvPr/>
        </p:nvSpPr>
        <p:spPr bwMode="auto">
          <a:xfrm>
            <a:off x="1030479" y="1447799"/>
            <a:ext cx="685444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nstantia" pitchFamily="18" charset="0"/>
              </a:rPr>
              <a:t>DFD for University Admission System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0"/>
          <p:cNvGrpSpPr>
            <a:grpSpLocks/>
          </p:cNvGrpSpPr>
          <p:nvPr/>
        </p:nvGrpSpPr>
        <p:grpSpPr bwMode="auto">
          <a:xfrm>
            <a:off x="2955925" y="2543175"/>
            <a:ext cx="990600" cy="1219200"/>
            <a:chOff x="720" y="1536"/>
            <a:chExt cx="816" cy="960"/>
          </a:xfrm>
        </p:grpSpPr>
        <p:sp>
          <p:nvSpPr>
            <p:cNvPr id="3" name="AutoShape 1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Perform Intake Procedure</a:t>
              </a:r>
            </a:p>
          </p:txBody>
        </p:sp>
        <p:sp>
          <p:nvSpPr>
            <p:cNvPr id="4" name="AutoShape 2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+mj-lt"/>
                </a:rPr>
                <a:t>1</a:t>
              </a:r>
            </a:p>
          </p:txBody>
        </p:sp>
        <p:sp>
          <p:nvSpPr>
            <p:cNvPr id="36934" name="Line 3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6" name="Rectangle 4"/>
          <p:cNvSpPr>
            <a:spLocks noChangeArrowheads="1"/>
          </p:cNvSpPr>
          <p:nvPr/>
        </p:nvSpPr>
        <p:spPr bwMode="auto">
          <a:xfrm rot="5400000">
            <a:off x="647700" y="2536825"/>
            <a:ext cx="9906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10800000" vert="eaVert" lIns="45720" rIns="4572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atin typeface="Arial Narrow" pitchFamily="34" charset="0"/>
              </a:rPr>
              <a:t>Student</a:t>
            </a:r>
          </a:p>
        </p:txBody>
      </p:sp>
      <p:cxnSp>
        <p:nvCxnSpPr>
          <p:cNvPr id="36870" name="AutoShape 5"/>
          <p:cNvCxnSpPr>
            <a:cxnSpLocks noChangeShapeType="1"/>
          </p:cNvCxnSpPr>
          <p:nvPr/>
        </p:nvCxnSpPr>
        <p:spPr bwMode="auto">
          <a:xfrm rot="-5400000">
            <a:off x="2243138" y="1443037"/>
            <a:ext cx="107950" cy="2308225"/>
          </a:xfrm>
          <a:prstGeom prst="curvedConnector3">
            <a:avLst>
              <a:gd name="adj1" fmla="val 31176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71" name="Rectangle 6"/>
          <p:cNvSpPr>
            <a:spLocks noChangeArrowheads="1"/>
          </p:cNvSpPr>
          <p:nvPr/>
        </p:nvSpPr>
        <p:spPr bwMode="auto">
          <a:xfrm>
            <a:off x="1905000" y="2133600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Student</a:t>
            </a:r>
          </a:p>
          <a:p>
            <a:pPr algn="ctr"/>
            <a:r>
              <a:rPr lang="en-US" sz="1200">
                <a:latin typeface="Arial Narrow" pitchFamily="34" charset="0"/>
              </a:rPr>
              <a:t>Information</a:t>
            </a:r>
          </a:p>
        </p:txBody>
      </p:sp>
      <p:cxnSp>
        <p:nvCxnSpPr>
          <p:cNvPr id="36872" name="AutoShape 7"/>
          <p:cNvCxnSpPr>
            <a:cxnSpLocks noChangeShapeType="1"/>
          </p:cNvCxnSpPr>
          <p:nvPr/>
        </p:nvCxnSpPr>
        <p:spPr bwMode="auto">
          <a:xfrm rot="5400000" flipH="1" flipV="1">
            <a:off x="6849269" y="2971006"/>
            <a:ext cx="103188" cy="1463675"/>
          </a:xfrm>
          <a:prstGeom prst="curvedConnector3">
            <a:avLst>
              <a:gd name="adj1" fmla="val -221537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73" name="Rectangle 8"/>
          <p:cNvSpPr>
            <a:spLocks noChangeArrowheads="1"/>
          </p:cNvSpPr>
          <p:nvPr/>
        </p:nvSpPr>
        <p:spPr bwMode="auto">
          <a:xfrm>
            <a:off x="6477000" y="3717925"/>
            <a:ext cx="762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Report</a:t>
            </a:r>
          </a:p>
        </p:txBody>
      </p:sp>
      <p:cxnSp>
        <p:nvCxnSpPr>
          <p:cNvPr id="36874" name="AutoShape 10"/>
          <p:cNvCxnSpPr>
            <a:cxnSpLocks noChangeShapeType="1"/>
          </p:cNvCxnSpPr>
          <p:nvPr/>
        </p:nvCxnSpPr>
        <p:spPr bwMode="auto">
          <a:xfrm rot="10800000">
            <a:off x="1752600" y="3146425"/>
            <a:ext cx="1203325" cy="6350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75" name="Rectangle 11"/>
          <p:cNvSpPr>
            <a:spLocks noChangeArrowheads="1"/>
          </p:cNvSpPr>
          <p:nvPr/>
        </p:nvSpPr>
        <p:spPr bwMode="auto">
          <a:xfrm>
            <a:off x="1765300" y="2911475"/>
            <a:ext cx="115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Admission Approval</a:t>
            </a:r>
          </a:p>
          <a:p>
            <a:pPr algn="ctr"/>
            <a:r>
              <a:rPr lang="en-US" sz="1200">
                <a:latin typeface="Arial Narrow" pitchFamily="34" charset="0"/>
              </a:rPr>
              <a:t>or Rejection</a:t>
            </a:r>
          </a:p>
        </p:txBody>
      </p:sp>
      <p:cxnSp>
        <p:nvCxnSpPr>
          <p:cNvPr id="36876" name="AutoShape 12"/>
          <p:cNvCxnSpPr>
            <a:cxnSpLocks noChangeShapeType="1"/>
          </p:cNvCxnSpPr>
          <p:nvPr/>
        </p:nvCxnSpPr>
        <p:spPr bwMode="auto">
          <a:xfrm rot="5400000" flipH="1">
            <a:off x="6896100" y="1628775"/>
            <a:ext cx="114300" cy="1943100"/>
          </a:xfrm>
          <a:prstGeom prst="curvedConnector3">
            <a:avLst>
              <a:gd name="adj1" fmla="val 3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77" name="Rectangle 13"/>
          <p:cNvSpPr>
            <a:spLocks noChangeArrowheads="1"/>
          </p:cNvSpPr>
          <p:nvPr/>
        </p:nvSpPr>
        <p:spPr bwMode="auto">
          <a:xfrm>
            <a:off x="6384925" y="2085975"/>
            <a:ext cx="10509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Report Request</a:t>
            </a:r>
          </a:p>
        </p:txBody>
      </p:sp>
      <p:cxnSp>
        <p:nvCxnSpPr>
          <p:cNvPr id="36878" name="AutoShape 22"/>
          <p:cNvCxnSpPr>
            <a:cxnSpLocks noChangeShapeType="1"/>
            <a:endCxn id="36917" idx="0"/>
          </p:cNvCxnSpPr>
          <p:nvPr/>
        </p:nvCxnSpPr>
        <p:spPr bwMode="auto">
          <a:xfrm rot="5400000">
            <a:off x="2936081" y="4277519"/>
            <a:ext cx="1030288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79" name="Rectangle 23"/>
          <p:cNvSpPr>
            <a:spLocks noChangeArrowheads="1"/>
          </p:cNvSpPr>
          <p:nvPr/>
        </p:nvSpPr>
        <p:spPr bwMode="auto">
          <a:xfrm>
            <a:off x="2743200" y="3838575"/>
            <a:ext cx="6731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Approved</a:t>
            </a:r>
            <a:br>
              <a:rPr lang="en-US" sz="1200">
                <a:latin typeface="Arial Narrow" pitchFamily="34" charset="0"/>
              </a:rPr>
            </a:br>
            <a:r>
              <a:rPr lang="en-US" sz="1200">
                <a:latin typeface="Arial Narrow" pitchFamily="34" charset="0"/>
              </a:rPr>
              <a:t>Application</a:t>
            </a:r>
          </a:p>
        </p:txBody>
      </p:sp>
      <p:cxnSp>
        <p:nvCxnSpPr>
          <p:cNvPr id="36880" name="AutoShape 28"/>
          <p:cNvCxnSpPr>
            <a:cxnSpLocks noChangeShapeType="1"/>
            <a:stCxn id="36917" idx="3"/>
          </p:cNvCxnSpPr>
          <p:nvPr/>
        </p:nvCxnSpPr>
        <p:spPr bwMode="auto">
          <a:xfrm flipV="1">
            <a:off x="3946525" y="4724400"/>
            <a:ext cx="1158875" cy="28257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81" name="Rectangle 29"/>
          <p:cNvSpPr>
            <a:spLocks noChangeArrowheads="1"/>
          </p:cNvSpPr>
          <p:nvPr/>
        </p:nvSpPr>
        <p:spPr bwMode="auto">
          <a:xfrm>
            <a:off x="3917950" y="4632325"/>
            <a:ext cx="7302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Verified</a:t>
            </a:r>
            <a:br>
              <a:rPr lang="en-US" sz="1200">
                <a:latin typeface="Arial Narrow" pitchFamily="34" charset="0"/>
              </a:rPr>
            </a:br>
            <a:r>
              <a:rPr lang="en-US" sz="1200">
                <a:latin typeface="Arial Narrow" pitchFamily="34" charset="0"/>
              </a:rPr>
              <a:t>Approved</a:t>
            </a:r>
            <a:br>
              <a:rPr lang="en-US" sz="1200">
                <a:latin typeface="Arial Narrow" pitchFamily="34" charset="0"/>
              </a:rPr>
            </a:br>
            <a:r>
              <a:rPr lang="en-US" sz="1200">
                <a:latin typeface="Arial Narrow" pitchFamily="34" charset="0"/>
              </a:rPr>
              <a:t>Application</a:t>
            </a:r>
          </a:p>
        </p:txBody>
      </p:sp>
      <p:cxnSp>
        <p:nvCxnSpPr>
          <p:cNvPr id="36882" name="AutoShape 30"/>
          <p:cNvCxnSpPr>
            <a:cxnSpLocks noChangeShapeType="1"/>
          </p:cNvCxnSpPr>
          <p:nvPr/>
        </p:nvCxnSpPr>
        <p:spPr bwMode="auto">
          <a:xfrm rot="10800000" flipV="1">
            <a:off x="5105400" y="3152775"/>
            <a:ext cx="381000" cy="10382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6883" name="AutoShape 31"/>
          <p:cNvCxnSpPr>
            <a:cxnSpLocks noChangeShapeType="1"/>
          </p:cNvCxnSpPr>
          <p:nvPr/>
        </p:nvCxnSpPr>
        <p:spPr bwMode="auto">
          <a:xfrm rot="-5400000">
            <a:off x="5767387" y="3976688"/>
            <a:ext cx="42862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84" name="Rectangle 32"/>
          <p:cNvSpPr>
            <a:spLocks noChangeArrowheads="1"/>
          </p:cNvSpPr>
          <p:nvPr/>
        </p:nvSpPr>
        <p:spPr bwMode="auto">
          <a:xfrm>
            <a:off x="4648200" y="3352800"/>
            <a:ext cx="6254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Data</a:t>
            </a:r>
          </a:p>
          <a:p>
            <a:pPr algn="ctr"/>
            <a:r>
              <a:rPr lang="en-US" sz="1200">
                <a:latin typeface="Arial Narrow" pitchFamily="34" charset="0"/>
              </a:rPr>
              <a:t>Query</a:t>
            </a:r>
          </a:p>
        </p:txBody>
      </p:sp>
      <p:sp>
        <p:nvSpPr>
          <p:cNvPr id="36885" name="Rectangle 33"/>
          <p:cNvSpPr>
            <a:spLocks noChangeArrowheads="1"/>
          </p:cNvSpPr>
          <p:nvPr/>
        </p:nvSpPr>
        <p:spPr bwMode="auto">
          <a:xfrm>
            <a:off x="5486400" y="3886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Data</a:t>
            </a:r>
          </a:p>
        </p:txBody>
      </p:sp>
      <p:cxnSp>
        <p:nvCxnSpPr>
          <p:cNvPr id="36886" name="AutoShape 38"/>
          <p:cNvCxnSpPr>
            <a:cxnSpLocks noChangeShapeType="1"/>
          </p:cNvCxnSpPr>
          <p:nvPr/>
        </p:nvCxnSpPr>
        <p:spPr bwMode="auto">
          <a:xfrm rot="5400000">
            <a:off x="4859337" y="2725738"/>
            <a:ext cx="2143125" cy="39878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87" name="Rectangle 39"/>
          <p:cNvSpPr>
            <a:spLocks noChangeArrowheads="1"/>
          </p:cNvSpPr>
          <p:nvPr/>
        </p:nvSpPr>
        <p:spPr bwMode="auto">
          <a:xfrm>
            <a:off x="3886200" y="57150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Request for Student Information Maintenance</a:t>
            </a:r>
          </a:p>
        </p:txBody>
      </p:sp>
      <p:cxnSp>
        <p:nvCxnSpPr>
          <p:cNvPr id="36888" name="AutoShape 40"/>
          <p:cNvCxnSpPr>
            <a:cxnSpLocks noChangeShapeType="1"/>
          </p:cNvCxnSpPr>
          <p:nvPr/>
        </p:nvCxnSpPr>
        <p:spPr bwMode="auto">
          <a:xfrm flipV="1">
            <a:off x="3946525" y="4724400"/>
            <a:ext cx="2035175" cy="67786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89" name="Rectangle 41"/>
          <p:cNvSpPr>
            <a:spLocks noChangeArrowheads="1"/>
          </p:cNvSpPr>
          <p:nvPr/>
        </p:nvSpPr>
        <p:spPr bwMode="auto">
          <a:xfrm>
            <a:off x="3870325" y="5349875"/>
            <a:ext cx="138747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Other Student Data</a:t>
            </a:r>
          </a:p>
        </p:txBody>
      </p:sp>
      <p:cxnSp>
        <p:nvCxnSpPr>
          <p:cNvPr id="36890" name="AutoShape 42"/>
          <p:cNvCxnSpPr>
            <a:cxnSpLocks noChangeShapeType="1"/>
            <a:stCxn id="36924" idx="3"/>
          </p:cNvCxnSpPr>
          <p:nvPr/>
        </p:nvCxnSpPr>
        <p:spPr bwMode="auto">
          <a:xfrm>
            <a:off x="6477000" y="2757488"/>
            <a:ext cx="838200" cy="395287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91" name="Rectangle 43"/>
          <p:cNvSpPr>
            <a:spLocks noChangeArrowheads="1"/>
          </p:cNvSpPr>
          <p:nvPr/>
        </p:nvSpPr>
        <p:spPr bwMode="auto">
          <a:xfrm>
            <a:off x="6537325" y="254317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Data Item Prompt</a:t>
            </a:r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auto">
          <a:xfrm rot="5400000">
            <a:off x="7429500" y="2543175"/>
            <a:ext cx="9906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10800000" vert="eaVert" lIns="45720" rIns="4572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atin typeface="Arial Narrow" pitchFamily="34" charset="0"/>
              </a:rPr>
              <a:t>Staff</a:t>
            </a:r>
          </a:p>
        </p:txBody>
      </p:sp>
      <p:cxnSp>
        <p:nvCxnSpPr>
          <p:cNvPr id="36893" name="AutoShape 46"/>
          <p:cNvCxnSpPr>
            <a:cxnSpLocks noChangeShapeType="1"/>
          </p:cNvCxnSpPr>
          <p:nvPr/>
        </p:nvCxnSpPr>
        <p:spPr bwMode="auto">
          <a:xfrm rot="10800000">
            <a:off x="6477000" y="3152775"/>
            <a:ext cx="850900" cy="2698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94" name="Rectangle 47"/>
          <p:cNvSpPr>
            <a:spLocks noChangeArrowheads="1"/>
          </p:cNvSpPr>
          <p:nvPr/>
        </p:nvSpPr>
        <p:spPr bwMode="auto">
          <a:xfrm>
            <a:off x="6442075" y="31527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Data Items</a:t>
            </a:r>
          </a:p>
        </p:txBody>
      </p:sp>
      <p:grpSp>
        <p:nvGrpSpPr>
          <p:cNvPr id="36919" name="Group 18"/>
          <p:cNvGrpSpPr>
            <a:grpSpLocks/>
          </p:cNvGrpSpPr>
          <p:nvPr/>
        </p:nvGrpSpPr>
        <p:grpSpPr bwMode="auto">
          <a:xfrm>
            <a:off x="5486400" y="2543175"/>
            <a:ext cx="990600" cy="1219200"/>
            <a:chOff x="720" y="1536"/>
            <a:chExt cx="816" cy="960"/>
          </a:xfrm>
        </p:grpSpPr>
        <p:sp>
          <p:nvSpPr>
            <p:cNvPr id="37" name="AutoShape 19">
              <a:hlinkClick r:id="rId3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Generate Reports</a:t>
              </a:r>
            </a:p>
          </p:txBody>
        </p:sp>
        <p:sp>
          <p:nvSpPr>
            <p:cNvPr id="36924" name="AutoShape 20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3</a:t>
              </a:r>
            </a:p>
          </p:txBody>
        </p:sp>
        <p:sp>
          <p:nvSpPr>
            <p:cNvPr id="36925" name="Line 21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grpSp>
        <p:nvGrpSpPr>
          <p:cNvPr id="36912" name="Group 14"/>
          <p:cNvGrpSpPr>
            <a:grpSpLocks/>
          </p:cNvGrpSpPr>
          <p:nvPr/>
        </p:nvGrpSpPr>
        <p:grpSpPr bwMode="auto">
          <a:xfrm>
            <a:off x="2955925" y="4792665"/>
            <a:ext cx="990600" cy="1219200"/>
            <a:chOff x="720" y="1536"/>
            <a:chExt cx="816" cy="960"/>
          </a:xfrm>
        </p:grpSpPr>
        <p:sp>
          <p:nvSpPr>
            <p:cNvPr id="43" name="AutoShape 15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Maintain Student Information</a:t>
              </a:r>
            </a:p>
          </p:txBody>
        </p:sp>
        <p:sp>
          <p:nvSpPr>
            <p:cNvPr id="36917" name="AutoShape 16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2</a:t>
              </a:r>
            </a:p>
          </p:txBody>
        </p:sp>
        <p:sp>
          <p:nvSpPr>
            <p:cNvPr id="36918" name="Line 17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cxnSp>
        <p:nvCxnSpPr>
          <p:cNvPr id="36897" name="AutoShape 0"/>
          <p:cNvCxnSpPr>
            <a:cxnSpLocks noChangeShapeType="1"/>
            <a:stCxn id="4" idx="3"/>
          </p:cNvCxnSpPr>
          <p:nvPr/>
        </p:nvCxnSpPr>
        <p:spPr bwMode="auto">
          <a:xfrm>
            <a:off x="3946525" y="2757488"/>
            <a:ext cx="930275" cy="170021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6898" name="Rectangle 1"/>
          <p:cNvSpPr>
            <a:spLocks noChangeArrowheads="1"/>
          </p:cNvSpPr>
          <p:nvPr/>
        </p:nvSpPr>
        <p:spPr bwMode="auto">
          <a:xfrm>
            <a:off x="3870325" y="2378075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Student</a:t>
            </a:r>
          </a:p>
          <a:p>
            <a:pPr algn="ctr"/>
            <a:r>
              <a:rPr lang="en-US" sz="1200">
                <a:latin typeface="Arial Narrow" pitchFamily="34" charset="0"/>
              </a:rPr>
              <a:t>Name &amp; ID</a:t>
            </a:r>
          </a:p>
        </p:txBody>
      </p:sp>
      <p:cxnSp>
        <p:nvCxnSpPr>
          <p:cNvPr id="36899" name="AutoShape 2"/>
          <p:cNvCxnSpPr>
            <a:cxnSpLocks noChangeShapeType="1"/>
          </p:cNvCxnSpPr>
          <p:nvPr/>
        </p:nvCxnSpPr>
        <p:spPr bwMode="auto">
          <a:xfrm rot="10800000">
            <a:off x="3946525" y="3152775"/>
            <a:ext cx="930275" cy="1495425"/>
          </a:xfrm>
          <a:prstGeom prst="curvedConnector3">
            <a:avLst>
              <a:gd name="adj1" fmla="val 6331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6900" name="Group 24"/>
          <p:cNvGrpSpPr>
            <a:grpSpLocks/>
          </p:cNvGrpSpPr>
          <p:nvPr/>
        </p:nvGrpSpPr>
        <p:grpSpPr bwMode="auto">
          <a:xfrm>
            <a:off x="4876800" y="4191000"/>
            <a:ext cx="1752600" cy="533400"/>
            <a:chOff x="432" y="2592"/>
            <a:chExt cx="1104" cy="336"/>
          </a:xfrm>
        </p:grpSpPr>
        <p:sp>
          <p:nvSpPr>
            <p:cNvPr id="53" name="Rectangle 25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2592"/>
              <a:ext cx="816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rIns="4572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Student Data</a:t>
              </a:r>
            </a:p>
          </p:txBody>
        </p:sp>
        <p:sp>
          <p:nvSpPr>
            <p:cNvPr id="54" name="Rectangle 26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32" y="2592"/>
              <a:ext cx="28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D1</a:t>
              </a: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>
              <a:off x="1446" y="2592"/>
              <a:ext cx="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6901" name="Rectangle 5"/>
          <p:cNvSpPr>
            <a:spLocks noChangeArrowheads="1"/>
          </p:cNvSpPr>
          <p:nvPr/>
        </p:nvSpPr>
        <p:spPr bwMode="auto">
          <a:xfrm>
            <a:off x="3724275" y="3702050"/>
            <a:ext cx="69532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Prior Application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43208" y="1219200"/>
            <a:ext cx="928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Level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4"/>
          <p:cNvGrpSpPr>
            <a:grpSpLocks/>
          </p:cNvGrpSpPr>
          <p:nvPr/>
        </p:nvGrpSpPr>
        <p:grpSpPr bwMode="auto">
          <a:xfrm>
            <a:off x="3244850" y="2514600"/>
            <a:ext cx="990600" cy="1219200"/>
            <a:chOff x="720" y="1536"/>
            <a:chExt cx="816" cy="960"/>
          </a:xfrm>
        </p:grpSpPr>
        <p:sp>
          <p:nvSpPr>
            <p:cNvPr id="39" name="AutoShape 5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Receive Admission Application</a:t>
              </a:r>
            </a:p>
          </p:txBody>
        </p:sp>
        <p:sp>
          <p:nvSpPr>
            <p:cNvPr id="37938" name="AutoShape 6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1.1</a:t>
              </a:r>
            </a:p>
          </p:txBody>
        </p:sp>
        <p:sp>
          <p:nvSpPr>
            <p:cNvPr id="37939" name="Line 7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42" name="Rectangle 8"/>
          <p:cNvSpPr>
            <a:spLocks noChangeArrowheads="1"/>
          </p:cNvSpPr>
          <p:nvPr/>
        </p:nvSpPr>
        <p:spPr bwMode="auto">
          <a:xfrm rot="5400000">
            <a:off x="1546225" y="2400300"/>
            <a:ext cx="9906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10800000" vert="eaVert" lIns="45720" rIns="4572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latin typeface="Arial Narrow" pitchFamily="34" charset="0"/>
              </a:rPr>
              <a:t>Student</a:t>
            </a:r>
          </a:p>
        </p:txBody>
      </p:sp>
      <p:cxnSp>
        <p:nvCxnSpPr>
          <p:cNvPr id="37894" name="AutoShape 9"/>
          <p:cNvCxnSpPr>
            <a:cxnSpLocks noChangeShapeType="1"/>
          </p:cNvCxnSpPr>
          <p:nvPr/>
        </p:nvCxnSpPr>
        <p:spPr bwMode="auto">
          <a:xfrm rot="5400000" flipV="1">
            <a:off x="2890044" y="1666081"/>
            <a:ext cx="1588" cy="1698625"/>
          </a:xfrm>
          <a:prstGeom prst="curvedConnector3">
            <a:avLst>
              <a:gd name="adj1" fmla="val -144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895" name="Rectangle 10"/>
          <p:cNvSpPr>
            <a:spLocks noChangeArrowheads="1"/>
          </p:cNvSpPr>
          <p:nvPr/>
        </p:nvSpPr>
        <p:spPr bwMode="auto">
          <a:xfrm>
            <a:off x="2498725" y="2105025"/>
            <a:ext cx="838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Student</a:t>
            </a:r>
          </a:p>
          <a:p>
            <a:pPr algn="ctr"/>
            <a:r>
              <a:rPr lang="en-US" sz="1200">
                <a:latin typeface="Arial Narrow" pitchFamily="34" charset="0"/>
              </a:rPr>
              <a:t>Information</a:t>
            </a:r>
          </a:p>
        </p:txBody>
      </p:sp>
      <p:cxnSp>
        <p:nvCxnSpPr>
          <p:cNvPr id="37896" name="AutoShape 14"/>
          <p:cNvCxnSpPr>
            <a:cxnSpLocks noChangeShapeType="1"/>
          </p:cNvCxnSpPr>
          <p:nvPr/>
        </p:nvCxnSpPr>
        <p:spPr bwMode="auto">
          <a:xfrm rot="10800000">
            <a:off x="2041525" y="3505200"/>
            <a:ext cx="3200400" cy="21336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897" name="Rectangle 15"/>
          <p:cNvSpPr>
            <a:spLocks noChangeArrowheads="1"/>
          </p:cNvSpPr>
          <p:nvPr/>
        </p:nvSpPr>
        <p:spPr bwMode="auto">
          <a:xfrm>
            <a:off x="2346325" y="5149850"/>
            <a:ext cx="100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Application Approval</a:t>
            </a:r>
          </a:p>
          <a:p>
            <a:pPr algn="ctr"/>
            <a:r>
              <a:rPr lang="en-US" sz="1200">
                <a:latin typeface="Arial Narrow" pitchFamily="34" charset="0"/>
              </a:rPr>
              <a:t>or Rejection</a:t>
            </a:r>
          </a:p>
        </p:txBody>
      </p:sp>
      <p:grpSp>
        <p:nvGrpSpPr>
          <p:cNvPr id="37898" name="Group 18"/>
          <p:cNvGrpSpPr>
            <a:grpSpLocks/>
          </p:cNvGrpSpPr>
          <p:nvPr/>
        </p:nvGrpSpPr>
        <p:grpSpPr bwMode="auto">
          <a:xfrm>
            <a:off x="6613525" y="2514600"/>
            <a:ext cx="990600" cy="1219200"/>
            <a:chOff x="720" y="1536"/>
            <a:chExt cx="816" cy="960"/>
          </a:xfrm>
        </p:grpSpPr>
        <p:sp>
          <p:nvSpPr>
            <p:cNvPr id="48" name="AutoShape 19">
              <a:hlinkClick r:id="rId3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Verify Admission Application</a:t>
              </a:r>
            </a:p>
          </p:txBody>
        </p:sp>
        <p:sp>
          <p:nvSpPr>
            <p:cNvPr id="37933" name="AutoShape 20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1.2</a:t>
              </a:r>
            </a:p>
          </p:txBody>
        </p:sp>
        <p:sp>
          <p:nvSpPr>
            <p:cNvPr id="37934" name="Line 21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grpSp>
        <p:nvGrpSpPr>
          <p:cNvPr id="37899" name="Group 22"/>
          <p:cNvGrpSpPr>
            <a:grpSpLocks/>
          </p:cNvGrpSpPr>
          <p:nvPr/>
        </p:nvGrpSpPr>
        <p:grpSpPr bwMode="auto">
          <a:xfrm>
            <a:off x="5241925" y="5029200"/>
            <a:ext cx="990600" cy="1219200"/>
            <a:chOff x="720" y="1536"/>
            <a:chExt cx="816" cy="960"/>
          </a:xfrm>
        </p:grpSpPr>
        <p:sp>
          <p:nvSpPr>
            <p:cNvPr id="52" name="AutoShape 23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Review Admission Application</a:t>
              </a:r>
            </a:p>
          </p:txBody>
        </p:sp>
        <p:sp>
          <p:nvSpPr>
            <p:cNvPr id="37928" name="AutoShape 24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1.3</a:t>
              </a:r>
            </a:p>
          </p:txBody>
        </p:sp>
        <p:sp>
          <p:nvSpPr>
            <p:cNvPr id="37929" name="Line 25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cxnSp>
        <p:nvCxnSpPr>
          <p:cNvPr id="37900" name="AutoShape 26"/>
          <p:cNvCxnSpPr>
            <a:cxnSpLocks noChangeShapeType="1"/>
            <a:stCxn id="37938" idx="3"/>
            <a:endCxn id="37933" idx="1"/>
          </p:cNvCxnSpPr>
          <p:nvPr/>
        </p:nvCxnSpPr>
        <p:spPr bwMode="auto">
          <a:xfrm>
            <a:off x="4235450" y="2728913"/>
            <a:ext cx="23780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901" name="Rectangle 27"/>
          <p:cNvSpPr>
            <a:spLocks noChangeArrowheads="1"/>
          </p:cNvSpPr>
          <p:nvPr/>
        </p:nvSpPr>
        <p:spPr bwMode="auto">
          <a:xfrm>
            <a:off x="4708525" y="2470150"/>
            <a:ext cx="1371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Admission Application</a:t>
            </a:r>
          </a:p>
        </p:txBody>
      </p:sp>
      <p:grpSp>
        <p:nvGrpSpPr>
          <p:cNvPr id="37902" name="Group 28"/>
          <p:cNvGrpSpPr>
            <a:grpSpLocks/>
          </p:cNvGrpSpPr>
          <p:nvPr/>
        </p:nvGrpSpPr>
        <p:grpSpPr bwMode="auto">
          <a:xfrm>
            <a:off x="4632325" y="3886200"/>
            <a:ext cx="1752600" cy="533400"/>
            <a:chOff x="432" y="2592"/>
            <a:chExt cx="1104" cy="336"/>
          </a:xfrm>
        </p:grpSpPr>
        <p:sp>
          <p:nvSpPr>
            <p:cNvPr id="58" name="Rectangle 29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2592"/>
              <a:ext cx="816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rIns="4572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Student Data</a:t>
              </a:r>
            </a:p>
          </p:txBody>
        </p:sp>
        <p:sp>
          <p:nvSpPr>
            <p:cNvPr id="59" name="Rectangle 30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32" y="2592"/>
              <a:ext cx="28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latin typeface="Arial Narrow" pitchFamily="34" charset="0"/>
                </a:rPr>
                <a:t>D1</a:t>
              </a:r>
            </a:p>
          </p:txBody>
        </p:sp>
        <p:sp>
          <p:nvSpPr>
            <p:cNvPr id="60" name="Line 31"/>
            <p:cNvSpPr>
              <a:spLocks noChangeShapeType="1"/>
            </p:cNvSpPr>
            <p:nvPr/>
          </p:nvSpPr>
          <p:spPr bwMode="auto">
            <a:xfrm>
              <a:off x="1442" y="2592"/>
              <a:ext cx="0" cy="336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cxnSp>
        <p:nvCxnSpPr>
          <p:cNvPr id="37903" name="AutoShape 32"/>
          <p:cNvCxnSpPr>
            <a:cxnSpLocks noChangeShapeType="1"/>
          </p:cNvCxnSpPr>
          <p:nvPr/>
        </p:nvCxnSpPr>
        <p:spPr bwMode="auto">
          <a:xfrm rot="5400000">
            <a:off x="6537325" y="3581400"/>
            <a:ext cx="419100" cy="7239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904" name="Rectangle 33"/>
          <p:cNvSpPr>
            <a:spLocks noChangeArrowheads="1"/>
          </p:cNvSpPr>
          <p:nvPr/>
        </p:nvSpPr>
        <p:spPr bwMode="auto">
          <a:xfrm>
            <a:off x="7010400" y="3686175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Verified</a:t>
            </a:r>
            <a:br>
              <a:rPr lang="en-US" sz="1200">
                <a:latin typeface="Arial Narrow" pitchFamily="34" charset="0"/>
              </a:rPr>
            </a:br>
            <a:r>
              <a:rPr lang="en-US" sz="1200">
                <a:latin typeface="Arial Narrow" pitchFamily="34" charset="0"/>
              </a:rPr>
              <a:t>Admission</a:t>
            </a:r>
            <a:br>
              <a:rPr lang="en-US" sz="1200">
                <a:latin typeface="Arial Narrow" pitchFamily="34" charset="0"/>
              </a:rPr>
            </a:br>
            <a:r>
              <a:rPr lang="en-US" sz="1200">
                <a:latin typeface="Arial Narrow" pitchFamily="34" charset="0"/>
              </a:rPr>
              <a:t>Application</a:t>
            </a:r>
          </a:p>
        </p:txBody>
      </p:sp>
      <p:cxnSp>
        <p:nvCxnSpPr>
          <p:cNvPr id="37905" name="AutoShape 34"/>
          <p:cNvCxnSpPr>
            <a:cxnSpLocks noChangeShapeType="1"/>
            <a:stCxn id="37928" idx="1"/>
          </p:cNvCxnSpPr>
          <p:nvPr/>
        </p:nvCxnSpPr>
        <p:spPr bwMode="auto">
          <a:xfrm rot="10800000">
            <a:off x="4860925" y="4419600"/>
            <a:ext cx="381000" cy="82391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7906" name="AutoShape 35"/>
          <p:cNvCxnSpPr>
            <a:cxnSpLocks noChangeShapeType="1"/>
            <a:endCxn id="37928" idx="0"/>
          </p:cNvCxnSpPr>
          <p:nvPr/>
        </p:nvCxnSpPr>
        <p:spPr bwMode="auto">
          <a:xfrm rot="5400000">
            <a:off x="5432425" y="4724400"/>
            <a:ext cx="6096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907" name="Rectangle 36"/>
          <p:cNvSpPr>
            <a:spLocks noChangeArrowheads="1"/>
          </p:cNvSpPr>
          <p:nvPr/>
        </p:nvSpPr>
        <p:spPr bwMode="auto">
          <a:xfrm>
            <a:off x="4235450" y="4724400"/>
            <a:ext cx="62547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Application</a:t>
            </a:r>
          </a:p>
          <a:p>
            <a:pPr algn="ctr"/>
            <a:r>
              <a:rPr lang="en-US" sz="1200">
                <a:latin typeface="Arial Narrow" pitchFamily="34" charset="0"/>
              </a:rPr>
              <a:t>Request</a:t>
            </a:r>
          </a:p>
        </p:txBody>
      </p:sp>
      <p:sp>
        <p:nvSpPr>
          <p:cNvPr id="37908" name="Rectangle 37"/>
          <p:cNvSpPr>
            <a:spLocks noChangeArrowheads="1"/>
          </p:cNvSpPr>
          <p:nvPr/>
        </p:nvSpPr>
        <p:spPr bwMode="auto">
          <a:xfrm>
            <a:off x="5791200" y="4495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Application Data</a:t>
            </a:r>
          </a:p>
        </p:txBody>
      </p:sp>
      <p:cxnSp>
        <p:nvCxnSpPr>
          <p:cNvPr id="37909" name="AutoShape 38"/>
          <p:cNvCxnSpPr>
            <a:cxnSpLocks noChangeShapeType="1"/>
          </p:cNvCxnSpPr>
          <p:nvPr/>
        </p:nvCxnSpPr>
        <p:spPr bwMode="auto">
          <a:xfrm>
            <a:off x="4235450" y="3124200"/>
            <a:ext cx="625475" cy="7620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7910" name="AutoShape 39"/>
          <p:cNvCxnSpPr>
            <a:cxnSpLocks noChangeShapeType="1"/>
          </p:cNvCxnSpPr>
          <p:nvPr/>
        </p:nvCxnSpPr>
        <p:spPr bwMode="auto">
          <a:xfrm rot="10800000">
            <a:off x="3740150" y="3733800"/>
            <a:ext cx="892175" cy="4191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911" name="Rectangle 0"/>
          <p:cNvSpPr>
            <a:spLocks noChangeArrowheads="1"/>
          </p:cNvSpPr>
          <p:nvPr/>
        </p:nvSpPr>
        <p:spPr bwMode="auto">
          <a:xfrm>
            <a:off x="4756150" y="3048000"/>
            <a:ext cx="806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Student Name and ID</a:t>
            </a:r>
          </a:p>
        </p:txBody>
      </p:sp>
      <p:sp>
        <p:nvSpPr>
          <p:cNvPr id="37912" name="Rectangle 1"/>
          <p:cNvSpPr>
            <a:spLocks noChangeArrowheads="1"/>
          </p:cNvSpPr>
          <p:nvPr/>
        </p:nvSpPr>
        <p:spPr bwMode="auto">
          <a:xfrm>
            <a:off x="3489325" y="3930650"/>
            <a:ext cx="69532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Prior Application Data</a:t>
            </a:r>
          </a:p>
        </p:txBody>
      </p:sp>
      <p:cxnSp>
        <p:nvCxnSpPr>
          <p:cNvPr id="37913" name="AutoShape 2"/>
          <p:cNvCxnSpPr>
            <a:cxnSpLocks noChangeShapeType="1"/>
          </p:cNvCxnSpPr>
          <p:nvPr/>
        </p:nvCxnSpPr>
        <p:spPr bwMode="auto">
          <a:xfrm>
            <a:off x="6232525" y="5638800"/>
            <a:ext cx="1768475" cy="15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7914" name="Rectangle 3"/>
          <p:cNvSpPr>
            <a:spLocks noChangeArrowheads="1"/>
          </p:cNvSpPr>
          <p:nvPr/>
        </p:nvSpPr>
        <p:spPr bwMode="auto">
          <a:xfrm>
            <a:off x="6400800" y="5349875"/>
            <a:ext cx="1371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Approved Application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68922" y="1447800"/>
            <a:ext cx="4925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Level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1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Process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1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, Perform Intake Procedure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4"/>
          <p:cNvGrpSpPr>
            <a:grpSpLocks/>
          </p:cNvGrpSpPr>
          <p:nvPr/>
        </p:nvGrpSpPr>
        <p:grpSpPr bwMode="auto">
          <a:xfrm>
            <a:off x="3819525" y="2209800"/>
            <a:ext cx="990600" cy="1219200"/>
            <a:chOff x="720" y="1536"/>
            <a:chExt cx="816" cy="960"/>
          </a:xfrm>
        </p:grpSpPr>
        <p:sp>
          <p:nvSpPr>
            <p:cNvPr id="3" name="AutoShape 5">
              <a:hlinkClick r:id="rId2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Add New Student</a:t>
              </a:r>
            </a:p>
          </p:txBody>
        </p:sp>
        <p:sp>
          <p:nvSpPr>
            <p:cNvPr id="38969" name="AutoShape 6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2.2</a:t>
              </a:r>
            </a:p>
          </p:txBody>
        </p:sp>
        <p:sp>
          <p:nvSpPr>
            <p:cNvPr id="38970" name="Line 7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cxnSp>
        <p:nvCxnSpPr>
          <p:cNvPr id="38915" name="AutoShape 9"/>
          <p:cNvCxnSpPr>
            <a:cxnSpLocks noChangeShapeType="1"/>
            <a:endCxn id="38969" idx="1"/>
          </p:cNvCxnSpPr>
          <p:nvPr/>
        </p:nvCxnSpPr>
        <p:spPr bwMode="auto">
          <a:xfrm rot="-5400000">
            <a:off x="2451894" y="2382044"/>
            <a:ext cx="1325562" cy="14097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8916" name="Group 18"/>
          <p:cNvGrpSpPr>
            <a:grpSpLocks/>
          </p:cNvGrpSpPr>
          <p:nvPr/>
        </p:nvGrpSpPr>
        <p:grpSpPr bwMode="auto">
          <a:xfrm>
            <a:off x="5038725" y="3352800"/>
            <a:ext cx="990600" cy="1219200"/>
            <a:chOff x="720" y="1536"/>
            <a:chExt cx="816" cy="960"/>
          </a:xfrm>
        </p:grpSpPr>
        <p:sp>
          <p:nvSpPr>
            <p:cNvPr id="8" name="AutoShape 19">
              <a:hlinkClick r:id="rId3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Edit Existing Student</a:t>
              </a:r>
            </a:p>
          </p:txBody>
        </p:sp>
        <p:sp>
          <p:nvSpPr>
            <p:cNvPr id="38964" name="AutoShape 20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2.3</a:t>
              </a:r>
            </a:p>
          </p:txBody>
        </p:sp>
        <p:sp>
          <p:nvSpPr>
            <p:cNvPr id="38965" name="Line 21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grpSp>
        <p:nvGrpSpPr>
          <p:cNvPr id="38917" name="Group 22"/>
          <p:cNvGrpSpPr>
            <a:grpSpLocks/>
          </p:cNvGrpSpPr>
          <p:nvPr/>
        </p:nvGrpSpPr>
        <p:grpSpPr bwMode="auto">
          <a:xfrm>
            <a:off x="3819525" y="4343400"/>
            <a:ext cx="990600" cy="1219200"/>
            <a:chOff x="720" y="1536"/>
            <a:chExt cx="816" cy="960"/>
          </a:xfrm>
        </p:grpSpPr>
        <p:sp>
          <p:nvSpPr>
            <p:cNvPr id="12" name="AutoShape 23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Delete Existing Student</a:t>
              </a:r>
            </a:p>
          </p:txBody>
        </p:sp>
        <p:sp>
          <p:nvSpPr>
            <p:cNvPr id="38959" name="AutoShape 24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2.4</a:t>
              </a:r>
            </a:p>
          </p:txBody>
        </p:sp>
        <p:sp>
          <p:nvSpPr>
            <p:cNvPr id="38960" name="Line 25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grpSp>
        <p:nvGrpSpPr>
          <p:cNvPr id="38918" name="Group 28"/>
          <p:cNvGrpSpPr>
            <a:grpSpLocks/>
          </p:cNvGrpSpPr>
          <p:nvPr/>
        </p:nvGrpSpPr>
        <p:grpSpPr bwMode="auto">
          <a:xfrm>
            <a:off x="6562725" y="4038600"/>
            <a:ext cx="1752600" cy="533400"/>
            <a:chOff x="432" y="2592"/>
            <a:chExt cx="1104" cy="336"/>
          </a:xfrm>
        </p:grpSpPr>
        <p:sp>
          <p:nvSpPr>
            <p:cNvPr id="16" name="Rectangle 29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2592"/>
              <a:ext cx="816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rIns="4572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latin typeface="Arial Narrow" pitchFamily="34" charset="0"/>
                </a:rPr>
                <a:t>Student Data</a:t>
              </a:r>
            </a:p>
          </p:txBody>
        </p:sp>
        <p:sp>
          <p:nvSpPr>
            <p:cNvPr id="17" name="Rectangle 30">
              <a:hlinkClick r:id="rId5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432" y="2592"/>
              <a:ext cx="288" cy="33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latin typeface="Arial Narrow" pitchFamily="34" charset="0"/>
                </a:rPr>
                <a:t>D1</a:t>
              </a:r>
            </a:p>
          </p:txBody>
        </p:sp>
        <p:sp>
          <p:nvSpPr>
            <p:cNvPr id="38955" name="Line 31"/>
            <p:cNvSpPr>
              <a:spLocks noChangeShapeType="1"/>
            </p:cNvSpPr>
            <p:nvPr/>
          </p:nvSpPr>
          <p:spPr bwMode="auto">
            <a:xfrm>
              <a:off x="1536" y="2592"/>
              <a:ext cx="0" cy="336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cxnSp>
        <p:nvCxnSpPr>
          <p:cNvPr id="38919" name="AutoShape 32"/>
          <p:cNvCxnSpPr>
            <a:cxnSpLocks noChangeShapeType="1"/>
            <a:stCxn id="38969" idx="3"/>
          </p:cNvCxnSpPr>
          <p:nvPr/>
        </p:nvCxnSpPr>
        <p:spPr bwMode="auto">
          <a:xfrm>
            <a:off x="4810125" y="2424113"/>
            <a:ext cx="2857500" cy="1614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8920" name="Group 0"/>
          <p:cNvGrpSpPr>
            <a:grpSpLocks/>
          </p:cNvGrpSpPr>
          <p:nvPr/>
        </p:nvGrpSpPr>
        <p:grpSpPr bwMode="auto">
          <a:xfrm>
            <a:off x="5038725" y="5257800"/>
            <a:ext cx="990600" cy="1219200"/>
            <a:chOff x="720" y="1536"/>
            <a:chExt cx="816" cy="960"/>
          </a:xfrm>
        </p:grpSpPr>
        <p:sp>
          <p:nvSpPr>
            <p:cNvPr id="21" name="AutoShape 1">
              <a:hlinkClick r:id="rId4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latin typeface="Arial Narrow" pitchFamily="34" charset="0"/>
                </a:rPr>
                <a:t>Cancel Operation</a:t>
              </a:r>
            </a:p>
          </p:txBody>
        </p:sp>
        <p:sp>
          <p:nvSpPr>
            <p:cNvPr id="38947" name="AutoShape 2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2.5</a:t>
              </a:r>
            </a:p>
          </p:txBody>
        </p:sp>
        <p:sp>
          <p:nvSpPr>
            <p:cNvPr id="38948" name="Line 3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cxnSp>
        <p:nvCxnSpPr>
          <p:cNvPr id="38921" name="AutoShape 4"/>
          <p:cNvCxnSpPr>
            <a:cxnSpLocks noChangeShapeType="1"/>
            <a:stCxn id="38942" idx="3"/>
          </p:cNvCxnSpPr>
          <p:nvPr/>
        </p:nvCxnSpPr>
        <p:spPr bwMode="auto">
          <a:xfrm flipV="1">
            <a:off x="2905125" y="3962400"/>
            <a:ext cx="2133600" cy="15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922" name="Rectangle 5"/>
          <p:cNvSpPr>
            <a:spLocks noChangeArrowheads="1"/>
          </p:cNvSpPr>
          <p:nvPr/>
        </p:nvSpPr>
        <p:spPr bwMode="auto">
          <a:xfrm>
            <a:off x="3133725" y="3733800"/>
            <a:ext cx="1676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US" sz="1200">
                <a:latin typeface="Arial Narrow" pitchFamily="34" charset="0"/>
              </a:rPr>
              <a:t>Approved Application to Edit</a:t>
            </a:r>
          </a:p>
        </p:txBody>
      </p:sp>
      <p:cxnSp>
        <p:nvCxnSpPr>
          <p:cNvPr id="38923" name="AutoShape 6"/>
          <p:cNvCxnSpPr>
            <a:cxnSpLocks noChangeShapeType="1"/>
            <a:endCxn id="38959" idx="1"/>
          </p:cNvCxnSpPr>
          <p:nvPr/>
        </p:nvCxnSpPr>
        <p:spPr bwMode="auto">
          <a:xfrm>
            <a:off x="2905125" y="4359275"/>
            <a:ext cx="914400" cy="19843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924" name="Rectangle 7"/>
          <p:cNvSpPr>
            <a:spLocks noChangeArrowheads="1"/>
          </p:cNvSpPr>
          <p:nvPr/>
        </p:nvSpPr>
        <p:spPr bwMode="auto">
          <a:xfrm>
            <a:off x="2921000" y="413067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ID of Student to Delete</a:t>
            </a:r>
          </a:p>
        </p:txBody>
      </p:sp>
      <p:cxnSp>
        <p:nvCxnSpPr>
          <p:cNvPr id="38925" name="AutoShape 8"/>
          <p:cNvCxnSpPr>
            <a:cxnSpLocks noChangeShapeType="1"/>
          </p:cNvCxnSpPr>
          <p:nvPr/>
        </p:nvCxnSpPr>
        <p:spPr bwMode="auto">
          <a:xfrm rot="16200000" flipH="1">
            <a:off x="3275012" y="4103688"/>
            <a:ext cx="898525" cy="26289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926" name="Rectangle 9"/>
          <p:cNvSpPr>
            <a:spLocks noChangeArrowheads="1"/>
          </p:cNvSpPr>
          <p:nvPr/>
        </p:nvSpPr>
        <p:spPr bwMode="auto">
          <a:xfrm>
            <a:off x="3810000" y="5638800"/>
            <a:ext cx="1295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Determination to Cancel Operation</a:t>
            </a:r>
          </a:p>
        </p:txBody>
      </p:sp>
      <p:grpSp>
        <p:nvGrpSpPr>
          <p:cNvPr id="38927" name="Group 11"/>
          <p:cNvGrpSpPr>
            <a:grpSpLocks/>
          </p:cNvGrpSpPr>
          <p:nvPr/>
        </p:nvGrpSpPr>
        <p:grpSpPr bwMode="auto">
          <a:xfrm>
            <a:off x="1914525" y="3749675"/>
            <a:ext cx="990600" cy="1219200"/>
            <a:chOff x="720" y="1536"/>
            <a:chExt cx="816" cy="960"/>
          </a:xfrm>
        </p:grpSpPr>
        <p:sp>
          <p:nvSpPr>
            <p:cNvPr id="31" name="AutoShape 12">
              <a:hlinkClick r:id="rId6" action="ppaction://hlinksldjump"/>
            </p:cNvPr>
            <p:cNvSpPr>
              <a:spLocks noChangeArrowheads="1"/>
            </p:cNvSpPr>
            <p:nvPr/>
          </p:nvSpPr>
          <p:spPr bwMode="auto">
            <a:xfrm>
              <a:off x="720" y="1536"/>
              <a:ext cx="816" cy="960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45720" tIns="411480" rIns="45720" anchorCtr="1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latin typeface="Arial Narrow" pitchFamily="34" charset="0"/>
                </a:rPr>
                <a:t>Determine Operation</a:t>
              </a:r>
            </a:p>
          </p:txBody>
        </p:sp>
        <p:sp>
          <p:nvSpPr>
            <p:cNvPr id="38942" name="AutoShape 13"/>
            <p:cNvSpPr>
              <a:spLocks noChangeArrowheads="1"/>
            </p:cNvSpPr>
            <p:nvPr/>
          </p:nvSpPr>
          <p:spPr bwMode="auto">
            <a:xfrm>
              <a:off x="720" y="1536"/>
              <a:ext cx="816" cy="336"/>
            </a:xfrm>
            <a:prstGeom prst="roundRect">
              <a:avLst>
                <a:gd name="adj" fmla="val 16667"/>
              </a:avLst>
            </a:prstGeom>
            <a:ln/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200">
                  <a:latin typeface="Constantia" pitchFamily="18" charset="0"/>
                </a:rPr>
                <a:t>2.1</a:t>
              </a:r>
            </a:p>
          </p:txBody>
        </p:sp>
        <p:sp>
          <p:nvSpPr>
            <p:cNvPr id="38943" name="Line 14"/>
            <p:cNvSpPr>
              <a:spLocks noChangeShapeType="1"/>
            </p:cNvSpPr>
            <p:nvPr/>
          </p:nvSpPr>
          <p:spPr bwMode="auto">
            <a:xfrm>
              <a:off x="720" y="1872"/>
              <a:ext cx="816" cy="0"/>
            </a:xfrm>
            <a:prstGeom prst="line">
              <a:avLst/>
            </a:prstGeom>
            <a:ln>
              <a:headEnd/>
              <a:tailEnd/>
            </a:ln>
            <a:extLst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</p:grpSp>
      <p:cxnSp>
        <p:nvCxnSpPr>
          <p:cNvPr id="38928" name="AutoShape 15"/>
          <p:cNvCxnSpPr>
            <a:cxnSpLocks noChangeShapeType="1"/>
            <a:endCxn id="38942" idx="1"/>
          </p:cNvCxnSpPr>
          <p:nvPr/>
        </p:nvCxnSpPr>
        <p:spPr bwMode="auto">
          <a:xfrm>
            <a:off x="619125" y="3962400"/>
            <a:ext cx="1295400" cy="158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929" name="Rectangle 16"/>
          <p:cNvSpPr>
            <a:spLocks noChangeArrowheads="1"/>
          </p:cNvSpPr>
          <p:nvPr/>
        </p:nvSpPr>
        <p:spPr bwMode="auto">
          <a:xfrm>
            <a:off x="619125" y="3733800"/>
            <a:ext cx="1219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Approved Application</a:t>
            </a:r>
          </a:p>
        </p:txBody>
      </p:sp>
      <p:cxnSp>
        <p:nvCxnSpPr>
          <p:cNvPr id="38930" name="AutoShape 17"/>
          <p:cNvCxnSpPr>
            <a:cxnSpLocks noChangeShapeType="1"/>
          </p:cNvCxnSpPr>
          <p:nvPr/>
        </p:nvCxnSpPr>
        <p:spPr bwMode="auto">
          <a:xfrm>
            <a:off x="630238" y="4356100"/>
            <a:ext cx="1284287" cy="3175"/>
          </a:xfrm>
          <a:prstGeom prst="curvedConnector3">
            <a:avLst>
              <a:gd name="adj1" fmla="val 4994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931" name="Rectangle 19"/>
          <p:cNvSpPr>
            <a:spLocks noChangeArrowheads="1"/>
          </p:cNvSpPr>
          <p:nvPr/>
        </p:nvSpPr>
        <p:spPr bwMode="auto">
          <a:xfrm>
            <a:off x="381000" y="41148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Request for Student Information Maintenance</a:t>
            </a:r>
          </a:p>
        </p:txBody>
      </p:sp>
      <p:sp>
        <p:nvSpPr>
          <p:cNvPr id="38932" name="Rectangle 20"/>
          <p:cNvSpPr>
            <a:spLocks noChangeArrowheads="1"/>
          </p:cNvSpPr>
          <p:nvPr/>
        </p:nvSpPr>
        <p:spPr bwMode="auto">
          <a:xfrm>
            <a:off x="2270125" y="2286000"/>
            <a:ext cx="1219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Approved Application to Add</a:t>
            </a:r>
          </a:p>
        </p:txBody>
      </p:sp>
      <p:sp>
        <p:nvSpPr>
          <p:cNvPr id="38933" name="Rectangle 21"/>
          <p:cNvSpPr>
            <a:spLocks noChangeArrowheads="1"/>
          </p:cNvSpPr>
          <p:nvPr/>
        </p:nvSpPr>
        <p:spPr bwMode="auto">
          <a:xfrm>
            <a:off x="7162800" y="3048000"/>
            <a:ext cx="1219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Verified Approved Application</a:t>
            </a:r>
          </a:p>
        </p:txBody>
      </p:sp>
      <p:cxnSp>
        <p:nvCxnSpPr>
          <p:cNvPr id="38934" name="AutoShape 22"/>
          <p:cNvCxnSpPr>
            <a:cxnSpLocks noChangeShapeType="1"/>
            <a:stCxn id="38964" idx="3"/>
          </p:cNvCxnSpPr>
          <p:nvPr/>
        </p:nvCxnSpPr>
        <p:spPr bwMode="auto">
          <a:xfrm>
            <a:off x="6029325" y="3567113"/>
            <a:ext cx="762000" cy="471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935" name="Rectangle 23"/>
          <p:cNvSpPr>
            <a:spLocks noChangeArrowheads="1"/>
          </p:cNvSpPr>
          <p:nvPr/>
        </p:nvSpPr>
        <p:spPr bwMode="auto">
          <a:xfrm>
            <a:off x="5867400" y="3200400"/>
            <a:ext cx="1219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Verified Changed Student Data</a:t>
            </a:r>
          </a:p>
        </p:txBody>
      </p:sp>
      <p:cxnSp>
        <p:nvCxnSpPr>
          <p:cNvPr id="38936" name="AutoShape 24"/>
          <p:cNvCxnSpPr>
            <a:cxnSpLocks noChangeShapeType="1"/>
          </p:cNvCxnSpPr>
          <p:nvPr/>
        </p:nvCxnSpPr>
        <p:spPr bwMode="auto">
          <a:xfrm flipV="1">
            <a:off x="4810125" y="4572000"/>
            <a:ext cx="1981200" cy="3810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8937" name="Rectangle 25"/>
          <p:cNvSpPr>
            <a:spLocks noChangeArrowheads="1"/>
          </p:cNvSpPr>
          <p:nvPr/>
        </p:nvSpPr>
        <p:spPr bwMode="auto">
          <a:xfrm>
            <a:off x="4810125" y="469265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/>
            <a:r>
              <a:rPr lang="en-US" sz="1200">
                <a:latin typeface="Arial Narrow" pitchFamily="34" charset="0"/>
              </a:rPr>
              <a:t>Verified ID of Student to Delete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1200" y="1066800"/>
            <a:ext cx="4572000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Level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1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Process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2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, Maintain Student Information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7" name="Rectangle 15"/>
          <p:cNvSpPr>
            <a:spLocks noChangeArrowheads="1"/>
          </p:cNvSpPr>
          <p:nvPr/>
        </p:nvSpPr>
        <p:spPr bwMode="auto">
          <a:xfrm>
            <a:off x="3506172" y="2362200"/>
            <a:ext cx="203799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tantia" pitchFamily="18" charset="0"/>
              </a:rPr>
              <a:t>Context Diagram</a:t>
            </a:r>
          </a:p>
        </p:txBody>
      </p:sp>
      <p:sp>
        <p:nvSpPr>
          <p:cNvPr id="35858" name="TextBox 16"/>
          <p:cNvSpPr txBox="1">
            <a:spLocks noChangeArrowheads="1"/>
          </p:cNvSpPr>
          <p:nvPr/>
        </p:nvSpPr>
        <p:spPr bwMode="auto">
          <a:xfrm>
            <a:off x="2107544" y="1447799"/>
            <a:ext cx="470032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200" dirty="0">
                <a:solidFill>
                  <a:schemeClr val="tx2">
                    <a:lumMod val="75000"/>
                  </a:schemeClr>
                </a:solidFill>
                <a:latin typeface="Constantia" pitchFamily="18" charset="0"/>
              </a:rPr>
              <a:t>DFD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Constantia" pitchFamily="18" charset="0"/>
              </a:rPr>
              <a:t>for Lemonade Stand</a:t>
            </a:r>
            <a:endParaRPr lang="en-US" sz="3200" dirty="0">
              <a:solidFill>
                <a:schemeClr val="tx2">
                  <a:lumMod val="75000"/>
                </a:schemeClr>
              </a:solidFill>
              <a:latin typeface="Constantia" pitchFamily="18" charset="0"/>
            </a:endParaRPr>
          </a:p>
        </p:txBody>
      </p:sp>
      <p:sp>
        <p:nvSpPr>
          <p:cNvPr id="18" name="Oval 4"/>
          <p:cNvSpPr>
            <a:spLocks noChangeArrowheads="1"/>
          </p:cNvSpPr>
          <p:nvPr/>
        </p:nvSpPr>
        <p:spPr bwMode="auto">
          <a:xfrm>
            <a:off x="3962400" y="3057478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288" rIns="18288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0.0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Lemonade System</a:t>
            </a:r>
          </a:p>
        </p:txBody>
      </p:sp>
      <p:sp>
        <p:nvSpPr>
          <p:cNvPr id="19" name="Rectangle 5"/>
          <p:cNvSpPr>
            <a:spLocks noChangeAspect="1" noChangeArrowheads="1"/>
          </p:cNvSpPr>
          <p:nvPr/>
        </p:nvSpPr>
        <p:spPr bwMode="auto">
          <a:xfrm>
            <a:off x="6324600" y="3057478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EMPLOYEE</a:t>
            </a:r>
          </a:p>
        </p:txBody>
      </p:sp>
      <p:sp>
        <p:nvSpPr>
          <p:cNvPr id="20" name="Rectangle 6"/>
          <p:cNvSpPr>
            <a:spLocks noChangeAspect="1" noChangeArrowheads="1"/>
          </p:cNvSpPr>
          <p:nvPr/>
        </p:nvSpPr>
        <p:spPr bwMode="auto">
          <a:xfrm>
            <a:off x="1752600" y="3057478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CUSTOMER</a:t>
            </a:r>
          </a:p>
        </p:txBody>
      </p:sp>
      <p:cxnSp>
        <p:nvCxnSpPr>
          <p:cNvPr id="21" name="AutoShape 7"/>
          <p:cNvCxnSpPr>
            <a:cxnSpLocks noChangeShapeType="1"/>
          </p:cNvCxnSpPr>
          <p:nvPr/>
        </p:nvCxnSpPr>
        <p:spPr bwMode="auto">
          <a:xfrm>
            <a:off x="4800600" y="3781378"/>
            <a:ext cx="120015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4648200" y="35527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Pay</a:t>
            </a:r>
          </a:p>
        </p:txBody>
      </p:sp>
      <p:cxnSp>
        <p:nvCxnSpPr>
          <p:cNvPr id="23" name="AutoShape 9"/>
          <p:cNvCxnSpPr>
            <a:cxnSpLocks noChangeShapeType="1"/>
          </p:cNvCxnSpPr>
          <p:nvPr/>
        </p:nvCxnSpPr>
        <p:spPr bwMode="auto">
          <a:xfrm>
            <a:off x="2676525" y="3819478"/>
            <a:ext cx="127635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none" w="lg" len="sm"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2514600" y="37813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Payment</a:t>
            </a:r>
          </a:p>
        </p:txBody>
      </p:sp>
      <p:cxnSp>
        <p:nvCxnSpPr>
          <p:cNvPr id="25" name="AutoShape 11"/>
          <p:cNvCxnSpPr>
            <a:cxnSpLocks noChangeShapeType="1"/>
          </p:cNvCxnSpPr>
          <p:nvPr/>
        </p:nvCxnSpPr>
        <p:spPr bwMode="auto">
          <a:xfrm>
            <a:off x="2676525" y="3171778"/>
            <a:ext cx="127635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2514600" y="31336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Order</a:t>
            </a:r>
          </a:p>
        </p:txBody>
      </p:sp>
      <p:sp>
        <p:nvSpPr>
          <p:cNvPr id="27" name="Rectangle 18"/>
          <p:cNvSpPr>
            <a:spLocks noChangeAspect="1" noChangeArrowheads="1"/>
          </p:cNvSpPr>
          <p:nvPr/>
        </p:nvSpPr>
        <p:spPr bwMode="auto">
          <a:xfrm>
            <a:off x="3962400" y="4810078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VENDOR</a:t>
            </a:r>
          </a:p>
        </p:txBody>
      </p:sp>
      <p:cxnSp>
        <p:nvCxnSpPr>
          <p:cNvPr id="28" name="AutoShape 19"/>
          <p:cNvCxnSpPr>
            <a:cxnSpLocks noChangeShapeType="1"/>
          </p:cNvCxnSpPr>
          <p:nvPr/>
        </p:nvCxnSpPr>
        <p:spPr bwMode="auto">
          <a:xfrm>
            <a:off x="4191000" y="3905203"/>
            <a:ext cx="0" cy="8191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29" name="AutoShape 20"/>
          <p:cNvCxnSpPr>
            <a:cxnSpLocks noChangeShapeType="1"/>
            <a:stCxn id="18" idx="4"/>
            <a:endCxn id="27" idx="0"/>
          </p:cNvCxnSpPr>
          <p:nvPr/>
        </p:nvCxnSpPr>
        <p:spPr bwMode="auto">
          <a:xfrm>
            <a:off x="4419600" y="3971878"/>
            <a:ext cx="0" cy="8382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0" name="Text Box 21"/>
          <p:cNvSpPr txBox="1">
            <a:spLocks noChangeArrowheads="1"/>
          </p:cNvSpPr>
          <p:nvPr/>
        </p:nvSpPr>
        <p:spPr bwMode="auto">
          <a:xfrm>
            <a:off x="2600325" y="42766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Payment</a:t>
            </a:r>
          </a:p>
        </p:txBody>
      </p:sp>
      <p:sp>
        <p:nvSpPr>
          <p:cNvPr id="31" name="Text Box 22"/>
          <p:cNvSpPr txBox="1">
            <a:spLocks noChangeArrowheads="1"/>
          </p:cNvSpPr>
          <p:nvPr/>
        </p:nvSpPr>
        <p:spPr bwMode="auto">
          <a:xfrm>
            <a:off x="4648200" y="44290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Purchase Order</a:t>
            </a:r>
          </a:p>
        </p:txBody>
      </p:sp>
      <p:sp>
        <p:nvSpPr>
          <p:cNvPr id="32" name="Text Box 23"/>
          <p:cNvSpPr txBox="1">
            <a:spLocks noChangeArrowheads="1"/>
          </p:cNvSpPr>
          <p:nvPr/>
        </p:nvSpPr>
        <p:spPr bwMode="auto">
          <a:xfrm>
            <a:off x="4810125" y="33368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 dirty="0">
                <a:latin typeface="Arial Narrow" pitchFamily="34" charset="0"/>
              </a:rPr>
              <a:t>Production Schedule </a:t>
            </a:r>
          </a:p>
        </p:txBody>
      </p:sp>
      <p:cxnSp>
        <p:nvCxnSpPr>
          <p:cNvPr id="33" name="AutoShape 24"/>
          <p:cNvCxnSpPr>
            <a:cxnSpLocks noChangeShapeType="1"/>
          </p:cNvCxnSpPr>
          <p:nvPr/>
        </p:nvCxnSpPr>
        <p:spPr bwMode="auto">
          <a:xfrm>
            <a:off x="4876800" y="3374978"/>
            <a:ext cx="120015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4" name="AutoShape 25"/>
          <p:cNvCxnSpPr>
            <a:cxnSpLocks noChangeShapeType="1"/>
          </p:cNvCxnSpPr>
          <p:nvPr/>
        </p:nvCxnSpPr>
        <p:spPr bwMode="auto">
          <a:xfrm>
            <a:off x="4648200" y="3895678"/>
            <a:ext cx="0" cy="8191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5" name="Text Box 26"/>
          <p:cNvSpPr txBox="1">
            <a:spLocks noChangeArrowheads="1"/>
          </p:cNvSpPr>
          <p:nvPr/>
        </p:nvSpPr>
        <p:spPr bwMode="auto">
          <a:xfrm>
            <a:off x="2862263" y="40480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Received Goods</a:t>
            </a:r>
          </a:p>
        </p:txBody>
      </p:sp>
      <p:sp>
        <p:nvSpPr>
          <p:cNvPr id="36" name="Text Box 27"/>
          <p:cNvSpPr txBox="1">
            <a:spLocks noChangeArrowheads="1"/>
          </p:cNvSpPr>
          <p:nvPr/>
        </p:nvSpPr>
        <p:spPr bwMode="auto">
          <a:xfrm>
            <a:off x="4724400" y="38575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Time Worked</a:t>
            </a:r>
          </a:p>
        </p:txBody>
      </p:sp>
      <p:cxnSp>
        <p:nvCxnSpPr>
          <p:cNvPr id="37" name="AutoShape 28"/>
          <p:cNvCxnSpPr>
            <a:cxnSpLocks noChangeShapeType="1"/>
          </p:cNvCxnSpPr>
          <p:nvPr/>
        </p:nvCxnSpPr>
        <p:spPr bwMode="auto">
          <a:xfrm>
            <a:off x="4867275" y="3895678"/>
            <a:ext cx="120015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8" name="AutoShape 29"/>
          <p:cNvCxnSpPr>
            <a:cxnSpLocks noChangeShapeType="1"/>
          </p:cNvCxnSpPr>
          <p:nvPr/>
        </p:nvCxnSpPr>
        <p:spPr bwMode="auto">
          <a:xfrm>
            <a:off x="4800600" y="3222578"/>
            <a:ext cx="120015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" name="Text Box 30"/>
          <p:cNvSpPr txBox="1">
            <a:spLocks noChangeArrowheads="1"/>
          </p:cNvSpPr>
          <p:nvPr/>
        </p:nvSpPr>
        <p:spPr bwMode="auto">
          <a:xfrm>
            <a:off x="4648200" y="29939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Sales Forecast</a:t>
            </a:r>
          </a:p>
        </p:txBody>
      </p:sp>
      <p:cxnSp>
        <p:nvCxnSpPr>
          <p:cNvPr id="40" name="AutoShape 32"/>
          <p:cNvCxnSpPr>
            <a:cxnSpLocks noChangeShapeType="1"/>
            <a:stCxn id="18" idx="2"/>
            <a:endCxn id="20" idx="3"/>
          </p:cNvCxnSpPr>
          <p:nvPr/>
        </p:nvCxnSpPr>
        <p:spPr bwMode="auto">
          <a:xfrm flipH="1">
            <a:off x="2667000" y="3514678"/>
            <a:ext cx="129540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1" name="Text Box 33"/>
          <p:cNvSpPr txBox="1">
            <a:spLocks noChangeArrowheads="1"/>
          </p:cNvSpPr>
          <p:nvPr/>
        </p:nvSpPr>
        <p:spPr bwMode="auto">
          <a:xfrm>
            <a:off x="2514600" y="3514678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Product Served</a:t>
            </a:r>
          </a:p>
        </p:txBody>
      </p:sp>
    </p:spTree>
    <p:extLst>
      <p:ext uri="{BB962C8B-B14F-4D97-AF65-F5344CB8AC3E}">
        <p14:creationId xmlns:p14="http://schemas.microsoft.com/office/powerpoint/2010/main" xmlns="" val="920245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3943208" y="1219200"/>
            <a:ext cx="928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Level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0</a:t>
            </a:r>
          </a:p>
        </p:txBody>
      </p:sp>
      <p:sp>
        <p:nvSpPr>
          <p:cNvPr id="95" name="Oval 10"/>
          <p:cNvSpPr>
            <a:spLocks noChangeArrowheads="1"/>
          </p:cNvSpPr>
          <p:nvPr/>
        </p:nvSpPr>
        <p:spPr bwMode="auto">
          <a:xfrm>
            <a:off x="3952875" y="314325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288" rIns="18288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Production</a:t>
            </a:r>
          </a:p>
        </p:txBody>
      </p:sp>
      <p:cxnSp>
        <p:nvCxnSpPr>
          <p:cNvPr id="96" name="AutoShape 11"/>
          <p:cNvCxnSpPr>
            <a:cxnSpLocks noChangeShapeType="1"/>
            <a:endCxn id="100" idx="3"/>
          </p:cNvCxnSpPr>
          <p:nvPr/>
        </p:nvCxnSpPr>
        <p:spPr bwMode="auto">
          <a:xfrm flipV="1">
            <a:off x="2667000" y="2676525"/>
            <a:ext cx="1419225" cy="92392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7" name="Rectangle 12"/>
          <p:cNvSpPr>
            <a:spLocks noChangeAspect="1" noChangeArrowheads="1"/>
          </p:cNvSpPr>
          <p:nvPr/>
        </p:nvSpPr>
        <p:spPr bwMode="auto">
          <a:xfrm>
            <a:off x="6086475" y="3143250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EMPLOYEE</a:t>
            </a:r>
          </a:p>
        </p:txBody>
      </p:sp>
      <p:cxnSp>
        <p:nvCxnSpPr>
          <p:cNvPr id="98" name="AutoShape 13"/>
          <p:cNvCxnSpPr>
            <a:cxnSpLocks noChangeShapeType="1"/>
            <a:stCxn id="97" idx="1"/>
            <a:endCxn id="95" idx="6"/>
          </p:cNvCxnSpPr>
          <p:nvPr/>
        </p:nvCxnSpPr>
        <p:spPr bwMode="auto">
          <a:xfrm flipH="1">
            <a:off x="4876800" y="3600450"/>
            <a:ext cx="1200150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9" name="Text Box 14"/>
          <p:cNvSpPr txBox="1">
            <a:spLocks noChangeArrowheads="1"/>
          </p:cNvSpPr>
          <p:nvPr/>
        </p:nvSpPr>
        <p:spPr bwMode="auto">
          <a:xfrm>
            <a:off x="4876800" y="3486150"/>
            <a:ext cx="10668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Production</a:t>
            </a:r>
            <a:br>
              <a:rPr lang="en-US" sz="1400">
                <a:latin typeface="Arial Narrow" pitchFamily="34" charset="0"/>
              </a:rPr>
            </a:br>
            <a:r>
              <a:rPr lang="en-US" sz="1400">
                <a:latin typeface="Arial Narrow" pitchFamily="34" charset="0"/>
              </a:rPr>
              <a:t> Schedule</a:t>
            </a:r>
          </a:p>
        </p:txBody>
      </p:sp>
      <p:sp>
        <p:nvSpPr>
          <p:cNvPr id="100" name="Oval 15"/>
          <p:cNvSpPr>
            <a:spLocks noChangeArrowheads="1"/>
          </p:cNvSpPr>
          <p:nvPr/>
        </p:nvSpPr>
        <p:spPr bwMode="auto">
          <a:xfrm>
            <a:off x="3952875" y="188595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288" rIns="18288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1.0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Sale</a:t>
            </a:r>
          </a:p>
        </p:txBody>
      </p:sp>
      <p:sp>
        <p:nvSpPr>
          <p:cNvPr id="101" name="Oval 16"/>
          <p:cNvSpPr>
            <a:spLocks noChangeArrowheads="1"/>
          </p:cNvSpPr>
          <p:nvPr/>
        </p:nvSpPr>
        <p:spPr bwMode="auto">
          <a:xfrm>
            <a:off x="3952875" y="424815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Procure-ment</a:t>
            </a:r>
          </a:p>
        </p:txBody>
      </p:sp>
      <p:cxnSp>
        <p:nvCxnSpPr>
          <p:cNvPr id="102" name="AutoShape 17"/>
          <p:cNvCxnSpPr>
            <a:cxnSpLocks noChangeShapeType="1"/>
            <a:stCxn id="130" idx="6"/>
            <a:endCxn id="100" idx="2"/>
          </p:cNvCxnSpPr>
          <p:nvPr/>
        </p:nvCxnSpPr>
        <p:spPr bwMode="auto">
          <a:xfrm flipV="1">
            <a:off x="2667000" y="2343150"/>
            <a:ext cx="1276350" cy="9525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3" name="AutoShape 18"/>
          <p:cNvCxnSpPr>
            <a:cxnSpLocks noChangeShapeType="1"/>
            <a:stCxn id="100" idx="6"/>
            <a:endCxn id="132" idx="2"/>
          </p:cNvCxnSpPr>
          <p:nvPr/>
        </p:nvCxnSpPr>
        <p:spPr bwMode="auto">
          <a:xfrm>
            <a:off x="4876800" y="2343150"/>
            <a:ext cx="1168400" cy="9525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04" name="AutoShape 19"/>
          <p:cNvCxnSpPr>
            <a:cxnSpLocks noChangeShapeType="1"/>
            <a:stCxn id="100" idx="4"/>
            <a:endCxn id="95" idx="0"/>
          </p:cNvCxnSpPr>
          <p:nvPr/>
        </p:nvCxnSpPr>
        <p:spPr bwMode="auto">
          <a:xfrm>
            <a:off x="4410075" y="2809875"/>
            <a:ext cx="0" cy="3238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5" name="Text Box 20"/>
          <p:cNvSpPr txBox="1">
            <a:spLocks noChangeArrowheads="1"/>
          </p:cNvSpPr>
          <p:nvPr/>
        </p:nvSpPr>
        <p:spPr bwMode="auto">
          <a:xfrm>
            <a:off x="5267325" y="24955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Sales Forecast</a:t>
            </a:r>
          </a:p>
        </p:txBody>
      </p:sp>
      <p:sp>
        <p:nvSpPr>
          <p:cNvPr id="106" name="Text Box 21"/>
          <p:cNvSpPr txBox="1">
            <a:spLocks noChangeArrowheads="1"/>
          </p:cNvSpPr>
          <p:nvPr/>
        </p:nvSpPr>
        <p:spPr bwMode="auto">
          <a:xfrm>
            <a:off x="3629025" y="28384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Product Ordered</a:t>
            </a:r>
          </a:p>
        </p:txBody>
      </p:sp>
      <p:cxnSp>
        <p:nvCxnSpPr>
          <p:cNvPr id="107" name="AutoShape 22"/>
          <p:cNvCxnSpPr>
            <a:cxnSpLocks noChangeShapeType="1"/>
            <a:stCxn id="131" idx="2"/>
            <a:endCxn id="101" idx="6"/>
          </p:cNvCxnSpPr>
          <p:nvPr/>
        </p:nvCxnSpPr>
        <p:spPr bwMode="auto">
          <a:xfrm flipH="1">
            <a:off x="4876800" y="3905250"/>
            <a:ext cx="1219200" cy="8001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08" name="Rectangle 23"/>
          <p:cNvSpPr>
            <a:spLocks noChangeAspect="1" noChangeArrowheads="1"/>
          </p:cNvSpPr>
          <p:nvPr/>
        </p:nvSpPr>
        <p:spPr bwMode="auto">
          <a:xfrm>
            <a:off x="1752600" y="3143250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CUSTOMER</a:t>
            </a:r>
          </a:p>
        </p:txBody>
      </p:sp>
      <p:cxnSp>
        <p:nvCxnSpPr>
          <p:cNvPr id="109" name="AutoShape 24"/>
          <p:cNvCxnSpPr>
            <a:cxnSpLocks noChangeShapeType="1"/>
            <a:stCxn id="127" idx="7"/>
            <a:endCxn id="97" idx="2"/>
          </p:cNvCxnSpPr>
          <p:nvPr/>
        </p:nvCxnSpPr>
        <p:spPr bwMode="auto">
          <a:xfrm flipV="1">
            <a:off x="4743450" y="4067175"/>
            <a:ext cx="1800225" cy="15240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0" name="Text Box 25"/>
          <p:cNvSpPr txBox="1">
            <a:spLocks noChangeArrowheads="1"/>
          </p:cNvSpPr>
          <p:nvPr/>
        </p:nvSpPr>
        <p:spPr bwMode="auto">
          <a:xfrm>
            <a:off x="4048125" y="51625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Pay</a:t>
            </a:r>
          </a:p>
        </p:txBody>
      </p:sp>
      <p:cxnSp>
        <p:nvCxnSpPr>
          <p:cNvPr id="111" name="AutoShape 26"/>
          <p:cNvCxnSpPr>
            <a:cxnSpLocks noChangeShapeType="1"/>
            <a:stCxn id="101" idx="0"/>
            <a:endCxn id="95" idx="4"/>
          </p:cNvCxnSpPr>
          <p:nvPr/>
        </p:nvCxnSpPr>
        <p:spPr bwMode="auto">
          <a:xfrm flipV="1">
            <a:off x="4410075" y="4067175"/>
            <a:ext cx="0" cy="1714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none" w="lg" len="sm"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2" name="Text Box 27"/>
          <p:cNvSpPr txBox="1">
            <a:spLocks noChangeArrowheads="1"/>
          </p:cNvSpPr>
          <p:nvPr/>
        </p:nvSpPr>
        <p:spPr bwMode="auto">
          <a:xfrm>
            <a:off x="3276600" y="31051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Payment</a:t>
            </a:r>
          </a:p>
        </p:txBody>
      </p:sp>
      <p:sp>
        <p:nvSpPr>
          <p:cNvPr id="113" name="Text Box 28"/>
          <p:cNvSpPr txBox="1">
            <a:spLocks noChangeArrowheads="1"/>
          </p:cNvSpPr>
          <p:nvPr/>
        </p:nvSpPr>
        <p:spPr bwMode="auto">
          <a:xfrm>
            <a:off x="1905000" y="25336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Customer Order</a:t>
            </a:r>
          </a:p>
        </p:txBody>
      </p:sp>
      <p:sp>
        <p:nvSpPr>
          <p:cNvPr id="114" name="Rectangle 29"/>
          <p:cNvSpPr>
            <a:spLocks noChangeAspect="1" noChangeArrowheads="1"/>
          </p:cNvSpPr>
          <p:nvPr/>
        </p:nvSpPr>
        <p:spPr bwMode="auto">
          <a:xfrm>
            <a:off x="1752600" y="4248150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VENDOR</a:t>
            </a:r>
          </a:p>
        </p:txBody>
      </p:sp>
      <p:cxnSp>
        <p:nvCxnSpPr>
          <p:cNvPr id="115" name="AutoShape 30"/>
          <p:cNvCxnSpPr>
            <a:cxnSpLocks noChangeShapeType="1"/>
            <a:stCxn id="101" idx="3"/>
            <a:endCxn id="129" idx="6"/>
          </p:cNvCxnSpPr>
          <p:nvPr/>
        </p:nvCxnSpPr>
        <p:spPr bwMode="auto">
          <a:xfrm flipH="1" flipV="1">
            <a:off x="2667000" y="5035550"/>
            <a:ext cx="1419225" cy="317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16" name="AutoShape 31"/>
          <p:cNvCxnSpPr>
            <a:cxnSpLocks noChangeShapeType="1"/>
            <a:stCxn id="101" idx="1"/>
            <a:endCxn id="128" idx="6"/>
          </p:cNvCxnSpPr>
          <p:nvPr/>
        </p:nvCxnSpPr>
        <p:spPr bwMode="auto">
          <a:xfrm flipH="1">
            <a:off x="2667000" y="4371975"/>
            <a:ext cx="1419225" cy="317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17" name="Text Box 32"/>
          <p:cNvSpPr txBox="1">
            <a:spLocks noChangeArrowheads="1"/>
          </p:cNvSpPr>
          <p:nvPr/>
        </p:nvSpPr>
        <p:spPr bwMode="auto">
          <a:xfrm>
            <a:off x="2828925" y="50101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Payment</a:t>
            </a:r>
          </a:p>
        </p:txBody>
      </p:sp>
      <p:sp>
        <p:nvSpPr>
          <p:cNvPr id="118" name="Text Box 33"/>
          <p:cNvSpPr txBox="1">
            <a:spLocks noChangeArrowheads="1"/>
          </p:cNvSpPr>
          <p:nvPr/>
        </p:nvSpPr>
        <p:spPr bwMode="auto">
          <a:xfrm>
            <a:off x="2362200" y="46672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Purchase Order</a:t>
            </a:r>
          </a:p>
        </p:txBody>
      </p:sp>
      <p:sp>
        <p:nvSpPr>
          <p:cNvPr id="119" name="Text Box 34"/>
          <p:cNvSpPr txBox="1">
            <a:spLocks noChangeArrowheads="1"/>
          </p:cNvSpPr>
          <p:nvPr/>
        </p:nvSpPr>
        <p:spPr bwMode="auto">
          <a:xfrm>
            <a:off x="4419600" y="46672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Order</a:t>
            </a:r>
            <a:br>
              <a:rPr lang="en-US" sz="1400">
                <a:latin typeface="Arial Narrow" pitchFamily="34" charset="0"/>
              </a:rPr>
            </a:br>
            <a:r>
              <a:rPr lang="en-US" sz="1400">
                <a:latin typeface="Arial Narrow" pitchFamily="34" charset="0"/>
              </a:rPr>
              <a:t>   Decisions</a:t>
            </a:r>
          </a:p>
        </p:txBody>
      </p:sp>
      <p:cxnSp>
        <p:nvCxnSpPr>
          <p:cNvPr id="120" name="AutoShape 35"/>
          <p:cNvCxnSpPr>
            <a:cxnSpLocks noChangeShapeType="1"/>
            <a:stCxn id="101" idx="2"/>
            <a:endCxn id="114" idx="3"/>
          </p:cNvCxnSpPr>
          <p:nvPr/>
        </p:nvCxnSpPr>
        <p:spPr bwMode="auto">
          <a:xfrm flipH="1">
            <a:off x="2676525" y="4705350"/>
            <a:ext cx="1266825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1" name="Text Box 36"/>
          <p:cNvSpPr txBox="1">
            <a:spLocks noChangeArrowheads="1"/>
          </p:cNvSpPr>
          <p:nvPr/>
        </p:nvSpPr>
        <p:spPr bwMode="auto">
          <a:xfrm>
            <a:off x="2667000" y="41084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Received Goods</a:t>
            </a:r>
          </a:p>
        </p:txBody>
      </p:sp>
      <p:sp>
        <p:nvSpPr>
          <p:cNvPr id="122" name="Text Box 37"/>
          <p:cNvSpPr txBox="1">
            <a:spLocks noChangeArrowheads="1"/>
          </p:cNvSpPr>
          <p:nvPr/>
        </p:nvSpPr>
        <p:spPr bwMode="auto">
          <a:xfrm>
            <a:off x="5495925" y="52387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Time Worked</a:t>
            </a:r>
          </a:p>
        </p:txBody>
      </p:sp>
      <p:cxnSp>
        <p:nvCxnSpPr>
          <p:cNvPr id="123" name="AutoShape 38"/>
          <p:cNvCxnSpPr>
            <a:cxnSpLocks noChangeShapeType="1"/>
            <a:stCxn id="127" idx="6"/>
            <a:endCxn id="133" idx="5"/>
          </p:cNvCxnSpPr>
          <p:nvPr/>
        </p:nvCxnSpPr>
        <p:spPr bwMode="auto">
          <a:xfrm flipV="1">
            <a:off x="4886325" y="4011613"/>
            <a:ext cx="2014538" cy="1912937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124" name="AutoShape 39"/>
          <p:cNvCxnSpPr>
            <a:cxnSpLocks noChangeShapeType="1"/>
            <a:stCxn id="95" idx="2"/>
            <a:endCxn id="108" idx="3"/>
          </p:cNvCxnSpPr>
          <p:nvPr/>
        </p:nvCxnSpPr>
        <p:spPr bwMode="auto">
          <a:xfrm flipH="1">
            <a:off x="2676525" y="3600450"/>
            <a:ext cx="1266825" cy="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125" name="Text Box 40"/>
          <p:cNvSpPr txBox="1">
            <a:spLocks noChangeArrowheads="1"/>
          </p:cNvSpPr>
          <p:nvPr/>
        </p:nvSpPr>
        <p:spPr bwMode="auto">
          <a:xfrm>
            <a:off x="4479925" y="40322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Inventory</a:t>
            </a:r>
          </a:p>
        </p:txBody>
      </p:sp>
      <p:sp>
        <p:nvSpPr>
          <p:cNvPr id="126" name="Text Box 41"/>
          <p:cNvSpPr txBox="1">
            <a:spLocks noChangeArrowheads="1"/>
          </p:cNvSpPr>
          <p:nvPr/>
        </p:nvSpPr>
        <p:spPr bwMode="auto">
          <a:xfrm>
            <a:off x="2590800" y="36385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Product Served</a:t>
            </a:r>
          </a:p>
        </p:txBody>
      </p:sp>
      <p:sp>
        <p:nvSpPr>
          <p:cNvPr id="127" name="Oval 42"/>
          <p:cNvSpPr>
            <a:spLocks noChangeArrowheads="1"/>
          </p:cNvSpPr>
          <p:nvPr/>
        </p:nvSpPr>
        <p:spPr bwMode="auto">
          <a:xfrm>
            <a:off x="3962400" y="546735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Payroll</a:t>
            </a:r>
          </a:p>
        </p:txBody>
      </p:sp>
      <p:sp>
        <p:nvSpPr>
          <p:cNvPr id="128" name="Oval 43"/>
          <p:cNvSpPr>
            <a:spLocks noChangeArrowheads="1"/>
          </p:cNvSpPr>
          <p:nvPr/>
        </p:nvSpPr>
        <p:spPr bwMode="auto">
          <a:xfrm>
            <a:off x="2438400" y="42608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9" name="Oval 44"/>
          <p:cNvSpPr>
            <a:spLocks noChangeArrowheads="1"/>
          </p:cNvSpPr>
          <p:nvPr/>
        </p:nvSpPr>
        <p:spPr bwMode="auto">
          <a:xfrm>
            <a:off x="2438400" y="49212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0" name="Oval 45"/>
          <p:cNvSpPr>
            <a:spLocks noChangeArrowheads="1"/>
          </p:cNvSpPr>
          <p:nvPr/>
        </p:nvSpPr>
        <p:spPr bwMode="auto">
          <a:xfrm>
            <a:off x="2438400" y="31813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" name="Oval 46"/>
          <p:cNvSpPr>
            <a:spLocks noChangeArrowheads="1"/>
          </p:cNvSpPr>
          <p:nvPr/>
        </p:nvSpPr>
        <p:spPr bwMode="auto">
          <a:xfrm>
            <a:off x="6096000" y="37909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2" name="Oval 47"/>
          <p:cNvSpPr>
            <a:spLocks noChangeArrowheads="1"/>
          </p:cNvSpPr>
          <p:nvPr/>
        </p:nvSpPr>
        <p:spPr bwMode="auto">
          <a:xfrm>
            <a:off x="6045200" y="31813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" name="Oval 48"/>
          <p:cNvSpPr>
            <a:spLocks noChangeArrowheads="1"/>
          </p:cNvSpPr>
          <p:nvPr/>
        </p:nvSpPr>
        <p:spPr bwMode="auto">
          <a:xfrm>
            <a:off x="6705600" y="38163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134" name="Picture 2" descr="j0198656"/>
          <p:cNvPicPr>
            <a:picLocks noChangeAspect="1" noChangeArrowheads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495800"/>
            <a:ext cx="2093913" cy="2306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79756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3442081" y="1219200"/>
            <a:ext cx="193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Level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1, Process 1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42" name="AutoShape 10"/>
          <p:cNvCxnSpPr>
            <a:cxnSpLocks noChangeShapeType="1"/>
            <a:stCxn id="60" idx="3"/>
            <a:endCxn id="43" idx="3"/>
          </p:cNvCxnSpPr>
          <p:nvPr/>
        </p:nvCxnSpPr>
        <p:spPr bwMode="auto">
          <a:xfrm flipV="1">
            <a:off x="5048250" y="4371974"/>
            <a:ext cx="361950" cy="579438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5276850" y="3581399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288" rIns="18288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1.3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Produce Sales Forecast</a:t>
            </a:r>
          </a:p>
        </p:txBody>
      </p:sp>
      <p:cxnSp>
        <p:nvCxnSpPr>
          <p:cNvPr id="44" name="AutoShape 12"/>
          <p:cNvCxnSpPr>
            <a:cxnSpLocks noChangeShapeType="1"/>
            <a:stCxn id="43" idx="6"/>
            <a:endCxn id="46" idx="0"/>
          </p:cNvCxnSpPr>
          <p:nvPr/>
        </p:nvCxnSpPr>
        <p:spPr bwMode="auto">
          <a:xfrm>
            <a:off x="6200775" y="4038599"/>
            <a:ext cx="642938" cy="2286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45" name="AutoShape 13"/>
          <p:cNvCxnSpPr>
            <a:cxnSpLocks noChangeShapeType="1"/>
            <a:stCxn id="55" idx="3"/>
            <a:endCxn id="43" idx="1"/>
          </p:cNvCxnSpPr>
          <p:nvPr/>
        </p:nvCxnSpPr>
        <p:spPr bwMode="auto">
          <a:xfrm>
            <a:off x="5048250" y="3046412"/>
            <a:ext cx="361950" cy="65881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6" name="Text Box 14"/>
          <p:cNvSpPr txBox="1">
            <a:spLocks noChangeArrowheads="1"/>
          </p:cNvSpPr>
          <p:nvPr/>
        </p:nvSpPr>
        <p:spPr bwMode="auto">
          <a:xfrm>
            <a:off x="6048375" y="4267199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Sales Forecast</a:t>
            </a:r>
          </a:p>
        </p:txBody>
      </p:sp>
      <p:sp>
        <p:nvSpPr>
          <p:cNvPr id="47" name="Text Box 15"/>
          <p:cNvSpPr txBox="1">
            <a:spLocks noChangeArrowheads="1"/>
          </p:cNvSpPr>
          <p:nvPr/>
        </p:nvSpPr>
        <p:spPr bwMode="auto">
          <a:xfrm>
            <a:off x="1352550" y="4229099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Payment</a:t>
            </a:r>
          </a:p>
        </p:txBody>
      </p:sp>
      <p:sp>
        <p:nvSpPr>
          <p:cNvPr id="48" name="Oval 16"/>
          <p:cNvSpPr>
            <a:spLocks noChangeArrowheads="1"/>
          </p:cNvSpPr>
          <p:nvPr/>
        </p:nvSpPr>
        <p:spPr bwMode="auto">
          <a:xfrm>
            <a:off x="2762250" y="3505199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9" name="Oval 17"/>
          <p:cNvSpPr>
            <a:spLocks noChangeArrowheads="1"/>
          </p:cNvSpPr>
          <p:nvPr/>
        </p:nvSpPr>
        <p:spPr bwMode="auto">
          <a:xfrm>
            <a:off x="6369050" y="3505199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0" name="Oval 18"/>
          <p:cNvSpPr>
            <a:spLocks noChangeArrowheads="1"/>
          </p:cNvSpPr>
          <p:nvPr/>
        </p:nvSpPr>
        <p:spPr bwMode="auto">
          <a:xfrm>
            <a:off x="7029450" y="4140199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1" name="Oval 20"/>
          <p:cNvSpPr>
            <a:spLocks noChangeArrowheads="1"/>
          </p:cNvSpPr>
          <p:nvPr/>
        </p:nvSpPr>
        <p:spPr bwMode="auto">
          <a:xfrm>
            <a:off x="2762250" y="3047999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1.1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Record Order</a:t>
            </a:r>
          </a:p>
        </p:txBody>
      </p:sp>
      <p:cxnSp>
        <p:nvCxnSpPr>
          <p:cNvPr id="52" name="AutoShape 21"/>
          <p:cNvCxnSpPr>
            <a:cxnSpLocks noChangeShapeType="1"/>
            <a:stCxn id="51" idx="6"/>
            <a:endCxn id="55" idx="1"/>
          </p:cNvCxnSpPr>
          <p:nvPr/>
        </p:nvCxnSpPr>
        <p:spPr bwMode="auto">
          <a:xfrm flipV="1">
            <a:off x="3686175" y="3046412"/>
            <a:ext cx="447675" cy="458787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" name="AutoShape 22"/>
          <p:cNvCxnSpPr>
            <a:cxnSpLocks noChangeShapeType="1"/>
            <a:stCxn id="47" idx="2"/>
            <a:endCxn id="59" idx="2"/>
          </p:cNvCxnSpPr>
          <p:nvPr/>
        </p:nvCxnSpPr>
        <p:spPr bwMode="auto">
          <a:xfrm rot="16200000" flipH="1">
            <a:off x="2221707" y="4421980"/>
            <a:ext cx="457200" cy="604837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" name="Text Box 23"/>
          <p:cNvSpPr txBox="1">
            <a:spLocks noChangeArrowheads="1"/>
          </p:cNvSpPr>
          <p:nvPr/>
        </p:nvSpPr>
        <p:spPr bwMode="auto">
          <a:xfrm>
            <a:off x="1695450" y="2590799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Customer Order</a:t>
            </a:r>
          </a:p>
        </p:txBody>
      </p:sp>
      <p:sp>
        <p:nvSpPr>
          <p:cNvPr id="55" name="Rectangle 25" descr="DataStore"/>
          <p:cNvSpPr>
            <a:spLocks noChangeArrowheads="1"/>
          </p:cNvSpPr>
          <p:nvPr/>
        </p:nvSpPr>
        <p:spPr bwMode="auto">
          <a:xfrm>
            <a:off x="4133850" y="2895599"/>
            <a:ext cx="914400" cy="3016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ORDER</a:t>
            </a:r>
          </a:p>
        </p:txBody>
      </p:sp>
      <p:cxnSp>
        <p:nvCxnSpPr>
          <p:cNvPr id="56" name="AutoShape 26"/>
          <p:cNvCxnSpPr>
            <a:cxnSpLocks noChangeShapeType="1"/>
            <a:stCxn id="55" idx="2"/>
            <a:endCxn id="59" idx="7"/>
          </p:cNvCxnSpPr>
          <p:nvPr/>
        </p:nvCxnSpPr>
        <p:spPr bwMode="auto">
          <a:xfrm flipH="1">
            <a:off x="3543300" y="3197224"/>
            <a:ext cx="1047750" cy="142240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8" name="AutoShape 27"/>
          <p:cNvCxnSpPr>
            <a:cxnSpLocks noChangeShapeType="1"/>
            <a:stCxn id="54" idx="2"/>
            <a:endCxn id="51" idx="2"/>
          </p:cNvCxnSpPr>
          <p:nvPr/>
        </p:nvCxnSpPr>
        <p:spPr bwMode="auto">
          <a:xfrm rot="16200000" flipH="1">
            <a:off x="2297907" y="3050380"/>
            <a:ext cx="647700" cy="261937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" name="Oval 28"/>
          <p:cNvSpPr>
            <a:spLocks noChangeArrowheads="1"/>
          </p:cNvSpPr>
          <p:nvPr/>
        </p:nvSpPr>
        <p:spPr bwMode="auto">
          <a:xfrm>
            <a:off x="2762250" y="4495799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1.2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Receive Payment</a:t>
            </a:r>
          </a:p>
        </p:txBody>
      </p:sp>
      <p:sp>
        <p:nvSpPr>
          <p:cNvPr id="60" name="Rectangle 29" descr="DataStore"/>
          <p:cNvSpPr>
            <a:spLocks noChangeArrowheads="1"/>
          </p:cNvSpPr>
          <p:nvPr/>
        </p:nvSpPr>
        <p:spPr bwMode="auto">
          <a:xfrm>
            <a:off x="4133850" y="4800599"/>
            <a:ext cx="914400" cy="3016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PAYMENT</a:t>
            </a:r>
          </a:p>
        </p:txBody>
      </p:sp>
      <p:cxnSp>
        <p:nvCxnSpPr>
          <p:cNvPr id="61" name="AutoShape 30"/>
          <p:cNvCxnSpPr>
            <a:cxnSpLocks noChangeShapeType="1"/>
            <a:stCxn id="59" idx="6"/>
            <a:endCxn id="60" idx="1"/>
          </p:cNvCxnSpPr>
          <p:nvPr/>
        </p:nvCxnSpPr>
        <p:spPr bwMode="auto">
          <a:xfrm flipV="1">
            <a:off x="3686175" y="4951412"/>
            <a:ext cx="447675" cy="1587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2" name="Text Box 31"/>
          <p:cNvSpPr txBox="1">
            <a:spLocks noChangeArrowheads="1"/>
          </p:cNvSpPr>
          <p:nvPr/>
        </p:nvSpPr>
        <p:spPr bwMode="auto">
          <a:xfrm>
            <a:off x="3981450" y="3962399"/>
            <a:ext cx="12954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Severed Order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>
            <a:off x="5505450" y="2819399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Request for Forecast</a:t>
            </a:r>
          </a:p>
        </p:txBody>
      </p:sp>
      <p:cxnSp>
        <p:nvCxnSpPr>
          <p:cNvPr id="64" name="AutoShape 33"/>
          <p:cNvCxnSpPr>
            <a:cxnSpLocks noChangeShapeType="1"/>
            <a:stCxn id="63" idx="2"/>
            <a:endCxn id="43" idx="0"/>
          </p:cNvCxnSpPr>
          <p:nvPr/>
        </p:nvCxnSpPr>
        <p:spPr bwMode="auto">
          <a:xfrm rot="5400000">
            <a:off x="5774531" y="3045618"/>
            <a:ext cx="485775" cy="566738"/>
          </a:xfrm>
          <a:prstGeom prst="curvedConnector3">
            <a:avLst>
              <a:gd name="adj1" fmla="val 50981"/>
            </a:avLst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" name="Rectangle 34" descr="DataStore"/>
          <p:cNvSpPr>
            <a:spLocks noChangeArrowheads="1"/>
          </p:cNvSpPr>
          <p:nvPr/>
        </p:nvSpPr>
        <p:spPr bwMode="auto">
          <a:xfrm>
            <a:off x="4133850" y="2285999"/>
            <a:ext cx="914400" cy="3016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 dirty="0">
                <a:latin typeface="Arial Narrow" pitchFamily="34" charset="0"/>
              </a:rPr>
              <a:t>CUSTOMER</a:t>
            </a:r>
          </a:p>
        </p:txBody>
      </p:sp>
      <p:cxnSp>
        <p:nvCxnSpPr>
          <p:cNvPr id="66" name="AutoShape 35"/>
          <p:cNvCxnSpPr>
            <a:cxnSpLocks noChangeShapeType="1"/>
            <a:stCxn id="65" idx="1"/>
            <a:endCxn id="51" idx="0"/>
          </p:cNvCxnSpPr>
          <p:nvPr/>
        </p:nvCxnSpPr>
        <p:spPr bwMode="auto">
          <a:xfrm flipH="1">
            <a:off x="3219450" y="2436812"/>
            <a:ext cx="914400" cy="60166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87" name="Group 2"/>
          <p:cNvGrpSpPr>
            <a:grpSpLocks/>
          </p:cNvGrpSpPr>
          <p:nvPr/>
        </p:nvGrpSpPr>
        <p:grpSpPr bwMode="auto">
          <a:xfrm>
            <a:off x="6553200" y="4953000"/>
            <a:ext cx="2438400" cy="1828800"/>
            <a:chOff x="3648" y="2640"/>
            <a:chExt cx="2112" cy="1680"/>
          </a:xfrm>
        </p:grpSpPr>
        <p:pic>
          <p:nvPicPr>
            <p:cNvPr id="88" name="Picture 3" descr="j0246119"/>
            <p:cNvPicPr>
              <a:picLocks noChangeAspect="1" noChangeArrowheads="1"/>
            </p:cNvPicPr>
            <p:nvPr/>
          </p:nvPicPr>
          <p:blipFill>
            <a:blip r:embed="rId3" cstate="print">
              <a:lum bright="46000" contrast="-58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3609"/>
              <a:ext cx="1183" cy="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4" descr="j0113008"/>
            <p:cNvPicPr>
              <a:picLocks noChangeAspect="1" noChangeArrowheads="1"/>
            </p:cNvPicPr>
            <p:nvPr/>
          </p:nvPicPr>
          <p:blipFill>
            <a:blip r:embed="rId4" cstate="print">
              <a:lum bright="46000" contrast="-58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2640"/>
              <a:ext cx="779" cy="1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5" descr="EN00275_"/>
            <p:cNvPicPr>
              <a:picLocks noChangeAspect="1" noChangeArrowheads="1"/>
            </p:cNvPicPr>
            <p:nvPr/>
          </p:nvPicPr>
          <p:blipFill>
            <a:blip r:embed="rId5" cstate="print">
              <a:lum bright="46000" contrast="-58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0" y="3403"/>
              <a:ext cx="1100" cy="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1" name="Picture 2" descr="j0113060"/>
          <p:cNvPicPr>
            <a:picLocks noChangeAspect="1" noChangeArrowheads="1"/>
          </p:cNvPicPr>
          <p:nvPr/>
        </p:nvPicPr>
        <p:blipFill>
          <a:blip r:embed="rId6" cstate="print">
            <a:lum bright="52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29438" y="785018"/>
            <a:ext cx="2214562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84175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2763822" y="1219200"/>
            <a:ext cx="3287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Level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1, Process 2 and Process 3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7" name="Oval 11"/>
          <p:cNvSpPr>
            <a:spLocks noChangeArrowheads="1"/>
          </p:cNvSpPr>
          <p:nvPr/>
        </p:nvSpPr>
        <p:spPr bwMode="auto">
          <a:xfrm>
            <a:off x="1304119" y="3044825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" name="Oval 14"/>
          <p:cNvSpPr>
            <a:spLocks noChangeArrowheads="1"/>
          </p:cNvSpPr>
          <p:nvPr/>
        </p:nvSpPr>
        <p:spPr bwMode="auto">
          <a:xfrm>
            <a:off x="1323169" y="2587625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Serve Product</a:t>
            </a:r>
          </a:p>
        </p:txBody>
      </p:sp>
      <p:cxnSp>
        <p:nvCxnSpPr>
          <p:cNvPr id="30" name="AutoShape 15"/>
          <p:cNvCxnSpPr>
            <a:cxnSpLocks noChangeShapeType="1"/>
            <a:stCxn id="33" idx="1"/>
            <a:endCxn id="29" idx="7"/>
          </p:cNvCxnSpPr>
          <p:nvPr/>
        </p:nvCxnSpPr>
        <p:spPr bwMode="auto">
          <a:xfrm flipH="1">
            <a:off x="2104219" y="2586038"/>
            <a:ext cx="723900" cy="12541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1" name="AutoShape 16"/>
          <p:cNvCxnSpPr>
            <a:cxnSpLocks noChangeShapeType="1"/>
            <a:endCxn id="36" idx="2"/>
          </p:cNvCxnSpPr>
          <p:nvPr/>
        </p:nvCxnSpPr>
        <p:spPr bwMode="auto">
          <a:xfrm rot="16200000" flipH="1">
            <a:off x="861207" y="3887787"/>
            <a:ext cx="533400" cy="371475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237319" y="2130425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Product Order</a:t>
            </a:r>
          </a:p>
        </p:txBody>
      </p:sp>
      <p:sp>
        <p:nvSpPr>
          <p:cNvPr id="33" name="Rectangle 18" descr="DataStore"/>
          <p:cNvSpPr>
            <a:spLocks noChangeArrowheads="1"/>
          </p:cNvSpPr>
          <p:nvPr/>
        </p:nvSpPr>
        <p:spPr bwMode="auto">
          <a:xfrm>
            <a:off x="2828119" y="2435225"/>
            <a:ext cx="914400" cy="3016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ORDER</a:t>
            </a:r>
          </a:p>
        </p:txBody>
      </p:sp>
      <p:cxnSp>
        <p:nvCxnSpPr>
          <p:cNvPr id="34" name="AutoShape 19"/>
          <p:cNvCxnSpPr>
            <a:cxnSpLocks noChangeShapeType="1"/>
            <a:stCxn id="29" idx="5"/>
            <a:endCxn id="33" idx="2"/>
          </p:cNvCxnSpPr>
          <p:nvPr/>
        </p:nvCxnSpPr>
        <p:spPr bwMode="auto">
          <a:xfrm flipV="1">
            <a:off x="2104219" y="2736850"/>
            <a:ext cx="1181100" cy="6413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" name="AutoShape 20"/>
          <p:cNvCxnSpPr>
            <a:cxnSpLocks noChangeShapeType="1"/>
            <a:stCxn id="32" idx="2"/>
            <a:endCxn id="29" idx="2"/>
          </p:cNvCxnSpPr>
          <p:nvPr/>
        </p:nvCxnSpPr>
        <p:spPr bwMode="auto">
          <a:xfrm rot="16200000" flipH="1">
            <a:off x="849301" y="2580481"/>
            <a:ext cx="647700" cy="280987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" name="Oval 21"/>
          <p:cNvSpPr>
            <a:spLocks noChangeArrowheads="1"/>
          </p:cNvSpPr>
          <p:nvPr/>
        </p:nvSpPr>
        <p:spPr bwMode="auto">
          <a:xfrm>
            <a:off x="1323169" y="3883025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Produce Product</a:t>
            </a:r>
          </a:p>
        </p:txBody>
      </p:sp>
      <p:sp>
        <p:nvSpPr>
          <p:cNvPr id="37" name="Rectangle 22" descr="DataStore"/>
          <p:cNvSpPr>
            <a:spLocks noChangeArrowheads="1"/>
          </p:cNvSpPr>
          <p:nvPr/>
        </p:nvSpPr>
        <p:spPr bwMode="auto">
          <a:xfrm>
            <a:off x="2828119" y="4721225"/>
            <a:ext cx="914400" cy="3016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INVENTORTY</a:t>
            </a:r>
          </a:p>
        </p:txBody>
      </p:sp>
      <p:cxnSp>
        <p:nvCxnSpPr>
          <p:cNvPr id="38" name="AutoShape 23"/>
          <p:cNvCxnSpPr>
            <a:cxnSpLocks noChangeShapeType="1"/>
            <a:stCxn id="36" idx="6"/>
            <a:endCxn id="41" idx="2"/>
          </p:cNvCxnSpPr>
          <p:nvPr/>
        </p:nvCxnSpPr>
        <p:spPr bwMode="auto">
          <a:xfrm flipV="1">
            <a:off x="2247094" y="3879850"/>
            <a:ext cx="1114425" cy="46037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9" name="Text Box 24"/>
          <p:cNvSpPr txBox="1">
            <a:spLocks noChangeArrowheads="1"/>
          </p:cNvSpPr>
          <p:nvPr/>
        </p:nvSpPr>
        <p:spPr bwMode="auto">
          <a:xfrm>
            <a:off x="2675719" y="2968625"/>
            <a:ext cx="12954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Quantity Severed</a:t>
            </a:r>
          </a:p>
        </p:txBody>
      </p:sp>
      <p:sp>
        <p:nvSpPr>
          <p:cNvPr id="40" name="Text Box 25"/>
          <p:cNvSpPr txBox="1">
            <a:spLocks noChangeArrowheads="1"/>
          </p:cNvSpPr>
          <p:nvPr/>
        </p:nvSpPr>
        <p:spPr bwMode="auto">
          <a:xfrm>
            <a:off x="389719" y="3654425"/>
            <a:ext cx="10668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Production</a:t>
            </a:r>
            <a:br>
              <a:rPr lang="en-US" sz="1400">
                <a:latin typeface="Arial Narrow" pitchFamily="34" charset="0"/>
              </a:rPr>
            </a:br>
            <a:r>
              <a:rPr lang="en-US" sz="1400">
                <a:latin typeface="Arial Narrow" pitchFamily="34" charset="0"/>
              </a:rPr>
              <a:t> Schedule</a:t>
            </a:r>
          </a:p>
        </p:txBody>
      </p:sp>
      <p:sp>
        <p:nvSpPr>
          <p:cNvPr id="41" name="Rectangle 26" descr="DataStore"/>
          <p:cNvSpPr>
            <a:spLocks noChangeArrowheads="1"/>
          </p:cNvSpPr>
          <p:nvPr/>
        </p:nvSpPr>
        <p:spPr bwMode="auto">
          <a:xfrm>
            <a:off x="2828119" y="3502025"/>
            <a:ext cx="1066800" cy="377825"/>
          </a:xfrm>
          <a:prstGeom prst="rect">
            <a:avLst/>
          </a:prstGeom>
          <a:blipFill dpi="0" rotWithShape="0">
            <a:blip r:embed="rId3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RAW MATERIALS</a:t>
            </a:r>
          </a:p>
        </p:txBody>
      </p:sp>
      <p:cxnSp>
        <p:nvCxnSpPr>
          <p:cNvPr id="67" name="AutoShape 27"/>
          <p:cNvCxnSpPr>
            <a:cxnSpLocks noChangeShapeType="1"/>
            <a:stCxn id="41" idx="1"/>
            <a:endCxn id="36" idx="0"/>
          </p:cNvCxnSpPr>
          <p:nvPr/>
        </p:nvCxnSpPr>
        <p:spPr bwMode="auto">
          <a:xfrm flipH="1">
            <a:off x="1780369" y="3690938"/>
            <a:ext cx="1047750" cy="18256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8" name="Oval 28"/>
          <p:cNvSpPr>
            <a:spLocks noChangeArrowheads="1"/>
          </p:cNvSpPr>
          <p:nvPr/>
        </p:nvSpPr>
        <p:spPr bwMode="auto">
          <a:xfrm>
            <a:off x="1323169" y="5254625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2.3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Store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Product</a:t>
            </a:r>
          </a:p>
        </p:txBody>
      </p:sp>
      <p:cxnSp>
        <p:nvCxnSpPr>
          <p:cNvPr id="69" name="AutoShape 29"/>
          <p:cNvCxnSpPr>
            <a:cxnSpLocks noChangeShapeType="1"/>
            <a:stCxn id="68" idx="6"/>
            <a:endCxn id="37" idx="2"/>
          </p:cNvCxnSpPr>
          <p:nvPr/>
        </p:nvCxnSpPr>
        <p:spPr bwMode="auto">
          <a:xfrm flipV="1">
            <a:off x="2247094" y="5022850"/>
            <a:ext cx="1038225" cy="68897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0" name="Text Box 30"/>
          <p:cNvSpPr txBox="1">
            <a:spLocks noChangeArrowheads="1"/>
          </p:cNvSpPr>
          <p:nvPr/>
        </p:nvSpPr>
        <p:spPr bwMode="auto">
          <a:xfrm>
            <a:off x="2599519" y="5521325"/>
            <a:ext cx="1600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Quantity Produced &amp; Location Stored</a:t>
            </a:r>
          </a:p>
        </p:txBody>
      </p:sp>
      <p:sp>
        <p:nvSpPr>
          <p:cNvPr id="71" name="Text Box 31"/>
          <p:cNvSpPr txBox="1">
            <a:spLocks noChangeArrowheads="1"/>
          </p:cNvSpPr>
          <p:nvPr/>
        </p:nvSpPr>
        <p:spPr bwMode="auto">
          <a:xfrm>
            <a:off x="2523319" y="4187825"/>
            <a:ext cx="1600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Quantity Used</a:t>
            </a:r>
          </a:p>
        </p:txBody>
      </p:sp>
      <p:cxnSp>
        <p:nvCxnSpPr>
          <p:cNvPr id="72" name="AutoShape 32"/>
          <p:cNvCxnSpPr>
            <a:cxnSpLocks noChangeShapeType="1"/>
            <a:stCxn id="36" idx="4"/>
            <a:endCxn id="68" idx="0"/>
          </p:cNvCxnSpPr>
          <p:nvPr/>
        </p:nvCxnSpPr>
        <p:spPr bwMode="auto">
          <a:xfrm>
            <a:off x="1780369" y="4806950"/>
            <a:ext cx="0" cy="4381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3" name="Rectangle 33"/>
          <p:cNvSpPr>
            <a:spLocks noChangeArrowheads="1"/>
          </p:cNvSpPr>
          <p:nvPr/>
        </p:nvSpPr>
        <p:spPr bwMode="auto">
          <a:xfrm>
            <a:off x="923119" y="4873625"/>
            <a:ext cx="1312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>
                <a:latin typeface="Arial Narrow" pitchFamily="34" charset="0"/>
              </a:rPr>
              <a:t>Production   Data</a:t>
            </a:r>
          </a:p>
        </p:txBody>
      </p:sp>
      <p:sp>
        <p:nvSpPr>
          <p:cNvPr id="74" name="Oval 13"/>
          <p:cNvSpPr>
            <a:spLocks noChangeArrowheads="1"/>
          </p:cNvSpPr>
          <p:nvPr/>
        </p:nvSpPr>
        <p:spPr bwMode="auto">
          <a:xfrm>
            <a:off x="5578566" y="41973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" name="Oval 14"/>
          <p:cNvSpPr>
            <a:spLocks noChangeArrowheads="1"/>
          </p:cNvSpPr>
          <p:nvPr/>
        </p:nvSpPr>
        <p:spPr bwMode="auto">
          <a:xfrm>
            <a:off x="5578566" y="48577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" name="Oval 17"/>
          <p:cNvSpPr>
            <a:spLocks noChangeArrowheads="1"/>
          </p:cNvSpPr>
          <p:nvPr/>
        </p:nvSpPr>
        <p:spPr bwMode="auto">
          <a:xfrm>
            <a:off x="5578566" y="288925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" name="Oval 19"/>
          <p:cNvSpPr>
            <a:spLocks noChangeArrowheads="1"/>
          </p:cNvSpPr>
          <p:nvPr/>
        </p:nvSpPr>
        <p:spPr bwMode="auto">
          <a:xfrm>
            <a:off x="5426166" y="220345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Produce Purchase Order</a:t>
            </a:r>
          </a:p>
        </p:txBody>
      </p:sp>
      <p:cxnSp>
        <p:nvCxnSpPr>
          <p:cNvPr id="78" name="AutoShape 20"/>
          <p:cNvCxnSpPr>
            <a:cxnSpLocks noChangeShapeType="1"/>
            <a:stCxn id="85" idx="2"/>
            <a:endCxn id="83" idx="2"/>
          </p:cNvCxnSpPr>
          <p:nvPr/>
        </p:nvCxnSpPr>
        <p:spPr bwMode="auto">
          <a:xfrm rot="16200000" flipH="1">
            <a:off x="4970554" y="3662362"/>
            <a:ext cx="368300" cy="523875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9" name="Text Box 21"/>
          <p:cNvSpPr txBox="1">
            <a:spLocks noChangeArrowheads="1"/>
          </p:cNvSpPr>
          <p:nvPr/>
        </p:nvSpPr>
        <p:spPr bwMode="auto">
          <a:xfrm>
            <a:off x="4206966" y="197485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Order Decision</a:t>
            </a:r>
          </a:p>
        </p:txBody>
      </p:sp>
      <p:sp>
        <p:nvSpPr>
          <p:cNvPr id="80" name="Rectangle 22" descr="DataStore"/>
          <p:cNvSpPr>
            <a:spLocks noChangeArrowheads="1"/>
          </p:cNvSpPr>
          <p:nvPr/>
        </p:nvSpPr>
        <p:spPr bwMode="auto">
          <a:xfrm>
            <a:off x="7178766" y="2127250"/>
            <a:ext cx="990600" cy="377825"/>
          </a:xfrm>
          <a:prstGeom prst="rect">
            <a:avLst/>
          </a:prstGeom>
          <a:blipFill dpi="0" rotWithShape="0">
            <a:blip r:embed="rId4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PURCHASE ORDER</a:t>
            </a:r>
          </a:p>
        </p:txBody>
      </p:sp>
      <p:cxnSp>
        <p:nvCxnSpPr>
          <p:cNvPr id="81" name="AutoShape 23"/>
          <p:cNvCxnSpPr>
            <a:cxnSpLocks noChangeShapeType="1"/>
            <a:stCxn id="77" idx="6"/>
            <a:endCxn id="80" idx="1"/>
          </p:cNvCxnSpPr>
          <p:nvPr/>
        </p:nvCxnSpPr>
        <p:spPr bwMode="auto">
          <a:xfrm flipV="1">
            <a:off x="6350091" y="2316163"/>
            <a:ext cx="828675" cy="344487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82" name="AutoShape 24"/>
          <p:cNvCxnSpPr>
            <a:cxnSpLocks noChangeShapeType="1"/>
            <a:stCxn id="79" idx="2"/>
            <a:endCxn id="77" idx="2"/>
          </p:cNvCxnSpPr>
          <p:nvPr/>
        </p:nvCxnSpPr>
        <p:spPr bwMode="auto">
          <a:xfrm rot="16200000" flipH="1">
            <a:off x="4999923" y="2243931"/>
            <a:ext cx="419100" cy="414337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3" name="Oval 25"/>
          <p:cNvSpPr>
            <a:spLocks noChangeArrowheads="1"/>
          </p:cNvSpPr>
          <p:nvPr/>
        </p:nvSpPr>
        <p:spPr bwMode="auto">
          <a:xfrm>
            <a:off x="5426166" y="365125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Receive Items</a:t>
            </a:r>
          </a:p>
        </p:txBody>
      </p:sp>
      <p:cxnSp>
        <p:nvCxnSpPr>
          <p:cNvPr id="84" name="AutoShape 26"/>
          <p:cNvCxnSpPr>
            <a:cxnSpLocks noChangeShapeType="1"/>
            <a:stCxn id="83" idx="7"/>
            <a:endCxn id="86" idx="2"/>
          </p:cNvCxnSpPr>
          <p:nvPr/>
        </p:nvCxnSpPr>
        <p:spPr bwMode="auto">
          <a:xfrm flipV="1">
            <a:off x="6207216" y="3413125"/>
            <a:ext cx="1581150" cy="3619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5" name="Text Box 27"/>
          <p:cNvSpPr txBox="1">
            <a:spLocks noChangeArrowheads="1"/>
          </p:cNvSpPr>
          <p:nvPr/>
        </p:nvSpPr>
        <p:spPr bwMode="auto">
          <a:xfrm>
            <a:off x="4359366" y="3498850"/>
            <a:ext cx="10668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Received Goods</a:t>
            </a:r>
          </a:p>
        </p:txBody>
      </p:sp>
      <p:sp>
        <p:nvSpPr>
          <p:cNvPr id="86" name="Rectangle 28" descr="DataStore"/>
          <p:cNvSpPr>
            <a:spLocks noChangeArrowheads="1"/>
          </p:cNvSpPr>
          <p:nvPr/>
        </p:nvSpPr>
        <p:spPr bwMode="auto">
          <a:xfrm>
            <a:off x="7254966" y="3035300"/>
            <a:ext cx="1066800" cy="377825"/>
          </a:xfrm>
          <a:prstGeom prst="rect">
            <a:avLst/>
          </a:prstGeom>
          <a:blipFill dpi="0" rotWithShape="0">
            <a:blip r:embed="rId3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RAW MATERIALS</a:t>
            </a:r>
          </a:p>
        </p:txBody>
      </p:sp>
      <p:cxnSp>
        <p:nvCxnSpPr>
          <p:cNvPr id="87" name="AutoShape 29"/>
          <p:cNvCxnSpPr>
            <a:cxnSpLocks noChangeShapeType="1"/>
            <a:stCxn id="86" idx="1"/>
            <a:endCxn id="77" idx="5"/>
          </p:cNvCxnSpPr>
          <p:nvPr/>
        </p:nvCxnSpPr>
        <p:spPr bwMode="auto">
          <a:xfrm flipH="1" flipV="1">
            <a:off x="6207216" y="2994025"/>
            <a:ext cx="1047750" cy="230188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88" name="Oval 30"/>
          <p:cNvSpPr>
            <a:spLocks noChangeArrowheads="1"/>
          </p:cNvSpPr>
          <p:nvPr/>
        </p:nvSpPr>
        <p:spPr bwMode="auto">
          <a:xfrm>
            <a:off x="5426166" y="502285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3.3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Pay Vendor</a:t>
            </a:r>
          </a:p>
        </p:txBody>
      </p:sp>
      <p:cxnSp>
        <p:nvCxnSpPr>
          <p:cNvPr id="89" name="AutoShape 31"/>
          <p:cNvCxnSpPr>
            <a:cxnSpLocks noChangeShapeType="1"/>
            <a:stCxn id="94" idx="1"/>
            <a:endCxn id="88" idx="6"/>
          </p:cNvCxnSpPr>
          <p:nvPr/>
        </p:nvCxnSpPr>
        <p:spPr bwMode="auto">
          <a:xfrm flipH="1">
            <a:off x="6350091" y="5173663"/>
            <a:ext cx="1057275" cy="306387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0" name="Text Box 32"/>
          <p:cNvSpPr txBox="1">
            <a:spLocks noChangeArrowheads="1"/>
          </p:cNvSpPr>
          <p:nvPr/>
        </p:nvSpPr>
        <p:spPr bwMode="auto">
          <a:xfrm>
            <a:off x="5426166" y="3270250"/>
            <a:ext cx="14478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Quantity </a:t>
            </a:r>
            <a:br>
              <a:rPr lang="en-US" sz="1400">
                <a:latin typeface="Arial Narrow" pitchFamily="34" charset="0"/>
              </a:rPr>
            </a:br>
            <a:r>
              <a:rPr lang="en-US" sz="1400">
                <a:latin typeface="Arial Narrow" pitchFamily="34" charset="0"/>
              </a:rPr>
              <a:t> Received</a:t>
            </a:r>
          </a:p>
        </p:txBody>
      </p:sp>
      <p:cxnSp>
        <p:nvCxnSpPr>
          <p:cNvPr id="91" name="AutoShape 33"/>
          <p:cNvCxnSpPr>
            <a:cxnSpLocks noChangeShapeType="1"/>
            <a:stCxn id="83" idx="4"/>
            <a:endCxn id="88" idx="0"/>
          </p:cNvCxnSpPr>
          <p:nvPr/>
        </p:nvCxnSpPr>
        <p:spPr bwMode="auto">
          <a:xfrm>
            <a:off x="5883366" y="4575175"/>
            <a:ext cx="0" cy="4381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2" name="Text Box 34"/>
          <p:cNvSpPr txBox="1">
            <a:spLocks noChangeArrowheads="1"/>
          </p:cNvSpPr>
          <p:nvPr/>
        </p:nvSpPr>
        <p:spPr bwMode="auto">
          <a:xfrm>
            <a:off x="6111966" y="2736850"/>
            <a:ext cx="1600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Quantity On-Hand</a:t>
            </a:r>
          </a:p>
        </p:txBody>
      </p:sp>
      <p:sp>
        <p:nvSpPr>
          <p:cNvPr id="93" name="Rectangle 35" descr="DataStore"/>
          <p:cNvSpPr>
            <a:spLocks noChangeArrowheads="1"/>
          </p:cNvSpPr>
          <p:nvPr/>
        </p:nvSpPr>
        <p:spPr bwMode="auto">
          <a:xfrm>
            <a:off x="7407366" y="4325938"/>
            <a:ext cx="990600" cy="377825"/>
          </a:xfrm>
          <a:prstGeom prst="rect">
            <a:avLst/>
          </a:prstGeom>
          <a:blipFill dpi="0" rotWithShape="0">
            <a:blip r:embed="rId4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RECEIVED ITEMS</a:t>
            </a:r>
          </a:p>
        </p:txBody>
      </p:sp>
      <p:sp>
        <p:nvSpPr>
          <p:cNvPr id="94" name="Rectangle 36" descr="DataStore"/>
          <p:cNvSpPr>
            <a:spLocks noChangeArrowheads="1"/>
          </p:cNvSpPr>
          <p:nvPr/>
        </p:nvSpPr>
        <p:spPr bwMode="auto">
          <a:xfrm>
            <a:off x="7407366" y="5022850"/>
            <a:ext cx="914400" cy="3016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VENDOR</a:t>
            </a:r>
          </a:p>
        </p:txBody>
      </p:sp>
      <p:cxnSp>
        <p:nvCxnSpPr>
          <p:cNvPr id="95" name="AutoShape 37"/>
          <p:cNvCxnSpPr>
            <a:cxnSpLocks noChangeShapeType="1"/>
            <a:stCxn id="80" idx="3"/>
            <a:endCxn id="83" idx="6"/>
          </p:cNvCxnSpPr>
          <p:nvPr/>
        </p:nvCxnSpPr>
        <p:spPr bwMode="auto">
          <a:xfrm flipH="1">
            <a:off x="6350091" y="2316163"/>
            <a:ext cx="1819275" cy="1792287"/>
          </a:xfrm>
          <a:prstGeom prst="bentConnector3">
            <a:avLst>
              <a:gd name="adj1" fmla="val -31417"/>
            </a:avLst>
          </a:prstGeom>
          <a:noFill/>
          <a:ln w="15875">
            <a:solidFill>
              <a:srgbClr val="000000"/>
            </a:solidFill>
            <a:miter lim="800000"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6" name="AutoShape 38"/>
          <p:cNvCxnSpPr>
            <a:cxnSpLocks noChangeShapeType="1"/>
            <a:stCxn id="93" idx="1"/>
            <a:endCxn id="88" idx="7"/>
          </p:cNvCxnSpPr>
          <p:nvPr/>
        </p:nvCxnSpPr>
        <p:spPr bwMode="auto">
          <a:xfrm flipH="1">
            <a:off x="6207216" y="4514850"/>
            <a:ext cx="1200150" cy="63182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97" name="AutoShape 39"/>
          <p:cNvCxnSpPr>
            <a:cxnSpLocks noChangeShapeType="1"/>
            <a:stCxn id="83" idx="5"/>
            <a:endCxn id="93" idx="1"/>
          </p:cNvCxnSpPr>
          <p:nvPr/>
        </p:nvCxnSpPr>
        <p:spPr bwMode="auto">
          <a:xfrm>
            <a:off x="6207216" y="4441825"/>
            <a:ext cx="1200150" cy="73025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98" name="Text Box 40"/>
          <p:cNvSpPr txBox="1">
            <a:spLocks noChangeArrowheads="1"/>
          </p:cNvSpPr>
          <p:nvPr/>
        </p:nvSpPr>
        <p:spPr bwMode="auto">
          <a:xfrm>
            <a:off x="5229316" y="4630738"/>
            <a:ext cx="1600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Payment  Approval</a:t>
            </a:r>
          </a:p>
        </p:txBody>
      </p:sp>
      <p:sp>
        <p:nvSpPr>
          <p:cNvPr id="99" name="Text Box 41"/>
          <p:cNvSpPr txBox="1">
            <a:spLocks noChangeArrowheads="1"/>
          </p:cNvSpPr>
          <p:nvPr/>
        </p:nvSpPr>
        <p:spPr bwMode="auto">
          <a:xfrm>
            <a:off x="4283166" y="6089650"/>
            <a:ext cx="10668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Payment</a:t>
            </a:r>
          </a:p>
        </p:txBody>
      </p:sp>
      <p:cxnSp>
        <p:nvCxnSpPr>
          <p:cNvPr id="100" name="AutoShape 42"/>
          <p:cNvCxnSpPr>
            <a:cxnSpLocks noChangeShapeType="1"/>
            <a:stCxn id="88" idx="4"/>
            <a:endCxn id="99" idx="3"/>
          </p:cNvCxnSpPr>
          <p:nvPr/>
        </p:nvCxnSpPr>
        <p:spPr bwMode="auto">
          <a:xfrm rot="5400000">
            <a:off x="5484903" y="5811838"/>
            <a:ext cx="263525" cy="533400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" name="Straight Connector 2"/>
          <p:cNvCxnSpPr/>
          <p:nvPr/>
        </p:nvCxnSpPr>
        <p:spPr>
          <a:xfrm>
            <a:off x="4199719" y="1974850"/>
            <a:ext cx="0" cy="4194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50755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400">
        <p14:doors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3442081" y="1219200"/>
            <a:ext cx="1931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Level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  <a:latin typeface="+mj-lt"/>
              </a:rPr>
              <a:t>1, Process 4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7" name="Text Box 10"/>
          <p:cNvSpPr txBox="1">
            <a:spLocks noChangeArrowheads="1"/>
          </p:cNvSpPr>
          <p:nvPr/>
        </p:nvSpPr>
        <p:spPr bwMode="auto">
          <a:xfrm>
            <a:off x="2143125" y="179070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Time Worked</a:t>
            </a:r>
          </a:p>
        </p:txBody>
      </p:sp>
      <p:sp>
        <p:nvSpPr>
          <p:cNvPr id="28" name="Oval 15"/>
          <p:cNvSpPr>
            <a:spLocks noChangeArrowheads="1"/>
          </p:cNvSpPr>
          <p:nvPr/>
        </p:nvSpPr>
        <p:spPr bwMode="auto">
          <a:xfrm>
            <a:off x="3657600" y="412750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" name="Oval 16"/>
          <p:cNvSpPr>
            <a:spLocks noChangeArrowheads="1"/>
          </p:cNvSpPr>
          <p:nvPr/>
        </p:nvSpPr>
        <p:spPr bwMode="auto">
          <a:xfrm>
            <a:off x="3657600" y="478790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" name="Oval 17"/>
          <p:cNvSpPr>
            <a:spLocks noChangeArrowheads="1"/>
          </p:cNvSpPr>
          <p:nvPr/>
        </p:nvSpPr>
        <p:spPr bwMode="auto">
          <a:xfrm>
            <a:off x="3657600" y="281940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1" name="Oval 18"/>
          <p:cNvSpPr>
            <a:spLocks noChangeArrowheads="1"/>
          </p:cNvSpPr>
          <p:nvPr/>
        </p:nvSpPr>
        <p:spPr bwMode="auto">
          <a:xfrm>
            <a:off x="3505200" y="213360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Record Time Worked</a:t>
            </a:r>
          </a:p>
        </p:txBody>
      </p:sp>
      <p:cxnSp>
        <p:nvCxnSpPr>
          <p:cNvPr id="32" name="AutoShape 19"/>
          <p:cNvCxnSpPr>
            <a:cxnSpLocks noChangeShapeType="1"/>
            <a:stCxn id="38" idx="2"/>
            <a:endCxn id="36" idx="2"/>
          </p:cNvCxnSpPr>
          <p:nvPr/>
        </p:nvCxnSpPr>
        <p:spPr bwMode="auto">
          <a:xfrm rot="16200000" flipH="1">
            <a:off x="3043238" y="3586162"/>
            <a:ext cx="381000" cy="523875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3" name="Rectangle 20" descr="DataStore"/>
          <p:cNvSpPr>
            <a:spLocks noChangeArrowheads="1"/>
          </p:cNvSpPr>
          <p:nvPr/>
        </p:nvSpPr>
        <p:spPr bwMode="auto">
          <a:xfrm>
            <a:off x="5257800" y="2057400"/>
            <a:ext cx="990600" cy="3778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TIME CARDS</a:t>
            </a:r>
          </a:p>
        </p:txBody>
      </p:sp>
      <p:cxnSp>
        <p:nvCxnSpPr>
          <p:cNvPr id="34" name="AutoShape 21"/>
          <p:cNvCxnSpPr>
            <a:cxnSpLocks noChangeShapeType="1"/>
            <a:stCxn id="31" idx="6"/>
            <a:endCxn id="33" idx="1"/>
          </p:cNvCxnSpPr>
          <p:nvPr/>
        </p:nvCxnSpPr>
        <p:spPr bwMode="auto">
          <a:xfrm flipV="1">
            <a:off x="4429125" y="2246313"/>
            <a:ext cx="828675" cy="344487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35" name="AutoShape 22"/>
          <p:cNvCxnSpPr>
            <a:cxnSpLocks noChangeShapeType="1"/>
            <a:stCxn id="27" idx="2"/>
            <a:endCxn id="31" idx="2"/>
          </p:cNvCxnSpPr>
          <p:nvPr/>
        </p:nvCxnSpPr>
        <p:spPr bwMode="auto">
          <a:xfrm rot="16200000" flipH="1">
            <a:off x="2950369" y="2045494"/>
            <a:ext cx="533400" cy="557212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6" name="Oval 23"/>
          <p:cNvSpPr>
            <a:spLocks noChangeArrowheads="1"/>
          </p:cNvSpPr>
          <p:nvPr/>
        </p:nvSpPr>
        <p:spPr bwMode="auto">
          <a:xfrm>
            <a:off x="3505200" y="358140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Calculate Payroll</a:t>
            </a:r>
          </a:p>
        </p:txBody>
      </p:sp>
      <p:cxnSp>
        <p:nvCxnSpPr>
          <p:cNvPr id="37" name="AutoShape 24"/>
          <p:cNvCxnSpPr>
            <a:cxnSpLocks noChangeShapeType="1"/>
            <a:stCxn id="36" idx="7"/>
            <a:endCxn id="39" idx="2"/>
          </p:cNvCxnSpPr>
          <p:nvPr/>
        </p:nvCxnSpPr>
        <p:spPr bwMode="auto">
          <a:xfrm flipV="1">
            <a:off x="4286250" y="3343275"/>
            <a:ext cx="1581150" cy="3619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 type="stealth" w="lg" len="sm"/>
            <a:tailEnd type="none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38" name="Text Box 25"/>
          <p:cNvSpPr txBox="1">
            <a:spLocks noChangeArrowheads="1"/>
          </p:cNvSpPr>
          <p:nvPr/>
        </p:nvSpPr>
        <p:spPr bwMode="auto">
          <a:xfrm>
            <a:off x="2286000" y="3429000"/>
            <a:ext cx="1371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Payroll Request</a:t>
            </a:r>
          </a:p>
        </p:txBody>
      </p:sp>
      <p:sp>
        <p:nvSpPr>
          <p:cNvPr id="39" name="Rectangle 26" descr="DataStore"/>
          <p:cNvSpPr>
            <a:spLocks noChangeArrowheads="1"/>
          </p:cNvSpPr>
          <p:nvPr/>
        </p:nvSpPr>
        <p:spPr bwMode="auto">
          <a:xfrm>
            <a:off x="5334000" y="2965450"/>
            <a:ext cx="1066800" cy="377825"/>
          </a:xfrm>
          <a:prstGeom prst="rect">
            <a:avLst/>
          </a:prstGeom>
          <a:blipFill dpi="0" rotWithShape="0">
            <a:blip r:embed="rId3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EMPLOYEE</a:t>
            </a:r>
          </a:p>
        </p:txBody>
      </p:sp>
      <p:cxnSp>
        <p:nvCxnSpPr>
          <p:cNvPr id="40" name="AutoShape 27"/>
          <p:cNvCxnSpPr>
            <a:cxnSpLocks noChangeShapeType="1"/>
            <a:stCxn id="39" idx="1"/>
            <a:endCxn id="31" idx="5"/>
          </p:cNvCxnSpPr>
          <p:nvPr/>
        </p:nvCxnSpPr>
        <p:spPr bwMode="auto">
          <a:xfrm flipH="1" flipV="1">
            <a:off x="4286250" y="2924175"/>
            <a:ext cx="1047750" cy="230188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41" name="Oval 28"/>
          <p:cNvSpPr>
            <a:spLocks noChangeArrowheads="1"/>
          </p:cNvSpPr>
          <p:nvPr/>
        </p:nvSpPr>
        <p:spPr bwMode="auto">
          <a:xfrm>
            <a:off x="3505200" y="4953000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4.3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Pay Employee</a:t>
            </a:r>
          </a:p>
        </p:txBody>
      </p:sp>
      <p:cxnSp>
        <p:nvCxnSpPr>
          <p:cNvPr id="67" name="AutoShape 29"/>
          <p:cNvCxnSpPr>
            <a:cxnSpLocks noChangeShapeType="1"/>
            <a:stCxn id="41" idx="6"/>
            <a:endCxn id="71" idx="1"/>
          </p:cNvCxnSpPr>
          <p:nvPr/>
        </p:nvCxnSpPr>
        <p:spPr bwMode="auto">
          <a:xfrm>
            <a:off x="4429125" y="5410200"/>
            <a:ext cx="828675" cy="303213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8" name="AutoShape 30"/>
          <p:cNvCxnSpPr>
            <a:cxnSpLocks noChangeShapeType="1"/>
            <a:stCxn id="36" idx="4"/>
            <a:endCxn id="41" idx="0"/>
          </p:cNvCxnSpPr>
          <p:nvPr/>
        </p:nvCxnSpPr>
        <p:spPr bwMode="auto">
          <a:xfrm>
            <a:off x="3962400" y="4505325"/>
            <a:ext cx="0" cy="438150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9" name="Text Box 31"/>
          <p:cNvSpPr txBox="1">
            <a:spLocks noChangeArrowheads="1"/>
          </p:cNvSpPr>
          <p:nvPr/>
        </p:nvSpPr>
        <p:spPr bwMode="auto">
          <a:xfrm>
            <a:off x="4114800" y="2667000"/>
            <a:ext cx="1600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Employee ID</a:t>
            </a:r>
          </a:p>
        </p:txBody>
      </p:sp>
      <p:sp>
        <p:nvSpPr>
          <p:cNvPr id="70" name="Rectangle 32" descr="DataStore"/>
          <p:cNvSpPr>
            <a:spLocks noChangeArrowheads="1"/>
          </p:cNvSpPr>
          <p:nvPr/>
        </p:nvSpPr>
        <p:spPr bwMode="auto">
          <a:xfrm>
            <a:off x="5486400" y="4191000"/>
            <a:ext cx="990600" cy="377825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PAYROLL</a:t>
            </a:r>
          </a:p>
        </p:txBody>
      </p:sp>
      <p:sp>
        <p:nvSpPr>
          <p:cNvPr id="71" name="Rectangle 33" descr="DataStore"/>
          <p:cNvSpPr>
            <a:spLocks noChangeArrowheads="1"/>
          </p:cNvSpPr>
          <p:nvPr/>
        </p:nvSpPr>
        <p:spPr bwMode="auto">
          <a:xfrm>
            <a:off x="5257800" y="5562600"/>
            <a:ext cx="914400" cy="301625"/>
          </a:xfrm>
          <a:prstGeom prst="rect">
            <a:avLst/>
          </a:prstGeom>
          <a:blipFill dpi="0" rotWithShape="0">
            <a:blip r:embed="rId4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PAYMENTS</a:t>
            </a:r>
          </a:p>
        </p:txBody>
      </p:sp>
      <p:cxnSp>
        <p:nvCxnSpPr>
          <p:cNvPr id="72" name="AutoShape 34"/>
          <p:cNvCxnSpPr>
            <a:cxnSpLocks noChangeShapeType="1"/>
            <a:stCxn id="33" idx="3"/>
            <a:endCxn id="36" idx="6"/>
          </p:cNvCxnSpPr>
          <p:nvPr/>
        </p:nvCxnSpPr>
        <p:spPr bwMode="auto">
          <a:xfrm flipH="1">
            <a:off x="4429125" y="2246313"/>
            <a:ext cx="1819275" cy="1792287"/>
          </a:xfrm>
          <a:prstGeom prst="bentConnector3">
            <a:avLst>
              <a:gd name="adj1" fmla="val -31417"/>
            </a:avLst>
          </a:prstGeom>
          <a:noFill/>
          <a:ln w="15875">
            <a:solidFill>
              <a:srgbClr val="000000"/>
            </a:solidFill>
            <a:miter lim="800000"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3" name="AutoShape 35"/>
          <p:cNvCxnSpPr>
            <a:cxnSpLocks noChangeShapeType="1"/>
            <a:stCxn id="70" idx="1"/>
            <a:endCxn id="41" idx="7"/>
          </p:cNvCxnSpPr>
          <p:nvPr/>
        </p:nvCxnSpPr>
        <p:spPr bwMode="auto">
          <a:xfrm flipH="1">
            <a:off x="4286250" y="4379913"/>
            <a:ext cx="1200150" cy="696912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4" name="AutoShape 36"/>
          <p:cNvCxnSpPr>
            <a:cxnSpLocks noChangeShapeType="1"/>
            <a:stCxn id="36" idx="5"/>
            <a:endCxn id="70" idx="1"/>
          </p:cNvCxnSpPr>
          <p:nvPr/>
        </p:nvCxnSpPr>
        <p:spPr bwMode="auto">
          <a:xfrm>
            <a:off x="4286250" y="4371975"/>
            <a:ext cx="1200150" cy="7938"/>
          </a:xfrm>
          <a:prstGeom prst="straightConnector1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5" name="Text Box 37"/>
          <p:cNvSpPr txBox="1">
            <a:spLocks noChangeArrowheads="1"/>
          </p:cNvSpPr>
          <p:nvPr/>
        </p:nvSpPr>
        <p:spPr bwMode="auto">
          <a:xfrm>
            <a:off x="3308350" y="4560888"/>
            <a:ext cx="16002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>
                <a:latin typeface="Arial Narrow" pitchFamily="34" charset="0"/>
              </a:rPr>
              <a:t>Payment  Approval</a:t>
            </a:r>
          </a:p>
        </p:txBody>
      </p:sp>
      <p:sp>
        <p:nvSpPr>
          <p:cNvPr id="76" name="Text Box 38"/>
          <p:cNvSpPr txBox="1">
            <a:spLocks noChangeArrowheads="1"/>
          </p:cNvSpPr>
          <p:nvPr/>
        </p:nvSpPr>
        <p:spPr bwMode="auto">
          <a:xfrm>
            <a:off x="2286000" y="6019800"/>
            <a:ext cx="1066800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r" eaLnBrk="0" hangingPunct="0"/>
            <a:r>
              <a:rPr lang="en-US" sz="1400">
                <a:latin typeface="Arial Narrow" pitchFamily="34" charset="0"/>
              </a:rPr>
              <a:t>Payment</a:t>
            </a:r>
          </a:p>
        </p:txBody>
      </p:sp>
      <p:cxnSp>
        <p:nvCxnSpPr>
          <p:cNvPr id="77" name="AutoShape 39"/>
          <p:cNvCxnSpPr>
            <a:cxnSpLocks noChangeShapeType="1"/>
            <a:stCxn id="41" idx="4"/>
            <a:endCxn id="76" idx="3"/>
          </p:cNvCxnSpPr>
          <p:nvPr/>
        </p:nvCxnSpPr>
        <p:spPr bwMode="auto">
          <a:xfrm rot="5400000">
            <a:off x="3525837" y="5703888"/>
            <a:ext cx="263525" cy="609600"/>
          </a:xfrm>
          <a:prstGeom prst="curvedConnector2">
            <a:avLst/>
          </a:prstGeom>
          <a:noFill/>
          <a:ln w="15875">
            <a:solidFill>
              <a:srgbClr val="000000"/>
            </a:solidFill>
            <a:round/>
            <a:headEnd/>
            <a:tailEnd type="stealth" w="lg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8" name="Text Box 40"/>
          <p:cNvSpPr txBox="1">
            <a:spLocks noChangeArrowheads="1"/>
          </p:cNvSpPr>
          <p:nvPr/>
        </p:nvSpPr>
        <p:spPr bwMode="auto">
          <a:xfrm>
            <a:off x="5181600" y="3810000"/>
            <a:ext cx="1371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>
                <a:latin typeface="Arial Narrow" pitchFamily="34" charset="0"/>
              </a:rPr>
              <a:t>Unpaid time cards</a:t>
            </a:r>
          </a:p>
        </p:txBody>
      </p:sp>
      <p:pic>
        <p:nvPicPr>
          <p:cNvPr id="79" name="Picture 2" descr="BD06552_"/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934200" y="4605504"/>
            <a:ext cx="1792288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715074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9" descr="j0297517"/>
          <p:cNvPicPr>
            <a:picLocks noChangeAspect="1" noChangeArrowheads="1"/>
          </p:cNvPicPr>
          <p:nvPr/>
        </p:nvPicPr>
        <p:blipFill>
          <a:blip r:embed="rId2" cstate="print">
            <a:lum bright="80000" contrast="-8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4333" y="1066800"/>
            <a:ext cx="251142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Rectangle 56"/>
          <p:cNvSpPr/>
          <p:nvPr/>
        </p:nvSpPr>
        <p:spPr>
          <a:xfrm rot="16200000">
            <a:off x="-1743988" y="3285212"/>
            <a:ext cx="47320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Process Decomposition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pic>
        <p:nvPicPr>
          <p:cNvPr id="42" name="Picture 2" descr="j0198656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05133" y="772236"/>
            <a:ext cx="1333500" cy="146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3"/>
          <p:cNvGrpSpPr>
            <a:grpSpLocks/>
          </p:cNvGrpSpPr>
          <p:nvPr/>
        </p:nvGrpSpPr>
        <p:grpSpPr bwMode="auto">
          <a:xfrm>
            <a:off x="3895583" y="3515436"/>
            <a:ext cx="1752600" cy="1295400"/>
            <a:chOff x="3648" y="2640"/>
            <a:chExt cx="2112" cy="1680"/>
          </a:xfrm>
        </p:grpSpPr>
        <p:pic>
          <p:nvPicPr>
            <p:cNvPr id="44" name="Picture 4" descr="j0246119"/>
            <p:cNvPicPr>
              <a:picLocks noChangeAspect="1" noChangeArrowheads="1"/>
            </p:cNvPicPr>
            <p:nvPr/>
          </p:nvPicPr>
          <p:blipFill>
            <a:blip r:embed="rId4" cstate="print">
              <a:lum bright="46000" contrast="-58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3609"/>
              <a:ext cx="1183" cy="7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5" descr="j0113008"/>
            <p:cNvPicPr>
              <a:picLocks noChangeAspect="1" noChangeArrowheads="1"/>
            </p:cNvPicPr>
            <p:nvPr/>
          </p:nvPicPr>
          <p:blipFill>
            <a:blip r:embed="rId5" cstate="print">
              <a:lum bright="46000" contrast="-58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2640"/>
              <a:ext cx="779" cy="1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6" descr="EN00275_"/>
            <p:cNvPicPr>
              <a:picLocks noChangeAspect="1" noChangeArrowheads="1"/>
            </p:cNvPicPr>
            <p:nvPr/>
          </p:nvPicPr>
          <p:blipFill>
            <a:blip r:embed="rId6" cstate="print">
              <a:lum bright="46000" contrast="-58000"/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0" y="3403"/>
              <a:ext cx="1100" cy="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7" name="Picture 7" descr="BD06552_"/>
          <p:cNvPicPr>
            <a:picLocks noChangeAspect="1" noChangeArrowheads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76533" y="4963236"/>
            <a:ext cx="1792288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Oval 10"/>
          <p:cNvSpPr>
            <a:spLocks noChangeArrowheads="1"/>
          </p:cNvSpPr>
          <p:nvPr/>
        </p:nvSpPr>
        <p:spPr bwMode="auto">
          <a:xfrm>
            <a:off x="5362433" y="51156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Record Time Worked</a:t>
            </a:r>
          </a:p>
        </p:txBody>
      </p:sp>
      <p:sp>
        <p:nvSpPr>
          <p:cNvPr id="50" name="Oval 11"/>
          <p:cNvSpPr>
            <a:spLocks noChangeArrowheads="1"/>
          </p:cNvSpPr>
          <p:nvPr/>
        </p:nvSpPr>
        <p:spPr bwMode="auto">
          <a:xfrm>
            <a:off x="6429233" y="51156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Calculate Payroll</a:t>
            </a:r>
          </a:p>
        </p:txBody>
      </p:sp>
      <p:sp>
        <p:nvSpPr>
          <p:cNvPr id="51" name="Oval 12"/>
          <p:cNvSpPr>
            <a:spLocks noChangeArrowheads="1"/>
          </p:cNvSpPr>
          <p:nvPr/>
        </p:nvSpPr>
        <p:spPr bwMode="auto">
          <a:xfrm>
            <a:off x="7496033" y="51156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4.3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Pay Employee</a:t>
            </a:r>
          </a:p>
        </p:txBody>
      </p:sp>
      <p:sp>
        <p:nvSpPr>
          <p:cNvPr id="52" name="Oval 13"/>
          <p:cNvSpPr>
            <a:spLocks noChangeArrowheads="1"/>
          </p:cNvSpPr>
          <p:nvPr/>
        </p:nvSpPr>
        <p:spPr bwMode="auto">
          <a:xfrm>
            <a:off x="5362433" y="36678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Produce Purchase Order</a:t>
            </a:r>
          </a:p>
        </p:txBody>
      </p:sp>
      <p:sp>
        <p:nvSpPr>
          <p:cNvPr id="53" name="Oval 14"/>
          <p:cNvSpPr>
            <a:spLocks noChangeArrowheads="1"/>
          </p:cNvSpPr>
          <p:nvPr/>
        </p:nvSpPr>
        <p:spPr bwMode="auto">
          <a:xfrm>
            <a:off x="6429233" y="36678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Receive Items</a:t>
            </a:r>
          </a:p>
        </p:txBody>
      </p:sp>
      <p:sp>
        <p:nvSpPr>
          <p:cNvPr id="54" name="Oval 15"/>
          <p:cNvSpPr>
            <a:spLocks noChangeArrowheads="1"/>
          </p:cNvSpPr>
          <p:nvPr/>
        </p:nvSpPr>
        <p:spPr bwMode="auto">
          <a:xfrm>
            <a:off x="7496033" y="36678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3.3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Pay Vendor</a:t>
            </a:r>
          </a:p>
        </p:txBody>
      </p:sp>
      <p:sp>
        <p:nvSpPr>
          <p:cNvPr id="55" name="Oval 16"/>
          <p:cNvSpPr>
            <a:spLocks noChangeArrowheads="1"/>
          </p:cNvSpPr>
          <p:nvPr/>
        </p:nvSpPr>
        <p:spPr bwMode="auto">
          <a:xfrm>
            <a:off x="5362433" y="22962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Serve Product</a:t>
            </a:r>
          </a:p>
        </p:txBody>
      </p:sp>
      <p:sp>
        <p:nvSpPr>
          <p:cNvPr id="56" name="Oval 17"/>
          <p:cNvSpPr>
            <a:spLocks noChangeArrowheads="1"/>
          </p:cNvSpPr>
          <p:nvPr/>
        </p:nvSpPr>
        <p:spPr bwMode="auto">
          <a:xfrm>
            <a:off x="6429233" y="22962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Produce Product</a:t>
            </a:r>
          </a:p>
        </p:txBody>
      </p:sp>
      <p:sp>
        <p:nvSpPr>
          <p:cNvPr id="58" name="Oval 18"/>
          <p:cNvSpPr>
            <a:spLocks noChangeArrowheads="1"/>
          </p:cNvSpPr>
          <p:nvPr/>
        </p:nvSpPr>
        <p:spPr bwMode="auto">
          <a:xfrm>
            <a:off x="7496033" y="22962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2.3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Store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Product</a:t>
            </a:r>
          </a:p>
        </p:txBody>
      </p:sp>
      <p:sp>
        <p:nvSpPr>
          <p:cNvPr id="59" name="Oval 19"/>
          <p:cNvSpPr>
            <a:spLocks noChangeArrowheads="1"/>
          </p:cNvSpPr>
          <p:nvPr/>
        </p:nvSpPr>
        <p:spPr bwMode="auto">
          <a:xfrm>
            <a:off x="5362433" y="10008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1.1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Record Order</a:t>
            </a:r>
          </a:p>
        </p:txBody>
      </p:sp>
      <p:sp>
        <p:nvSpPr>
          <p:cNvPr id="60" name="Oval 20"/>
          <p:cNvSpPr>
            <a:spLocks noChangeArrowheads="1"/>
          </p:cNvSpPr>
          <p:nvPr/>
        </p:nvSpPr>
        <p:spPr bwMode="auto">
          <a:xfrm>
            <a:off x="6429233" y="10008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1.2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Receive Payment</a:t>
            </a:r>
          </a:p>
        </p:txBody>
      </p:sp>
      <p:sp>
        <p:nvSpPr>
          <p:cNvPr id="61" name="Oval 21"/>
          <p:cNvSpPr>
            <a:spLocks noChangeArrowheads="1"/>
          </p:cNvSpPr>
          <p:nvPr/>
        </p:nvSpPr>
        <p:spPr bwMode="auto">
          <a:xfrm>
            <a:off x="3228833" y="22962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288" rIns="18288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2.0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Production</a:t>
            </a:r>
          </a:p>
        </p:txBody>
      </p:sp>
      <p:sp>
        <p:nvSpPr>
          <p:cNvPr id="62" name="Oval 22"/>
          <p:cNvSpPr>
            <a:spLocks noChangeArrowheads="1"/>
          </p:cNvSpPr>
          <p:nvPr/>
        </p:nvSpPr>
        <p:spPr bwMode="auto">
          <a:xfrm>
            <a:off x="3228833" y="10008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288" rIns="18288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1.0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Sale</a:t>
            </a:r>
          </a:p>
        </p:txBody>
      </p:sp>
      <p:sp>
        <p:nvSpPr>
          <p:cNvPr id="63" name="Oval 23"/>
          <p:cNvSpPr>
            <a:spLocks noChangeArrowheads="1"/>
          </p:cNvSpPr>
          <p:nvPr/>
        </p:nvSpPr>
        <p:spPr bwMode="auto">
          <a:xfrm>
            <a:off x="3228833" y="36678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3.0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Procure-ment</a:t>
            </a:r>
          </a:p>
        </p:txBody>
      </p:sp>
      <p:sp>
        <p:nvSpPr>
          <p:cNvPr id="64" name="Oval 24"/>
          <p:cNvSpPr>
            <a:spLocks noChangeArrowheads="1"/>
          </p:cNvSpPr>
          <p:nvPr/>
        </p:nvSpPr>
        <p:spPr bwMode="auto">
          <a:xfrm>
            <a:off x="3238358" y="51156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4.0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Payroll</a:t>
            </a:r>
          </a:p>
        </p:txBody>
      </p:sp>
      <p:sp>
        <p:nvSpPr>
          <p:cNvPr id="65" name="Oval 25"/>
          <p:cNvSpPr>
            <a:spLocks noChangeArrowheads="1"/>
          </p:cNvSpPr>
          <p:nvPr/>
        </p:nvSpPr>
        <p:spPr bwMode="auto">
          <a:xfrm>
            <a:off x="1095233" y="3134436"/>
            <a:ext cx="914400" cy="914400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8288" rIns="18288" anchor="ctr"/>
          <a:lstStyle/>
          <a:p>
            <a:pPr algn="ctr" eaLnBrk="0" hangingPunct="0"/>
            <a:r>
              <a:rPr lang="en-US" sz="1200" u="sng">
                <a:latin typeface="Arial Narrow" pitchFamily="34" charset="0"/>
              </a:rPr>
              <a:t>0.0</a:t>
            </a:r>
          </a:p>
          <a:p>
            <a:pPr algn="ctr" eaLnBrk="0" hangingPunct="0"/>
            <a:r>
              <a:rPr lang="en-US" sz="1200">
                <a:latin typeface="Arial Narrow" pitchFamily="34" charset="0"/>
              </a:rPr>
              <a:t>Lemonade System</a:t>
            </a:r>
          </a:p>
        </p:txBody>
      </p:sp>
      <p:pic>
        <p:nvPicPr>
          <p:cNvPr id="66" name="Picture 26" descr="j0113060"/>
          <p:cNvPicPr>
            <a:picLocks noChangeAspect="1" noChangeArrowheads="1"/>
          </p:cNvPicPr>
          <p:nvPr/>
        </p:nvPicPr>
        <p:blipFill>
          <a:blip r:embed="rId8" cstate="print">
            <a:lum bright="52000" contrast="-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152758" y="2143836"/>
            <a:ext cx="123825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cxnSp>
        <p:nvCxnSpPr>
          <p:cNvPr id="80" name="AutoShape 27"/>
          <p:cNvCxnSpPr>
            <a:cxnSpLocks noChangeShapeType="1"/>
            <a:stCxn id="65" idx="0"/>
            <a:endCxn id="62" idx="2"/>
          </p:cNvCxnSpPr>
          <p:nvPr/>
        </p:nvCxnSpPr>
        <p:spPr bwMode="auto">
          <a:xfrm flipV="1">
            <a:off x="1552433" y="1458036"/>
            <a:ext cx="1666875" cy="16668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" name="AutoShape 28"/>
          <p:cNvCxnSpPr>
            <a:cxnSpLocks noChangeShapeType="1"/>
            <a:stCxn id="65" idx="7"/>
            <a:endCxn id="61" idx="2"/>
          </p:cNvCxnSpPr>
          <p:nvPr/>
        </p:nvCxnSpPr>
        <p:spPr bwMode="auto">
          <a:xfrm flipV="1">
            <a:off x="1876283" y="2753436"/>
            <a:ext cx="1343025" cy="5048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" name="AutoShape 29"/>
          <p:cNvCxnSpPr>
            <a:cxnSpLocks noChangeShapeType="1"/>
            <a:stCxn id="65" idx="5"/>
            <a:endCxn id="63" idx="2"/>
          </p:cNvCxnSpPr>
          <p:nvPr/>
        </p:nvCxnSpPr>
        <p:spPr bwMode="auto">
          <a:xfrm>
            <a:off x="1876283" y="3925011"/>
            <a:ext cx="1343025" cy="2000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3" name="AutoShape 30"/>
          <p:cNvCxnSpPr>
            <a:cxnSpLocks noChangeShapeType="1"/>
            <a:stCxn id="65" idx="4"/>
            <a:endCxn id="64" idx="2"/>
          </p:cNvCxnSpPr>
          <p:nvPr/>
        </p:nvCxnSpPr>
        <p:spPr bwMode="auto">
          <a:xfrm>
            <a:off x="1552433" y="4058361"/>
            <a:ext cx="1676400" cy="15144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4" name="AutoShape 31"/>
          <p:cNvCxnSpPr>
            <a:cxnSpLocks noChangeShapeType="1"/>
            <a:stCxn id="62" idx="4"/>
            <a:endCxn id="59" idx="4"/>
          </p:cNvCxnSpPr>
          <p:nvPr/>
        </p:nvCxnSpPr>
        <p:spPr bwMode="auto">
          <a:xfrm rot="16200000" flipH="1">
            <a:off x="4752039" y="858755"/>
            <a:ext cx="1588" cy="21336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" name="AutoShape 32"/>
          <p:cNvCxnSpPr>
            <a:cxnSpLocks noChangeShapeType="1"/>
            <a:stCxn id="62" idx="4"/>
            <a:endCxn id="60" idx="4"/>
          </p:cNvCxnSpPr>
          <p:nvPr/>
        </p:nvCxnSpPr>
        <p:spPr bwMode="auto">
          <a:xfrm rot="16200000" flipH="1">
            <a:off x="5285439" y="325355"/>
            <a:ext cx="1588" cy="32004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AutoShape 33"/>
          <p:cNvCxnSpPr>
            <a:cxnSpLocks noChangeShapeType="1"/>
            <a:stCxn id="61" idx="4"/>
            <a:endCxn id="55" idx="4"/>
          </p:cNvCxnSpPr>
          <p:nvPr/>
        </p:nvCxnSpPr>
        <p:spPr bwMode="auto">
          <a:xfrm rot="16200000" flipH="1">
            <a:off x="4752039" y="2154155"/>
            <a:ext cx="1588" cy="21336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" name="AutoShape 34"/>
          <p:cNvCxnSpPr>
            <a:cxnSpLocks noChangeShapeType="1"/>
            <a:stCxn id="61" idx="4"/>
            <a:endCxn id="56" idx="4"/>
          </p:cNvCxnSpPr>
          <p:nvPr/>
        </p:nvCxnSpPr>
        <p:spPr bwMode="auto">
          <a:xfrm rot="16200000" flipH="1">
            <a:off x="5285439" y="1620755"/>
            <a:ext cx="1588" cy="32004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AutoShape 35"/>
          <p:cNvCxnSpPr>
            <a:cxnSpLocks noChangeShapeType="1"/>
            <a:stCxn id="61" idx="4"/>
            <a:endCxn id="58" idx="4"/>
          </p:cNvCxnSpPr>
          <p:nvPr/>
        </p:nvCxnSpPr>
        <p:spPr bwMode="auto">
          <a:xfrm rot="16200000" flipH="1">
            <a:off x="5818839" y="1087355"/>
            <a:ext cx="1588" cy="42672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" name="AutoShape 36"/>
          <p:cNvCxnSpPr>
            <a:cxnSpLocks noChangeShapeType="1"/>
            <a:stCxn id="63" idx="4"/>
            <a:endCxn id="52" idx="4"/>
          </p:cNvCxnSpPr>
          <p:nvPr/>
        </p:nvCxnSpPr>
        <p:spPr bwMode="auto">
          <a:xfrm rot="16200000" flipH="1">
            <a:off x="4752039" y="3525755"/>
            <a:ext cx="1588" cy="21336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" name="AutoShape 37"/>
          <p:cNvCxnSpPr>
            <a:cxnSpLocks noChangeShapeType="1"/>
            <a:stCxn id="63" idx="4"/>
            <a:endCxn id="53" idx="4"/>
          </p:cNvCxnSpPr>
          <p:nvPr/>
        </p:nvCxnSpPr>
        <p:spPr bwMode="auto">
          <a:xfrm rot="16200000" flipH="1">
            <a:off x="5285439" y="2992355"/>
            <a:ext cx="1588" cy="32004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" name="AutoShape 38"/>
          <p:cNvCxnSpPr>
            <a:cxnSpLocks noChangeShapeType="1"/>
            <a:stCxn id="63" idx="4"/>
            <a:endCxn id="54" idx="4"/>
          </p:cNvCxnSpPr>
          <p:nvPr/>
        </p:nvCxnSpPr>
        <p:spPr bwMode="auto">
          <a:xfrm rot="16200000" flipH="1">
            <a:off x="5818839" y="2458955"/>
            <a:ext cx="1588" cy="4267200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2" name="AutoShape 39"/>
          <p:cNvCxnSpPr>
            <a:cxnSpLocks noChangeShapeType="1"/>
            <a:stCxn id="64" idx="4"/>
            <a:endCxn id="49" idx="4"/>
          </p:cNvCxnSpPr>
          <p:nvPr/>
        </p:nvCxnSpPr>
        <p:spPr bwMode="auto">
          <a:xfrm rot="16200000" flipH="1">
            <a:off x="4756802" y="4978317"/>
            <a:ext cx="1588" cy="2124075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3" name="AutoShape 40"/>
          <p:cNvCxnSpPr>
            <a:cxnSpLocks noChangeShapeType="1"/>
            <a:stCxn id="64" idx="4"/>
            <a:endCxn id="50" idx="4"/>
          </p:cNvCxnSpPr>
          <p:nvPr/>
        </p:nvCxnSpPr>
        <p:spPr bwMode="auto">
          <a:xfrm rot="16200000" flipH="1">
            <a:off x="5290202" y="4444917"/>
            <a:ext cx="1588" cy="3190875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4" name="AutoShape 41"/>
          <p:cNvCxnSpPr>
            <a:cxnSpLocks noChangeShapeType="1"/>
            <a:stCxn id="64" idx="4"/>
            <a:endCxn id="51" idx="4"/>
          </p:cNvCxnSpPr>
          <p:nvPr/>
        </p:nvCxnSpPr>
        <p:spPr bwMode="auto">
          <a:xfrm rot="16200000" flipH="1">
            <a:off x="5823602" y="3911517"/>
            <a:ext cx="1588" cy="4257675"/>
          </a:xfrm>
          <a:prstGeom prst="curvedConnector3">
            <a:avLst>
              <a:gd name="adj1" fmla="val 138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5" name="Text Box 42"/>
          <p:cNvSpPr txBox="1">
            <a:spLocks noChangeArrowheads="1"/>
          </p:cNvSpPr>
          <p:nvPr/>
        </p:nvSpPr>
        <p:spPr bwMode="auto">
          <a:xfrm>
            <a:off x="1933433" y="6258636"/>
            <a:ext cx="3429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</a:rPr>
              <a:t>Level 0</a:t>
            </a:r>
          </a:p>
        </p:txBody>
      </p:sp>
      <p:sp>
        <p:nvSpPr>
          <p:cNvPr id="96" name="Text Box 43"/>
          <p:cNvSpPr txBox="1">
            <a:spLocks noChangeArrowheads="1"/>
          </p:cNvSpPr>
          <p:nvPr/>
        </p:nvSpPr>
        <p:spPr bwMode="auto">
          <a:xfrm>
            <a:off x="5362433" y="6258636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</a:rPr>
              <a:t>Level 1</a:t>
            </a:r>
          </a:p>
        </p:txBody>
      </p:sp>
      <p:sp>
        <p:nvSpPr>
          <p:cNvPr id="97" name="Text Box 44"/>
          <p:cNvSpPr txBox="1">
            <a:spLocks noChangeArrowheads="1"/>
          </p:cNvSpPr>
          <p:nvPr/>
        </p:nvSpPr>
        <p:spPr bwMode="auto">
          <a:xfrm>
            <a:off x="28433" y="6258636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solidFill>
                  <a:schemeClr val="accent2"/>
                </a:solidFill>
              </a:rPr>
              <a:t>Context Level</a:t>
            </a:r>
          </a:p>
        </p:txBody>
      </p:sp>
      <p:sp>
        <p:nvSpPr>
          <p:cNvPr id="98" name="Line 45"/>
          <p:cNvSpPr>
            <a:spLocks noChangeShapeType="1"/>
          </p:cNvSpPr>
          <p:nvPr/>
        </p:nvSpPr>
        <p:spPr bwMode="auto">
          <a:xfrm>
            <a:off x="2771633" y="772236"/>
            <a:ext cx="0" cy="58674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9" name="Line 46"/>
          <p:cNvSpPr>
            <a:spLocks noChangeShapeType="1"/>
          </p:cNvSpPr>
          <p:nvPr/>
        </p:nvSpPr>
        <p:spPr bwMode="auto">
          <a:xfrm>
            <a:off x="4829033" y="772236"/>
            <a:ext cx="0" cy="58674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86572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Logical and Physical DFD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9800"/>
            <a:ext cx="8229600" cy="4191000"/>
          </a:xfrm>
        </p:spPr>
        <p:txBody>
          <a:bodyPr/>
          <a:lstStyle/>
          <a:p>
            <a:r>
              <a:rPr lang="en-IN" dirty="0" smtClean="0"/>
              <a:t>DFDs considered so far are called logical DFDs</a:t>
            </a:r>
          </a:p>
          <a:p>
            <a:r>
              <a:rPr lang="en-IN" dirty="0" smtClean="0"/>
              <a:t>A physical DFD is similar to a document flow diagram</a:t>
            </a:r>
          </a:p>
          <a:p>
            <a:r>
              <a:rPr lang="en-IN" dirty="0" smtClean="0"/>
              <a:t>It specifies who does the operations specified by the logical DFD</a:t>
            </a:r>
          </a:p>
          <a:p>
            <a:r>
              <a:rPr lang="en-IN" dirty="0" smtClean="0"/>
              <a:t>Physical DFD may depict physical movements of the goods</a:t>
            </a:r>
          </a:p>
          <a:p>
            <a:r>
              <a:rPr lang="en-IN" dirty="0" smtClean="0"/>
              <a:t>Physical DFDs can be drawn during fact gathering phase of a life cycle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78946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458200" cy="1143000"/>
          </a:xfrm>
        </p:spPr>
        <p:txBody>
          <a:bodyPr>
            <a:normAutofit/>
          </a:bodyPr>
          <a:lstStyle/>
          <a:p>
            <a:r>
              <a:rPr lang="en-IN" sz="4400" dirty="0" smtClean="0">
                <a:solidFill>
                  <a:schemeClr val="tx2">
                    <a:lumMod val="75000"/>
                  </a:schemeClr>
                </a:solidFill>
              </a:rPr>
              <a:t>Physical DFD for Cheque Encashment</a:t>
            </a:r>
            <a:endParaRPr lang="en-IN" sz="4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3048000" y="2171700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Cash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9" name="Oval 17"/>
          <p:cNvSpPr>
            <a:spLocks noChangeArrowheads="1"/>
          </p:cNvSpPr>
          <p:nvPr/>
        </p:nvSpPr>
        <p:spPr bwMode="auto">
          <a:xfrm>
            <a:off x="6140450" y="3505199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" name="Oval 18"/>
          <p:cNvSpPr>
            <a:spLocks noChangeArrowheads="1"/>
          </p:cNvSpPr>
          <p:nvPr/>
        </p:nvSpPr>
        <p:spPr bwMode="auto">
          <a:xfrm>
            <a:off x="6800850" y="4140199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3352800" y="3124200"/>
            <a:ext cx="1524000" cy="140969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400" b="1" u="sng" dirty="0" smtClean="0">
                <a:latin typeface="Arial Narrow" pitchFamily="34" charset="0"/>
              </a:rPr>
              <a:t>Clerk</a:t>
            </a:r>
          </a:p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Verify A/C Signature Update Balance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2247900" y="4926620"/>
            <a:ext cx="115399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Bad </a:t>
            </a:r>
            <a:r>
              <a:rPr lang="en-US" sz="1400" dirty="0" err="1" smtClean="0">
                <a:latin typeface="Arial Narrow" pitchFamily="34" charset="0"/>
              </a:rPr>
              <a:t>Cheque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15" name="Rectangle 25" descr="DataStore"/>
          <p:cNvSpPr>
            <a:spLocks noChangeArrowheads="1"/>
          </p:cNvSpPr>
          <p:nvPr/>
        </p:nvSpPr>
        <p:spPr bwMode="auto">
          <a:xfrm>
            <a:off x="5475287" y="5257800"/>
            <a:ext cx="1187938" cy="457200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Store </a:t>
            </a:r>
            <a:r>
              <a:rPr lang="en-US" sz="1200" dirty="0" err="1" smtClean="0">
                <a:latin typeface="Arial Narrow" pitchFamily="34" charset="0"/>
              </a:rPr>
              <a:t>cheques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19" name="Rectangle 29" descr="DataStore"/>
          <p:cNvSpPr>
            <a:spLocks noChangeArrowheads="1"/>
          </p:cNvSpPr>
          <p:nvPr/>
        </p:nvSpPr>
        <p:spPr bwMode="auto">
          <a:xfrm>
            <a:off x="3581400" y="5257800"/>
            <a:ext cx="1295400" cy="457200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Customer Accounts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21" name="Text Box 31"/>
          <p:cNvSpPr txBox="1">
            <a:spLocks noChangeArrowheads="1"/>
          </p:cNvSpPr>
          <p:nvPr/>
        </p:nvSpPr>
        <p:spPr bwMode="auto">
          <a:xfrm>
            <a:off x="2362200" y="3619499"/>
            <a:ext cx="838200" cy="21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 dirty="0" err="1" smtClean="0">
                <a:latin typeface="Arial Narrow" pitchFamily="34" charset="0"/>
              </a:rPr>
              <a:t>Cheque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22" name="Text Box 32"/>
          <p:cNvSpPr txBox="1">
            <a:spLocks noChangeArrowheads="1"/>
          </p:cNvSpPr>
          <p:nvPr/>
        </p:nvSpPr>
        <p:spPr bwMode="auto">
          <a:xfrm>
            <a:off x="4882662" y="3838328"/>
            <a:ext cx="1245821" cy="50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 dirty="0" err="1" smtClean="0">
                <a:latin typeface="Arial Narrow" pitchFamily="34" charset="0"/>
              </a:rPr>
              <a:t>Cheque</a:t>
            </a:r>
            <a:r>
              <a:rPr lang="en-US" sz="1400" dirty="0" smtClean="0">
                <a:latin typeface="Arial Narrow" pitchFamily="34" charset="0"/>
              </a:rPr>
              <a:t> with Token number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29" name="Oval 20"/>
          <p:cNvSpPr>
            <a:spLocks noChangeArrowheads="1"/>
          </p:cNvSpPr>
          <p:nvPr/>
        </p:nvSpPr>
        <p:spPr bwMode="auto">
          <a:xfrm>
            <a:off x="6019800" y="3124200"/>
            <a:ext cx="1524000" cy="140969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400" b="1" u="sng" dirty="0" smtClean="0">
                <a:latin typeface="Arial Narrow" pitchFamily="34" charset="0"/>
              </a:rPr>
              <a:t>Cashier</a:t>
            </a:r>
          </a:p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Verify Token</a:t>
            </a:r>
          </a:p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Take Signature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30" name="Rectangle 25" descr="DataStore"/>
          <p:cNvSpPr>
            <a:spLocks noChangeArrowheads="1"/>
          </p:cNvSpPr>
          <p:nvPr/>
        </p:nvSpPr>
        <p:spPr bwMode="auto">
          <a:xfrm>
            <a:off x="6965462" y="5257800"/>
            <a:ext cx="1187938" cy="457200"/>
          </a:xfrm>
          <a:prstGeom prst="rect">
            <a:avLst/>
          </a:prstGeom>
          <a:blipFill dpi="0" rotWithShape="0">
            <a:blip r:embed="rId2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Entry in Day Book</a:t>
            </a:r>
            <a:endParaRPr lang="en-US" sz="1200" dirty="0">
              <a:latin typeface="Arial Narrow" pitchFamily="34" charset="0"/>
            </a:endParaRPr>
          </a:p>
        </p:txBody>
      </p:sp>
      <p:cxnSp>
        <p:nvCxnSpPr>
          <p:cNvPr id="32" name="Straight Arrow Connector 31"/>
          <p:cNvCxnSpPr>
            <a:stCxn id="11" idx="6"/>
            <a:endCxn id="29" idx="2"/>
          </p:cNvCxnSpPr>
          <p:nvPr/>
        </p:nvCxnSpPr>
        <p:spPr>
          <a:xfrm>
            <a:off x="4876800" y="3829050"/>
            <a:ext cx="1143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9" idx="0"/>
          </p:cNvCxnSpPr>
          <p:nvPr/>
        </p:nvCxnSpPr>
        <p:spPr>
          <a:xfrm flipV="1">
            <a:off x="4229100" y="46482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369050" y="4533899"/>
            <a:ext cx="0" cy="7239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7239000" y="4533899"/>
            <a:ext cx="0" cy="7239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23"/>
          <p:cNvSpPr>
            <a:spLocks noChangeAspect="1" noChangeArrowheads="1"/>
          </p:cNvSpPr>
          <p:nvPr/>
        </p:nvSpPr>
        <p:spPr bwMode="auto">
          <a:xfrm>
            <a:off x="1219200" y="3429000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CUSTOMER</a:t>
            </a:r>
          </a:p>
        </p:txBody>
      </p:sp>
      <p:cxnSp>
        <p:nvCxnSpPr>
          <p:cNvPr id="41" name="Straight Arrow Connector 40"/>
          <p:cNvCxnSpPr>
            <a:stCxn id="39" idx="3"/>
          </p:cNvCxnSpPr>
          <p:nvPr/>
        </p:nvCxnSpPr>
        <p:spPr>
          <a:xfrm>
            <a:off x="2133600" y="3886200"/>
            <a:ext cx="1219200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2133600" y="4140199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2362200" y="4200771"/>
            <a:ext cx="838200" cy="21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 dirty="0" smtClean="0">
                <a:latin typeface="Arial Narrow" pitchFamily="34" charset="0"/>
              </a:rPr>
              <a:t>Token</a:t>
            </a:r>
            <a:endParaRPr lang="en-US" sz="1400" dirty="0">
              <a:latin typeface="Arial Narrow" pitchFamily="34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3657600" y="4419600"/>
            <a:ext cx="0" cy="5334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1676400" y="4953000"/>
            <a:ext cx="19812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39" idx="2"/>
          </p:cNvCxnSpPr>
          <p:nvPr/>
        </p:nvCxnSpPr>
        <p:spPr>
          <a:xfrm flipV="1">
            <a:off x="1676400" y="43434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1828800" y="2700701"/>
            <a:ext cx="0" cy="7282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828800" y="2700701"/>
            <a:ext cx="45402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369050" y="2700701"/>
            <a:ext cx="0" cy="4996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 Box 31"/>
          <p:cNvSpPr txBox="1">
            <a:spLocks noChangeArrowheads="1"/>
          </p:cNvSpPr>
          <p:nvPr/>
        </p:nvSpPr>
        <p:spPr bwMode="auto">
          <a:xfrm>
            <a:off x="1828800" y="2889741"/>
            <a:ext cx="838200" cy="21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 dirty="0" smtClean="0">
                <a:latin typeface="Arial Narrow" pitchFamily="34" charset="0"/>
              </a:rPr>
              <a:t>Token</a:t>
            </a:r>
            <a:endParaRPr lang="en-US" sz="1400" dirty="0">
              <a:latin typeface="Arial Narrow" pitchFamily="34" charset="0"/>
            </a:endParaRPr>
          </a:p>
        </p:txBody>
      </p:sp>
      <p:cxnSp>
        <p:nvCxnSpPr>
          <p:cNvPr id="59" name="Straight Connector 58"/>
          <p:cNvCxnSpPr>
            <a:stCxn id="29" idx="0"/>
          </p:cNvCxnSpPr>
          <p:nvPr/>
        </p:nvCxnSpPr>
        <p:spPr>
          <a:xfrm flipV="1">
            <a:off x="6781800" y="2438400"/>
            <a:ext cx="0" cy="685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1466850" y="2438400"/>
            <a:ext cx="533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1466850" y="2438400"/>
            <a:ext cx="0" cy="990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245324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14:gallery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8458200" cy="1143000"/>
          </a:xfrm>
        </p:spPr>
        <p:txBody>
          <a:bodyPr>
            <a:normAutofit fontScale="90000"/>
          </a:bodyPr>
          <a:lstStyle/>
          <a:p>
            <a:r>
              <a:rPr lang="en-IN" dirty="0" smtClean="0">
                <a:solidFill>
                  <a:schemeClr val="tx2">
                    <a:lumMod val="75000"/>
                  </a:schemeClr>
                </a:solidFill>
              </a:rPr>
              <a:t>Logical DFD for Cheque Encashment</a:t>
            </a:r>
            <a:endParaRPr lang="en-I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2361986" y="5991225"/>
            <a:ext cx="1590675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Cash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10" name="Oval 18"/>
          <p:cNvSpPr>
            <a:spLocks noChangeArrowheads="1"/>
          </p:cNvSpPr>
          <p:nvPr/>
        </p:nvSpPr>
        <p:spPr bwMode="auto">
          <a:xfrm>
            <a:off x="6953250" y="4445000"/>
            <a:ext cx="228600" cy="2286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1600200" y="2209800"/>
            <a:ext cx="1271954" cy="118109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Retrieve Customer Record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14" name="Text Box 23"/>
          <p:cNvSpPr txBox="1">
            <a:spLocks noChangeArrowheads="1"/>
          </p:cNvSpPr>
          <p:nvPr/>
        </p:nvSpPr>
        <p:spPr bwMode="auto">
          <a:xfrm>
            <a:off x="5334000" y="5067300"/>
            <a:ext cx="800590" cy="500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 dirty="0" err="1" smtClean="0">
                <a:latin typeface="Arial Narrow" pitchFamily="34" charset="0"/>
              </a:rPr>
              <a:t>Cheque</a:t>
            </a:r>
            <a:r>
              <a:rPr lang="en-US" sz="1400" dirty="0" smtClean="0">
                <a:latin typeface="Arial Narrow" pitchFamily="34" charset="0"/>
              </a:rPr>
              <a:t> with token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15" name="Rectangle 25" descr="DataStore"/>
          <p:cNvSpPr>
            <a:spLocks noChangeArrowheads="1"/>
          </p:cNvSpPr>
          <p:nvPr/>
        </p:nvSpPr>
        <p:spPr bwMode="auto">
          <a:xfrm>
            <a:off x="5418748" y="3695700"/>
            <a:ext cx="1103190" cy="304800"/>
          </a:xfrm>
          <a:prstGeom prst="rect">
            <a:avLst/>
          </a:prstGeom>
          <a:blipFill dpi="0" rotWithShape="0">
            <a:blip r:embed="rId2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Store </a:t>
            </a:r>
            <a:r>
              <a:rPr lang="en-US" sz="1200" dirty="0" err="1" smtClean="0">
                <a:latin typeface="Arial Narrow" pitchFamily="34" charset="0"/>
              </a:rPr>
              <a:t>cheques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19" name="Rectangle 29" descr="DataStore"/>
          <p:cNvSpPr>
            <a:spLocks noChangeArrowheads="1"/>
          </p:cNvSpPr>
          <p:nvPr/>
        </p:nvSpPr>
        <p:spPr bwMode="auto">
          <a:xfrm>
            <a:off x="2590800" y="3619500"/>
            <a:ext cx="1254614" cy="304800"/>
          </a:xfrm>
          <a:prstGeom prst="rect">
            <a:avLst/>
          </a:prstGeom>
          <a:blipFill dpi="0" rotWithShape="0">
            <a:blip r:embed="rId3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Customer Accounts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21" name="Text Box 31"/>
          <p:cNvSpPr txBox="1">
            <a:spLocks noChangeArrowheads="1"/>
          </p:cNvSpPr>
          <p:nvPr/>
        </p:nvSpPr>
        <p:spPr bwMode="auto">
          <a:xfrm>
            <a:off x="1181100" y="3812931"/>
            <a:ext cx="838200" cy="21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 dirty="0" err="1" smtClean="0">
                <a:latin typeface="Arial Narrow" pitchFamily="34" charset="0"/>
              </a:rPr>
              <a:t>Cheque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22" name="Text Box 32"/>
          <p:cNvSpPr txBox="1">
            <a:spLocks noChangeArrowheads="1"/>
          </p:cNvSpPr>
          <p:nvPr/>
        </p:nvSpPr>
        <p:spPr bwMode="auto">
          <a:xfrm>
            <a:off x="5153757" y="2324100"/>
            <a:ext cx="1245821" cy="505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400" dirty="0" err="1" smtClean="0">
                <a:latin typeface="Arial Narrow" pitchFamily="34" charset="0"/>
              </a:rPr>
              <a:t>Cheque</a:t>
            </a:r>
            <a:r>
              <a:rPr lang="en-US" sz="1400" dirty="0" smtClean="0">
                <a:latin typeface="Arial Narrow" pitchFamily="34" charset="0"/>
              </a:rPr>
              <a:t> with Token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30" name="Rectangle 25" descr="DataStore"/>
          <p:cNvSpPr>
            <a:spLocks noChangeArrowheads="1"/>
          </p:cNvSpPr>
          <p:nvPr/>
        </p:nvSpPr>
        <p:spPr bwMode="auto">
          <a:xfrm>
            <a:off x="6172200" y="5829300"/>
            <a:ext cx="959338" cy="323850"/>
          </a:xfrm>
          <a:prstGeom prst="rect">
            <a:avLst/>
          </a:prstGeom>
          <a:blipFill dpi="0" rotWithShape="0">
            <a:blip r:embed="rId4" cstate="print"/>
            <a:srcRect/>
            <a:stretch>
              <a:fillRect/>
            </a:stretch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algn="ctr" eaLnBrk="0" hangingPunct="0"/>
            <a:r>
              <a:rPr lang="en-US" sz="1200" dirty="0" smtClean="0">
                <a:latin typeface="Arial Narrow" pitchFamily="34" charset="0"/>
              </a:rPr>
              <a:t>Entry in Day Book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39" name="Rectangle 23"/>
          <p:cNvSpPr>
            <a:spLocks noChangeAspect="1" noChangeArrowheads="1"/>
          </p:cNvSpPr>
          <p:nvPr/>
        </p:nvSpPr>
        <p:spPr bwMode="auto">
          <a:xfrm>
            <a:off x="1828800" y="4381500"/>
            <a:ext cx="9144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200">
                <a:latin typeface="Arial Narrow" pitchFamily="34" charset="0"/>
              </a:rPr>
              <a:t>CUSTOMER</a:t>
            </a:r>
          </a:p>
        </p:txBody>
      </p:sp>
      <p:sp>
        <p:nvSpPr>
          <p:cNvPr id="44" name="Text Box 31"/>
          <p:cNvSpPr txBox="1">
            <a:spLocks noChangeArrowheads="1"/>
          </p:cNvSpPr>
          <p:nvPr/>
        </p:nvSpPr>
        <p:spPr bwMode="auto">
          <a:xfrm>
            <a:off x="2814553" y="5186485"/>
            <a:ext cx="838200" cy="21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 dirty="0" smtClean="0">
                <a:latin typeface="Arial Narrow" pitchFamily="34" charset="0"/>
              </a:rPr>
              <a:t>Token Slip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57" name="Text Box 31"/>
          <p:cNvSpPr txBox="1">
            <a:spLocks noChangeArrowheads="1"/>
          </p:cNvSpPr>
          <p:nvPr/>
        </p:nvSpPr>
        <p:spPr bwMode="auto">
          <a:xfrm>
            <a:off x="2971800" y="2467221"/>
            <a:ext cx="838200" cy="218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 dirty="0" err="1" smtClean="0">
                <a:latin typeface="Arial Narrow" pitchFamily="34" charset="0"/>
              </a:rPr>
              <a:t>Cheque</a:t>
            </a:r>
            <a:endParaRPr lang="en-US" sz="1400" dirty="0">
              <a:latin typeface="Arial Narrow" pitchFamily="34" charset="0"/>
            </a:endParaRPr>
          </a:p>
        </p:txBody>
      </p:sp>
      <p:sp>
        <p:nvSpPr>
          <p:cNvPr id="33" name="Oval 20"/>
          <p:cNvSpPr>
            <a:spLocks noChangeArrowheads="1"/>
          </p:cNvSpPr>
          <p:nvPr/>
        </p:nvSpPr>
        <p:spPr bwMode="auto">
          <a:xfrm>
            <a:off x="3986091" y="2209801"/>
            <a:ext cx="1271954" cy="118109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Check Balance, Issue token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35" name="Oval 20"/>
          <p:cNvSpPr>
            <a:spLocks noChangeArrowheads="1"/>
          </p:cNvSpPr>
          <p:nvPr/>
        </p:nvSpPr>
        <p:spPr bwMode="auto">
          <a:xfrm>
            <a:off x="6219337" y="2209801"/>
            <a:ext cx="1271954" cy="118109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Store Token no &amp; </a:t>
            </a:r>
            <a:r>
              <a:rPr lang="en-US" sz="1400" dirty="0" err="1" smtClean="0">
                <a:latin typeface="Arial Narrow" pitchFamily="34" charset="0"/>
              </a:rPr>
              <a:t>cheques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37" name="Oval 20"/>
          <p:cNvSpPr>
            <a:spLocks noChangeArrowheads="1"/>
          </p:cNvSpPr>
          <p:nvPr/>
        </p:nvSpPr>
        <p:spPr bwMode="auto">
          <a:xfrm>
            <a:off x="4062046" y="4305300"/>
            <a:ext cx="1271954" cy="118109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Search &amp; match token</a:t>
            </a:r>
            <a:endParaRPr lang="en-US" sz="1200" dirty="0">
              <a:latin typeface="Arial Narrow" pitchFamily="34" charset="0"/>
            </a:endParaRPr>
          </a:p>
        </p:txBody>
      </p:sp>
      <p:sp>
        <p:nvSpPr>
          <p:cNvPr id="40" name="Oval 20"/>
          <p:cNvSpPr>
            <a:spLocks noChangeArrowheads="1"/>
          </p:cNvSpPr>
          <p:nvPr/>
        </p:nvSpPr>
        <p:spPr bwMode="auto">
          <a:xfrm>
            <a:off x="6172200" y="4305300"/>
            <a:ext cx="1271954" cy="1181099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45720" rIns="45720" anchor="ctr"/>
          <a:lstStyle/>
          <a:p>
            <a:pPr algn="ctr" eaLnBrk="0" hangingPunct="0"/>
            <a:r>
              <a:rPr lang="en-US" sz="1400" dirty="0" smtClean="0">
                <a:latin typeface="Arial Narrow" pitchFamily="34" charset="0"/>
              </a:rPr>
              <a:t>Update Daily cash book</a:t>
            </a:r>
            <a:endParaRPr lang="en-US" sz="1200" dirty="0">
              <a:latin typeface="Arial Narrow" pitchFamily="34" charset="0"/>
            </a:endParaRPr>
          </a:p>
        </p:txBody>
      </p:sp>
      <p:cxnSp>
        <p:nvCxnSpPr>
          <p:cNvPr id="4" name="Straight Arrow Connector 3"/>
          <p:cNvCxnSpPr>
            <a:stCxn id="11" idx="6"/>
            <a:endCxn id="33" idx="2"/>
          </p:cNvCxnSpPr>
          <p:nvPr/>
        </p:nvCxnSpPr>
        <p:spPr>
          <a:xfrm>
            <a:off x="2872154" y="2800350"/>
            <a:ext cx="111393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stCxn id="33" idx="6"/>
            <a:endCxn id="35" idx="2"/>
          </p:cNvCxnSpPr>
          <p:nvPr/>
        </p:nvCxnSpPr>
        <p:spPr>
          <a:xfrm>
            <a:off x="5258045" y="2800351"/>
            <a:ext cx="96129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5" idx="4"/>
          </p:cNvCxnSpPr>
          <p:nvPr/>
        </p:nvCxnSpPr>
        <p:spPr>
          <a:xfrm flipH="1">
            <a:off x="6172200" y="3390900"/>
            <a:ext cx="683114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5258045" y="4000500"/>
            <a:ext cx="480646" cy="558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429122" y="3162300"/>
            <a:ext cx="632924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1" idx="5"/>
          </p:cNvCxnSpPr>
          <p:nvPr/>
        </p:nvCxnSpPr>
        <p:spPr>
          <a:xfrm flipH="1" flipV="1">
            <a:off x="2685881" y="3217931"/>
            <a:ext cx="285919" cy="40156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3745584" y="3390899"/>
            <a:ext cx="633839" cy="9144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743200" y="4305300"/>
            <a:ext cx="1002384" cy="254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334000" y="5064858"/>
            <a:ext cx="88533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0" idx="0"/>
          </p:cNvCxnSpPr>
          <p:nvPr/>
        </p:nvCxnSpPr>
        <p:spPr>
          <a:xfrm flipH="1">
            <a:off x="6651869" y="5486399"/>
            <a:ext cx="12700" cy="34290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2743200" y="5064858"/>
            <a:ext cx="131930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39" idx="1"/>
          </p:cNvCxnSpPr>
          <p:nvPr/>
        </p:nvCxnSpPr>
        <p:spPr>
          <a:xfrm flipH="1">
            <a:off x="1066800" y="4838700"/>
            <a:ext cx="76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1066800" y="2800351"/>
            <a:ext cx="0" cy="20383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>
            <a:off x="1066800" y="2800351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7444154" y="5064858"/>
            <a:ext cx="4806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7924800" y="5064858"/>
            <a:ext cx="0" cy="12216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 flipH="1">
            <a:off x="2286000" y="6286500"/>
            <a:ext cx="5638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39" idx="2"/>
          </p:cNvCxnSpPr>
          <p:nvPr/>
        </p:nvCxnSpPr>
        <p:spPr>
          <a:xfrm flipV="1">
            <a:off x="2286000" y="5295900"/>
            <a:ext cx="0" cy="990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 Box 31"/>
          <p:cNvSpPr txBox="1">
            <a:spLocks noChangeArrowheads="1"/>
          </p:cNvSpPr>
          <p:nvPr/>
        </p:nvSpPr>
        <p:spPr bwMode="auto">
          <a:xfrm>
            <a:off x="4114800" y="3695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 anchor="ctr"/>
          <a:lstStyle/>
          <a:p>
            <a:pPr eaLnBrk="0" hangingPunct="0"/>
            <a:r>
              <a:rPr lang="en-US" sz="1400" dirty="0" smtClean="0">
                <a:latin typeface="Arial Narrow" pitchFamily="34" charset="0"/>
              </a:rPr>
              <a:t>Token Slip or </a:t>
            </a:r>
            <a:r>
              <a:rPr lang="en-US" sz="1400" dirty="0" err="1" smtClean="0">
                <a:latin typeface="Arial Narrow" pitchFamily="34" charset="0"/>
              </a:rPr>
              <a:t>Cheque</a:t>
            </a:r>
            <a:endParaRPr lang="en-US" sz="140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73596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9200"/>
            <a:ext cx="8305800" cy="1143000"/>
          </a:xfrm>
          <a:ln>
            <a:miter lim="800000"/>
            <a:headEnd/>
            <a:tailEnd/>
          </a:ln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9600" dirty="0" smtClean="0">
                <a:solidFill>
                  <a:schemeClr val="tx2">
                    <a:lumMod val="75000"/>
                  </a:schemeClr>
                </a:solidFill>
              </a:rPr>
              <a:t>   Questions</a:t>
            </a:r>
            <a:endParaRPr lang="en-US" sz="9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9939" name="Picture 1028"/>
          <p:cNvPicPr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514600"/>
            <a:ext cx="2438400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TextBox 3"/>
          <p:cNvSpPr txBox="1">
            <a:spLocks noChangeArrowheads="1"/>
          </p:cNvSpPr>
          <p:nvPr/>
        </p:nvSpPr>
        <p:spPr bwMode="auto">
          <a:xfrm>
            <a:off x="2143225" y="2842230"/>
            <a:ext cx="2438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Bernard MT Condensed" pitchFamily="18" charset="0"/>
                <a:ea typeface="Arial Unicode MS" pitchFamily="34" charset="-128"/>
                <a:cs typeface="Arial Unicode MS" pitchFamily="34" charset="-128"/>
              </a:rPr>
              <a:t>? ? </a:t>
            </a:r>
            <a:r>
              <a:rPr lang="en-US" sz="9600" dirty="0" smtClean="0">
                <a:solidFill>
                  <a:schemeClr val="accent1">
                    <a:lumMod val="75000"/>
                  </a:schemeClr>
                </a:solidFill>
                <a:latin typeface="Bernard MT Condensed" pitchFamily="18" charset="0"/>
                <a:ea typeface="Arial Unicode MS" pitchFamily="34" charset="-128"/>
                <a:cs typeface="Arial Unicode MS" pitchFamily="34" charset="-128"/>
              </a:rPr>
              <a:t>?</a:t>
            </a:r>
            <a:endParaRPr lang="en-US" sz="9600" dirty="0">
              <a:solidFill>
                <a:schemeClr val="accent1">
                  <a:lumMod val="75000"/>
                </a:schemeClr>
              </a:solidFill>
              <a:latin typeface="Bernard MT Condensed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/>
          <a:lstStyle/>
          <a:p>
            <a:r>
              <a:rPr lang="en-IN" dirty="0" smtClean="0"/>
              <a:t>In a DFD external entities are represented by a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Rectangle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Ellipse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Diamond shaped box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Circle</a:t>
            </a:r>
          </a:p>
          <a:p>
            <a:pPr marL="484632" indent="-457200"/>
            <a:r>
              <a:rPr lang="en-IN" dirty="0" smtClean="0"/>
              <a:t>External Entities may be a 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Source of input data only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Source of input data or destination of results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Destination of results only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Repository of data</a:t>
            </a:r>
          </a:p>
          <a:p>
            <a:pPr marL="484632" indent="-457200"/>
            <a:r>
              <a:rPr lang="en-IN" dirty="0" smtClean="0"/>
              <a:t>A data store in a DFD represents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sequential file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disk store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repository of data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random access memory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xmlns="" val="3153802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10200"/>
          </a:xfrm>
        </p:spPr>
        <p:txBody>
          <a:bodyPr>
            <a:normAutofit fontScale="92500"/>
          </a:bodyPr>
          <a:lstStyle/>
          <a:p>
            <a:r>
              <a:rPr lang="en-IN" dirty="0" smtClean="0"/>
              <a:t>By an external entity we mean a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Unit outside the system being designed which can be controlled by an analyst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Unit outside the system whose behaviour is independent of the system being designed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unit external to the system being designed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unit which is not part of DFD</a:t>
            </a:r>
          </a:p>
          <a:p>
            <a:pPr marL="484632" indent="-457200"/>
            <a:r>
              <a:rPr lang="en-IN" dirty="0" smtClean="0"/>
              <a:t>A data flow can 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Only enter a data store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Only leave a data store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Enter or leave a data store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Either enter or leave a data store but not both</a:t>
            </a:r>
          </a:p>
          <a:p>
            <a:pPr marL="484632" indent="-457200"/>
            <a:r>
              <a:rPr lang="en-IN" dirty="0" smtClean="0"/>
              <a:t>A circle in a DFD represents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data store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an external entity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 process</a:t>
            </a:r>
          </a:p>
          <a:p>
            <a:pPr marL="850392" lvl="1" indent="-457200">
              <a:buFont typeface="+mj-lt"/>
              <a:buAutoNum type="alphaLcPeriod"/>
            </a:pPr>
            <a:r>
              <a:rPr lang="en-IN" sz="1800" dirty="0" smtClean="0"/>
              <a:t>An input unit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xmlns="" val="2322792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100">
        <p14:switch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304800" y="1524000"/>
            <a:ext cx="2667000" cy="2057400"/>
          </a:xfrm>
        </p:spPr>
        <p:txBody>
          <a:bodyPr/>
          <a:lstStyle/>
          <a:p>
            <a:pPr algn="ctr" eaLnBrk="1" hangingPunct="1"/>
            <a:r>
              <a:rPr lang="en-US" sz="3600" dirty="0" smtClean="0">
                <a:solidFill>
                  <a:schemeClr val="tx2">
                    <a:lumMod val="75000"/>
                  </a:schemeClr>
                </a:solidFill>
              </a:rPr>
              <a:t>Thanks for your Cooperation</a:t>
            </a:r>
          </a:p>
        </p:txBody>
      </p:sp>
      <p:pic>
        <p:nvPicPr>
          <p:cNvPr id="40963" name="Picture Placeholder 5" descr="DFD_pic.gif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6926" b="6926"/>
          <a:stretch>
            <a:fillRect/>
          </a:stretch>
        </p:blipFill>
        <p:spPr>
          <a:xfrm rot="420000">
            <a:off x="3486150" y="1200150"/>
            <a:ext cx="4618038" cy="3930650"/>
          </a:xfrm>
          <a:ln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5342599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2886</TotalTime>
  <Words>2216</Words>
  <Application>Microsoft Office PowerPoint</Application>
  <PresentationFormat>On-screen Show (4:3)</PresentationFormat>
  <Paragraphs>567</Paragraphs>
  <Slides>49</Slides>
  <Notes>4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1" baseType="lpstr">
      <vt:lpstr>Flow</vt:lpstr>
      <vt:lpstr>Clip</vt:lpstr>
      <vt:lpstr>Slide 1</vt:lpstr>
      <vt:lpstr>Data Flow Diagrams</vt:lpstr>
      <vt:lpstr>Why DFD ?</vt:lpstr>
      <vt:lpstr>DFD elements</vt:lpstr>
      <vt:lpstr>Slide 5</vt:lpstr>
      <vt:lpstr>Slide 6</vt:lpstr>
      <vt:lpstr>Slide 7</vt:lpstr>
      <vt:lpstr>External Entities</vt:lpstr>
      <vt:lpstr>Processes</vt:lpstr>
      <vt:lpstr>Processes</vt:lpstr>
      <vt:lpstr>Processes</vt:lpstr>
      <vt:lpstr>Data Flow Diagrams</vt:lpstr>
      <vt:lpstr>Data Stores</vt:lpstr>
      <vt:lpstr>Data Flows</vt:lpstr>
      <vt:lpstr>Data Flow</vt:lpstr>
      <vt:lpstr>Slide 16</vt:lpstr>
      <vt:lpstr>Slide 17</vt:lpstr>
      <vt:lpstr>Slide 18</vt:lpstr>
      <vt:lpstr>A Context Diagram (Level 0)</vt:lpstr>
      <vt:lpstr>Slide 20</vt:lpstr>
      <vt:lpstr>Slide 21</vt:lpstr>
      <vt:lpstr>Slide 22</vt:lpstr>
      <vt:lpstr>Rules of Data Flow</vt:lpstr>
      <vt:lpstr>Slide 24</vt:lpstr>
      <vt:lpstr>Slide 25</vt:lpstr>
      <vt:lpstr>Good Style in Drawing DFD</vt:lpstr>
      <vt:lpstr>Creating DFDs</vt:lpstr>
      <vt:lpstr>Creating the Context Diagram</vt:lpstr>
      <vt:lpstr>Creating Level 0 Diagram</vt:lpstr>
      <vt:lpstr>Creating Level 1 Diagram</vt:lpstr>
      <vt:lpstr>When to stop decomposing  DFDs?</vt:lpstr>
      <vt:lpstr>Validating DFD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Logical and Physical DFD</vt:lpstr>
      <vt:lpstr>Physical DFD for Cheque Encashment</vt:lpstr>
      <vt:lpstr>Logical DFD for Cheque Encashment</vt:lpstr>
      <vt:lpstr>   Questions</vt:lpstr>
      <vt:lpstr>Slide 47</vt:lpstr>
      <vt:lpstr>Slide 48</vt:lpstr>
      <vt:lpstr>Thanks for your Cooperation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dd</dc:creator>
  <cp:lastModifiedBy>USER</cp:lastModifiedBy>
  <cp:revision>238</cp:revision>
  <dcterms:created xsi:type="dcterms:W3CDTF">2008-03-09T14:03:31Z</dcterms:created>
  <dcterms:modified xsi:type="dcterms:W3CDTF">2015-08-26T04:26:54Z</dcterms:modified>
</cp:coreProperties>
</file>